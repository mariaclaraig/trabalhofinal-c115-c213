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71" r:id="rId15"/>
    <p:sldId id="267" r:id="rId16"/>
    <p:sldId id="268" r:id="rId17"/>
    <p:sldId id="269" r:id="rId18"/>
    <p:sldId id="270" r:id="rId19"/>
  </p:sldIdLst>
  <p:sldSz cx="16256000" cy="9144000"/>
  <p:notesSz cx="9144000" cy="16256000"/>
  <p:embeddedFontLst>
    <p:embeddedFont>
      <p:font typeface="Quattrocento Sans" panose="020B0502050000020003" pitchFamily="34" charset="0"/>
      <p:regular r:id="rId21"/>
      <p:bold r:id="rId22"/>
      <p:italic r:id="rId23"/>
      <p:boldItalic r:id="rId2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67616-6D3F-4ABB-932B-5B0D33417755}" v="3" dt="2026-06-18T01:55:08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RPM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0s</c:v>
                </c:pt>
                <c:pt idx="1">
                  <c:v>2s</c:v>
                </c:pt>
                <c:pt idx="2">
                  <c:v>4s</c:v>
                </c:pt>
                <c:pt idx="3">
                  <c:v>6s</c:v>
                </c:pt>
                <c:pt idx="4">
                  <c:v>8s</c:v>
                </c:pt>
                <c:pt idx="5">
                  <c:v>10s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62</c:v>
                </c:pt>
                <c:pt idx="2">
                  <c:v>96</c:v>
                </c:pt>
                <c:pt idx="3">
                  <c:v>118</c:v>
                </c:pt>
                <c:pt idx="4">
                  <c:v>121</c:v>
                </c:pt>
                <c:pt idx="5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CA-4E64-A41F-C23DB38713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Set point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0s</c:v>
                </c:pt>
                <c:pt idx="1">
                  <c:v>2s</c:v>
                </c:pt>
                <c:pt idx="2">
                  <c:v>4s</c:v>
                </c:pt>
                <c:pt idx="3">
                  <c:v>6s</c:v>
                </c:pt>
                <c:pt idx="4">
                  <c:v>8s</c:v>
                </c:pt>
                <c:pt idx="5">
                  <c:v>10s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120</c:v>
                </c:pt>
                <c:pt idx="2">
                  <c:v>120</c:v>
                </c:pt>
                <c:pt idx="3">
                  <c:v>120</c:v>
                </c:pt>
                <c:pt idx="4">
                  <c:v>120</c:v>
                </c:pt>
                <c:pt idx="5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CA-4E64-A41F-C23DB3871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8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C67AB-3647-4841-B623-5E4315E9C346}" type="datetimeFigureOut">
              <a:t>18/06/2026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7823200"/>
            <a:ext cx="73152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93F7D-EE1A-4059-B5DA-BD5F89C51FE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62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jpey7laiyq2c/mnt/agents/output/misturador_iot/images/4_Industrial_Mixing_Tanks_Types_of.png"/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202C">
                  <a:alpha val="0"/>
                </a:srgbClr>
              </a:gs>
              <a:gs pos="50000">
                <a:srgbClr val="1A202C">
                  <a:alpha val="60000"/>
                </a:srgbClr>
              </a:gs>
              <a:gs pos="100000">
                <a:srgbClr val="1A202C">
                  <a:alpha val="93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318000" y="292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DISPOSITIVOS CONECTADOS  |  C115 / C213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78000" y="34925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Misturador Industrial IoT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223000" y="4572000"/>
            <a:ext cx="3810000" cy="381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2413000" y="4826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e monitoramento de rotação com ESP32, MQTT e dashboard web.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83000" y="5715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Christian Salles  |  Maria Clara Ignácio  |  Samuel Ralise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02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70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70000" y="266700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 processos industriais de mistura, a </a:t>
            </a:r>
            <a:r>
              <a:rPr lang="en-US" sz="20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rotação do eixo influencia diretamente a qualidade</a:t>
            </a:r>
            <a:r>
              <a:rPr lang="en-US" sz="2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produto final.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Quando a </a:t>
            </a:r>
            <a:r>
              <a:rPr lang="en-US" sz="20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viscosidade ou densidade</a:t>
            </a:r>
            <a:r>
              <a:rPr lang="en-US" sz="2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material muda, o motor sofre variação de carga e pode perder velocidade. Isso pode gerar mistura irregular, desperdício de material e necessidade de intervenção manual.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Impactos do Problema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651500"/>
            <a:ext cx="342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16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2568" y="285800"/>
                </a:moveTo>
                <a:cubicBezTo>
                  <a:pt x="100846" y="290870"/>
                  <a:pt x="99568" y="296148"/>
                  <a:pt x="98790" y="301496"/>
                </a:cubicBezTo>
                <a:cubicBezTo>
                  <a:pt x="90734" y="307608"/>
                  <a:pt x="81288" y="311150"/>
                  <a:pt x="71120" y="311150"/>
                </a:cubicBezTo>
                <a:cubicBezTo>
                  <a:pt x="41672" y="311150"/>
                  <a:pt x="17780" y="281285"/>
                  <a:pt x="17780" y="244475"/>
                </a:cubicBezTo>
                <a:lnTo>
                  <a:pt x="17780" y="44450"/>
                </a:lnTo>
                <a:cubicBezTo>
                  <a:pt x="7945" y="44450"/>
                  <a:pt x="0" y="34518"/>
                  <a:pt x="0" y="22225"/>
                </a:cubicBezTo>
                <a:cubicBezTo>
                  <a:pt x="0" y="9932"/>
                  <a:pt x="7945" y="0"/>
                  <a:pt x="17780" y="0"/>
                </a:cubicBezTo>
                <a:lnTo>
                  <a:pt x="124460" y="0"/>
                </a:lnTo>
                <a:cubicBezTo>
                  <a:pt x="134295" y="0"/>
                  <a:pt x="142240" y="9932"/>
                  <a:pt x="142240" y="22225"/>
                </a:cubicBezTo>
                <a:cubicBezTo>
                  <a:pt x="142240" y="34518"/>
                  <a:pt x="134295" y="44450"/>
                  <a:pt x="124460" y="44450"/>
                </a:cubicBezTo>
                <a:lnTo>
                  <a:pt x="124460" y="221972"/>
                </a:lnTo>
                <a:lnTo>
                  <a:pt x="102568" y="285800"/>
                </a:lnTo>
                <a:close/>
                <a:moveTo>
                  <a:pt x="53340" y="44450"/>
                </a:moveTo>
                <a:lnTo>
                  <a:pt x="53340" y="133350"/>
                </a:lnTo>
                <a:lnTo>
                  <a:pt x="88900" y="133350"/>
                </a:lnTo>
                <a:lnTo>
                  <a:pt x="88900" y="44450"/>
                </a:lnTo>
                <a:lnTo>
                  <a:pt x="53340" y="44450"/>
                </a:lnTo>
                <a:close/>
                <a:moveTo>
                  <a:pt x="195580" y="0"/>
                </a:moveTo>
                <a:lnTo>
                  <a:pt x="284480" y="0"/>
                </a:lnTo>
                <a:cubicBezTo>
                  <a:pt x="294315" y="0"/>
                  <a:pt x="302260" y="9932"/>
                  <a:pt x="302260" y="22225"/>
                </a:cubicBezTo>
                <a:cubicBezTo>
                  <a:pt x="302260" y="34518"/>
                  <a:pt x="294315" y="44450"/>
                  <a:pt x="284480" y="44450"/>
                </a:cubicBezTo>
                <a:lnTo>
                  <a:pt x="284480" y="150991"/>
                </a:lnTo>
                <a:lnTo>
                  <a:pt x="335209" y="298926"/>
                </a:lnTo>
                <a:cubicBezTo>
                  <a:pt x="336486" y="302677"/>
                  <a:pt x="337320" y="306636"/>
                  <a:pt x="337653" y="310733"/>
                </a:cubicBezTo>
                <a:lnTo>
                  <a:pt x="337820" y="311150"/>
                </a:lnTo>
                <a:lnTo>
                  <a:pt x="337653" y="311150"/>
                </a:lnTo>
                <a:cubicBezTo>
                  <a:pt x="337764" y="312400"/>
                  <a:pt x="337820" y="313650"/>
                  <a:pt x="337820" y="314900"/>
                </a:cubicBezTo>
                <a:cubicBezTo>
                  <a:pt x="337820" y="337334"/>
                  <a:pt x="323263" y="355600"/>
                  <a:pt x="305260" y="355600"/>
                </a:cubicBezTo>
                <a:lnTo>
                  <a:pt x="156964" y="355600"/>
                </a:lnTo>
                <a:cubicBezTo>
                  <a:pt x="139017" y="355600"/>
                  <a:pt x="124404" y="337403"/>
                  <a:pt x="124404" y="314900"/>
                </a:cubicBezTo>
                <a:cubicBezTo>
                  <a:pt x="124404" y="313650"/>
                  <a:pt x="124460" y="312400"/>
                  <a:pt x="124571" y="311150"/>
                </a:cubicBezTo>
                <a:lnTo>
                  <a:pt x="124404" y="311150"/>
                </a:lnTo>
                <a:lnTo>
                  <a:pt x="124571" y="310733"/>
                </a:lnTo>
                <a:cubicBezTo>
                  <a:pt x="124904" y="306705"/>
                  <a:pt x="125738" y="302677"/>
                  <a:pt x="127016" y="298926"/>
                </a:cubicBezTo>
                <a:lnTo>
                  <a:pt x="177800" y="150991"/>
                </a:lnTo>
                <a:lnTo>
                  <a:pt x="177800" y="44450"/>
                </a:lnTo>
                <a:cubicBezTo>
                  <a:pt x="167965" y="44450"/>
                  <a:pt x="160020" y="34518"/>
                  <a:pt x="160020" y="22225"/>
                </a:cubicBezTo>
                <a:cubicBezTo>
                  <a:pt x="160020" y="9932"/>
                  <a:pt x="167965" y="0"/>
                  <a:pt x="177800" y="0"/>
                </a:cubicBezTo>
                <a:lnTo>
                  <a:pt x="195580" y="0"/>
                </a:lnTo>
                <a:close/>
                <a:moveTo>
                  <a:pt x="251809" y="168493"/>
                </a:moveTo>
                <a:cubicBezTo>
                  <a:pt x="249920" y="162937"/>
                  <a:pt x="248920" y="157034"/>
                  <a:pt x="248920" y="150991"/>
                </a:cubicBezTo>
                <a:lnTo>
                  <a:pt x="248920" y="44450"/>
                </a:lnTo>
                <a:lnTo>
                  <a:pt x="213360" y="44450"/>
                </a:lnTo>
                <a:lnTo>
                  <a:pt x="213360" y="150991"/>
                </a:lnTo>
                <a:cubicBezTo>
                  <a:pt x="213360" y="157034"/>
                  <a:pt x="212360" y="162937"/>
                  <a:pt x="210471" y="168493"/>
                </a:cubicBezTo>
                <a:lnTo>
                  <a:pt x="192024" y="222250"/>
                </a:lnTo>
                <a:lnTo>
                  <a:pt x="270200" y="222250"/>
                </a:lnTo>
                <a:lnTo>
                  <a:pt x="251754" y="168493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16000" y="6350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Mistura irregular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produto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08500" y="5651500"/>
            <a:ext cx="342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762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8506" y="4098"/>
                </a:moveTo>
                <a:cubicBezTo>
                  <a:pt x="111998" y="-5001"/>
                  <a:pt x="121682" y="-11112"/>
                  <a:pt x="132636" y="-11112"/>
                </a:cubicBezTo>
                <a:lnTo>
                  <a:pt x="223044" y="-11112"/>
                </a:lnTo>
                <a:cubicBezTo>
                  <a:pt x="233998" y="-11112"/>
                  <a:pt x="243681" y="-5001"/>
                  <a:pt x="247174" y="4098"/>
                </a:cubicBezTo>
                <a:lnTo>
                  <a:pt x="254000" y="22225"/>
                </a:lnTo>
                <a:lnTo>
                  <a:pt x="330200" y="22225"/>
                </a:lnTo>
                <a:cubicBezTo>
                  <a:pt x="344249" y="22225"/>
                  <a:pt x="355600" y="32157"/>
                  <a:pt x="355600" y="44450"/>
                </a:cubicBezTo>
                <a:cubicBezTo>
                  <a:pt x="355600" y="56743"/>
                  <a:pt x="344249" y="66675"/>
                  <a:pt x="330200" y="66675"/>
                </a:cubicBezTo>
                <a:lnTo>
                  <a:pt x="25400" y="66675"/>
                </a:lnTo>
                <a:cubicBezTo>
                  <a:pt x="11351" y="66675"/>
                  <a:pt x="0" y="56743"/>
                  <a:pt x="0" y="44450"/>
                </a:cubicBezTo>
                <a:cubicBezTo>
                  <a:pt x="0" y="32157"/>
                  <a:pt x="11351" y="22225"/>
                  <a:pt x="25400" y="22225"/>
                </a:cubicBezTo>
                <a:lnTo>
                  <a:pt x="101600" y="22225"/>
                </a:lnTo>
                <a:lnTo>
                  <a:pt x="108506" y="4098"/>
                </a:lnTo>
                <a:close/>
                <a:moveTo>
                  <a:pt x="25400" y="100013"/>
                </a:moveTo>
                <a:lnTo>
                  <a:pt x="330200" y="100013"/>
                </a:lnTo>
                <a:lnTo>
                  <a:pt x="330200" y="311150"/>
                </a:lnTo>
                <a:cubicBezTo>
                  <a:pt x="330200" y="335667"/>
                  <a:pt x="307419" y="355600"/>
                  <a:pt x="279400" y="355600"/>
                </a:cubicBezTo>
                <a:lnTo>
                  <a:pt x="76200" y="355600"/>
                </a:lnTo>
                <a:cubicBezTo>
                  <a:pt x="48181" y="355600"/>
                  <a:pt x="25400" y="335667"/>
                  <a:pt x="25400" y="311150"/>
                </a:cubicBezTo>
                <a:lnTo>
                  <a:pt x="25400" y="100013"/>
                </a:lnTo>
                <a:close/>
                <a:moveTo>
                  <a:pt x="95250" y="144463"/>
                </a:moveTo>
                <a:cubicBezTo>
                  <a:pt x="84693" y="144463"/>
                  <a:pt x="76200" y="151894"/>
                  <a:pt x="76200" y="161131"/>
                </a:cubicBezTo>
                <a:lnTo>
                  <a:pt x="76200" y="294481"/>
                </a:lnTo>
                <a:cubicBezTo>
                  <a:pt x="76200" y="303719"/>
                  <a:pt x="84693" y="311150"/>
                  <a:pt x="95250" y="311150"/>
                </a:cubicBezTo>
                <a:cubicBezTo>
                  <a:pt x="105807" y="311150"/>
                  <a:pt x="114300" y="303719"/>
                  <a:pt x="114300" y="294481"/>
                </a:cubicBezTo>
                <a:lnTo>
                  <a:pt x="114300" y="161131"/>
                </a:lnTo>
                <a:cubicBezTo>
                  <a:pt x="114300" y="151894"/>
                  <a:pt x="105807" y="144463"/>
                  <a:pt x="95250" y="144463"/>
                </a:cubicBezTo>
                <a:close/>
                <a:moveTo>
                  <a:pt x="177800" y="144463"/>
                </a:moveTo>
                <a:cubicBezTo>
                  <a:pt x="167243" y="144463"/>
                  <a:pt x="158750" y="151894"/>
                  <a:pt x="158750" y="161131"/>
                </a:cubicBezTo>
                <a:lnTo>
                  <a:pt x="158750" y="294481"/>
                </a:lnTo>
                <a:cubicBezTo>
                  <a:pt x="158750" y="303719"/>
                  <a:pt x="167243" y="311150"/>
                  <a:pt x="177800" y="311150"/>
                </a:cubicBezTo>
                <a:cubicBezTo>
                  <a:pt x="188357" y="311150"/>
                  <a:pt x="196850" y="303719"/>
                  <a:pt x="196850" y="294481"/>
                </a:cubicBezTo>
                <a:lnTo>
                  <a:pt x="196850" y="161131"/>
                </a:lnTo>
                <a:cubicBezTo>
                  <a:pt x="196850" y="151894"/>
                  <a:pt x="188357" y="144463"/>
                  <a:pt x="177800" y="144463"/>
                </a:cubicBezTo>
                <a:close/>
                <a:moveTo>
                  <a:pt x="260350" y="144463"/>
                </a:moveTo>
                <a:cubicBezTo>
                  <a:pt x="249793" y="144463"/>
                  <a:pt x="241300" y="151894"/>
                  <a:pt x="241300" y="161131"/>
                </a:cubicBezTo>
                <a:lnTo>
                  <a:pt x="241300" y="294481"/>
                </a:lnTo>
                <a:cubicBezTo>
                  <a:pt x="241300" y="303719"/>
                  <a:pt x="249793" y="311150"/>
                  <a:pt x="260350" y="311150"/>
                </a:cubicBezTo>
                <a:cubicBezTo>
                  <a:pt x="270907" y="311150"/>
                  <a:pt x="279400" y="303719"/>
                  <a:pt x="279400" y="294481"/>
                </a:cubicBezTo>
                <a:lnTo>
                  <a:pt x="279400" y="161131"/>
                </a:lnTo>
                <a:cubicBezTo>
                  <a:pt x="279400" y="151894"/>
                  <a:pt x="270907" y="144463"/>
                  <a:pt x="260350" y="144463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62500" y="6350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Desperdício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material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55000" y="5651500"/>
            <a:ext cx="342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509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22225"/>
                </a:moveTo>
                <a:cubicBezTo>
                  <a:pt x="200025" y="9932"/>
                  <a:pt x="190093" y="0"/>
                  <a:pt x="177800" y="0"/>
                </a:cubicBezTo>
                <a:cubicBezTo>
                  <a:pt x="165507" y="0"/>
                  <a:pt x="155575" y="9932"/>
                  <a:pt x="155575" y="22225"/>
                </a:cubicBezTo>
                <a:lnTo>
                  <a:pt x="155575" y="166688"/>
                </a:lnTo>
                <a:cubicBezTo>
                  <a:pt x="155575" y="172799"/>
                  <a:pt x="150574" y="177800"/>
                  <a:pt x="144463" y="177800"/>
                </a:cubicBezTo>
                <a:cubicBezTo>
                  <a:pt x="138351" y="177800"/>
                  <a:pt x="133350" y="172799"/>
                  <a:pt x="133350" y="166688"/>
                </a:cubicBezTo>
                <a:lnTo>
                  <a:pt x="133350" y="44450"/>
                </a:lnTo>
                <a:cubicBezTo>
                  <a:pt x="133350" y="32157"/>
                  <a:pt x="123418" y="22225"/>
                  <a:pt x="111125" y="22225"/>
                </a:cubicBezTo>
                <a:cubicBezTo>
                  <a:pt x="98832" y="22225"/>
                  <a:pt x="88900" y="32157"/>
                  <a:pt x="88900" y="44450"/>
                </a:cubicBezTo>
                <a:lnTo>
                  <a:pt x="88900" y="233363"/>
                </a:lnTo>
                <a:cubicBezTo>
                  <a:pt x="88900" y="234404"/>
                  <a:pt x="88900" y="235516"/>
                  <a:pt x="88969" y="236557"/>
                </a:cubicBezTo>
                <a:lnTo>
                  <a:pt x="46950" y="196552"/>
                </a:lnTo>
                <a:cubicBezTo>
                  <a:pt x="35838" y="185995"/>
                  <a:pt x="18266" y="186412"/>
                  <a:pt x="7640" y="197525"/>
                </a:cubicBezTo>
                <a:cubicBezTo>
                  <a:pt x="-2986" y="208637"/>
                  <a:pt x="-2500" y="226209"/>
                  <a:pt x="8612" y="236835"/>
                </a:cubicBezTo>
                <a:lnTo>
                  <a:pt x="86678" y="311150"/>
                </a:lnTo>
                <a:cubicBezTo>
                  <a:pt x="116612" y="339695"/>
                  <a:pt x="156408" y="355600"/>
                  <a:pt x="197803" y="355600"/>
                </a:cubicBezTo>
                <a:lnTo>
                  <a:pt x="211138" y="355600"/>
                </a:lnTo>
                <a:cubicBezTo>
                  <a:pt x="278646" y="355600"/>
                  <a:pt x="333375" y="300871"/>
                  <a:pt x="333375" y="233363"/>
                </a:cubicBezTo>
                <a:lnTo>
                  <a:pt x="333375" y="88900"/>
                </a:lnTo>
                <a:cubicBezTo>
                  <a:pt x="333375" y="76607"/>
                  <a:pt x="323443" y="66675"/>
                  <a:pt x="311150" y="66675"/>
                </a:cubicBezTo>
                <a:cubicBezTo>
                  <a:pt x="298857" y="66675"/>
                  <a:pt x="288925" y="76607"/>
                  <a:pt x="288925" y="88900"/>
                </a:cubicBezTo>
                <a:lnTo>
                  <a:pt x="288925" y="166688"/>
                </a:lnTo>
                <a:cubicBezTo>
                  <a:pt x="288925" y="172799"/>
                  <a:pt x="283924" y="177800"/>
                  <a:pt x="277813" y="177800"/>
                </a:cubicBezTo>
                <a:cubicBezTo>
                  <a:pt x="271701" y="177800"/>
                  <a:pt x="266700" y="172799"/>
                  <a:pt x="266700" y="166688"/>
                </a:cubicBezTo>
                <a:lnTo>
                  <a:pt x="266700" y="44450"/>
                </a:lnTo>
                <a:cubicBezTo>
                  <a:pt x="266700" y="32157"/>
                  <a:pt x="256768" y="22225"/>
                  <a:pt x="244475" y="22225"/>
                </a:cubicBezTo>
                <a:cubicBezTo>
                  <a:pt x="232182" y="22225"/>
                  <a:pt x="222250" y="32157"/>
                  <a:pt x="222250" y="44450"/>
                </a:cubicBezTo>
                <a:lnTo>
                  <a:pt x="222250" y="166688"/>
                </a:lnTo>
                <a:cubicBezTo>
                  <a:pt x="222250" y="172799"/>
                  <a:pt x="217249" y="177800"/>
                  <a:pt x="211138" y="177800"/>
                </a:cubicBezTo>
                <a:cubicBezTo>
                  <a:pt x="205026" y="177800"/>
                  <a:pt x="200025" y="172799"/>
                  <a:pt x="200025" y="166688"/>
                </a:cubicBezTo>
                <a:lnTo>
                  <a:pt x="200025" y="22225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09000" y="6350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Intervenção manual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constante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001500" y="5651500"/>
            <a:ext cx="34925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2255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067" y="244475"/>
                </a:moveTo>
                <a:cubicBezTo>
                  <a:pt x="226139" y="244475"/>
                  <a:pt x="217311" y="254407"/>
                  <a:pt x="217311" y="266700"/>
                </a:cubicBezTo>
                <a:cubicBezTo>
                  <a:pt x="217311" y="278993"/>
                  <a:pt x="226139" y="288925"/>
                  <a:pt x="237067" y="288925"/>
                </a:cubicBezTo>
                <a:lnTo>
                  <a:pt x="335844" y="288925"/>
                </a:lnTo>
                <a:cubicBezTo>
                  <a:pt x="346772" y="288925"/>
                  <a:pt x="355600" y="278993"/>
                  <a:pt x="355600" y="266700"/>
                </a:cubicBezTo>
                <a:lnTo>
                  <a:pt x="355600" y="155575"/>
                </a:lnTo>
                <a:cubicBezTo>
                  <a:pt x="355600" y="143282"/>
                  <a:pt x="346772" y="133350"/>
                  <a:pt x="335844" y="133350"/>
                </a:cubicBezTo>
                <a:cubicBezTo>
                  <a:pt x="324917" y="133350"/>
                  <a:pt x="316089" y="143282"/>
                  <a:pt x="316089" y="155575"/>
                </a:cubicBezTo>
                <a:lnTo>
                  <a:pt x="316089" y="213013"/>
                </a:lnTo>
                <a:lnTo>
                  <a:pt x="211508" y="95359"/>
                </a:lnTo>
                <a:cubicBezTo>
                  <a:pt x="203791" y="86678"/>
                  <a:pt x="191258" y="86678"/>
                  <a:pt x="183541" y="95359"/>
                </a:cubicBezTo>
                <a:lnTo>
                  <a:pt x="118533" y="168563"/>
                </a:lnTo>
                <a:lnTo>
                  <a:pt x="33708" y="73204"/>
                </a:lnTo>
                <a:cubicBezTo>
                  <a:pt x="25991" y="64522"/>
                  <a:pt x="13458" y="64522"/>
                  <a:pt x="5741" y="73204"/>
                </a:cubicBezTo>
                <a:cubicBezTo>
                  <a:pt x="-1976" y="81885"/>
                  <a:pt x="-1976" y="95984"/>
                  <a:pt x="5741" y="104666"/>
                </a:cubicBezTo>
                <a:lnTo>
                  <a:pt x="104519" y="215791"/>
                </a:lnTo>
                <a:cubicBezTo>
                  <a:pt x="112236" y="224473"/>
                  <a:pt x="124769" y="224473"/>
                  <a:pt x="132486" y="215791"/>
                </a:cubicBezTo>
                <a:lnTo>
                  <a:pt x="197556" y="142587"/>
                </a:lnTo>
                <a:lnTo>
                  <a:pt x="288122" y="244475"/>
                </a:lnTo>
                <a:lnTo>
                  <a:pt x="237067" y="244475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2255500" y="63500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Perda de velocidade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motor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Produto Proposto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03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3175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9500" y="22225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Misturador Industrial Conectado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6670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produto proposto é um misturador industrial conectado, capaz de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medir a velocidade do eixo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corrigir a atuação do motor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enviar dados em tempo real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MQTT.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69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3237" y="7144"/>
                </a:moveTo>
                <a:cubicBezTo>
                  <a:pt x="230550" y="7144"/>
                  <a:pt x="268962" y="55159"/>
                  <a:pt x="268962" y="114300"/>
                </a:cubicBezTo>
                <a:cubicBezTo>
                  <a:pt x="268962" y="173441"/>
                  <a:pt x="230550" y="221456"/>
                  <a:pt x="183237" y="221456"/>
                </a:cubicBezTo>
                <a:cubicBezTo>
                  <a:pt x="135924" y="221456"/>
                  <a:pt x="97512" y="173441"/>
                  <a:pt x="97512" y="114300"/>
                </a:cubicBezTo>
                <a:cubicBezTo>
                  <a:pt x="97512" y="55159"/>
                  <a:pt x="135924" y="7144"/>
                  <a:pt x="183237" y="7144"/>
                </a:cubicBezTo>
                <a:close/>
                <a:moveTo>
                  <a:pt x="161949" y="271463"/>
                </a:moveTo>
                <a:lnTo>
                  <a:pt x="204383" y="271463"/>
                </a:lnTo>
                <a:lnTo>
                  <a:pt x="205454" y="271463"/>
                </a:lnTo>
                <a:cubicBezTo>
                  <a:pt x="196239" y="295394"/>
                  <a:pt x="199882" y="323433"/>
                  <a:pt x="213670" y="342454"/>
                </a:cubicBezTo>
                <a:cubicBezTo>
                  <a:pt x="199239" y="362367"/>
                  <a:pt x="195953" y="392281"/>
                  <a:pt x="206954" y="416927"/>
                </a:cubicBezTo>
                <a:lnTo>
                  <a:pt x="223028" y="453003"/>
                </a:lnTo>
                <a:cubicBezTo>
                  <a:pt x="223671" y="454432"/>
                  <a:pt x="224385" y="455861"/>
                  <a:pt x="225100" y="457200"/>
                </a:cubicBezTo>
                <a:lnTo>
                  <a:pt x="55793" y="457200"/>
                </a:lnTo>
                <a:cubicBezTo>
                  <a:pt x="44077" y="457200"/>
                  <a:pt x="34576" y="445324"/>
                  <a:pt x="34576" y="430679"/>
                </a:cubicBezTo>
                <a:cubicBezTo>
                  <a:pt x="34576" y="342721"/>
                  <a:pt x="91583" y="271462"/>
                  <a:pt x="161949" y="271462"/>
                </a:cubicBezTo>
                <a:close/>
                <a:moveTo>
                  <a:pt x="309039" y="221099"/>
                </a:moveTo>
                <a:cubicBezTo>
                  <a:pt x="309039" y="209223"/>
                  <a:pt x="316682" y="199668"/>
                  <a:pt x="326184" y="199668"/>
                </a:cubicBezTo>
                <a:lnTo>
                  <a:pt x="360474" y="199668"/>
                </a:lnTo>
                <a:cubicBezTo>
                  <a:pt x="369975" y="199668"/>
                  <a:pt x="377619" y="209223"/>
                  <a:pt x="377619" y="221099"/>
                </a:cubicBezTo>
                <a:lnTo>
                  <a:pt x="377619" y="226546"/>
                </a:lnTo>
                <a:cubicBezTo>
                  <a:pt x="377619" y="243423"/>
                  <a:pt x="394835" y="255836"/>
                  <a:pt x="406551" y="247442"/>
                </a:cubicBezTo>
                <a:lnTo>
                  <a:pt x="410123" y="244852"/>
                </a:lnTo>
                <a:cubicBezTo>
                  <a:pt x="418409" y="238869"/>
                  <a:pt x="429054" y="242530"/>
                  <a:pt x="433697" y="252978"/>
                </a:cubicBezTo>
                <a:lnTo>
                  <a:pt x="449699" y="288875"/>
                </a:lnTo>
                <a:cubicBezTo>
                  <a:pt x="454128" y="298877"/>
                  <a:pt x="451556" y="311378"/>
                  <a:pt x="443841" y="317450"/>
                </a:cubicBezTo>
                <a:lnTo>
                  <a:pt x="440484" y="320040"/>
                </a:lnTo>
                <a:cubicBezTo>
                  <a:pt x="428911" y="329059"/>
                  <a:pt x="428911" y="355669"/>
                  <a:pt x="440484" y="364778"/>
                </a:cubicBezTo>
                <a:lnTo>
                  <a:pt x="443770" y="367367"/>
                </a:lnTo>
                <a:cubicBezTo>
                  <a:pt x="451485" y="373440"/>
                  <a:pt x="454128" y="385941"/>
                  <a:pt x="449699" y="395942"/>
                </a:cubicBezTo>
                <a:lnTo>
                  <a:pt x="433626" y="432018"/>
                </a:lnTo>
                <a:cubicBezTo>
                  <a:pt x="428982" y="442466"/>
                  <a:pt x="418338" y="446216"/>
                  <a:pt x="410051" y="440144"/>
                </a:cubicBezTo>
                <a:lnTo>
                  <a:pt x="406551" y="437555"/>
                </a:lnTo>
                <a:cubicBezTo>
                  <a:pt x="394835" y="429071"/>
                  <a:pt x="377619" y="441573"/>
                  <a:pt x="377619" y="458450"/>
                </a:cubicBezTo>
                <a:lnTo>
                  <a:pt x="377619" y="463897"/>
                </a:lnTo>
                <a:cubicBezTo>
                  <a:pt x="377619" y="475774"/>
                  <a:pt x="369975" y="485329"/>
                  <a:pt x="360474" y="485329"/>
                </a:cubicBezTo>
                <a:lnTo>
                  <a:pt x="326184" y="485329"/>
                </a:lnTo>
                <a:cubicBezTo>
                  <a:pt x="316682" y="485329"/>
                  <a:pt x="309039" y="475774"/>
                  <a:pt x="309039" y="463897"/>
                </a:cubicBezTo>
                <a:lnTo>
                  <a:pt x="309039" y="458629"/>
                </a:lnTo>
                <a:cubicBezTo>
                  <a:pt x="309039" y="441662"/>
                  <a:pt x="291751" y="429161"/>
                  <a:pt x="279964" y="437644"/>
                </a:cubicBezTo>
                <a:lnTo>
                  <a:pt x="276535" y="440144"/>
                </a:lnTo>
                <a:cubicBezTo>
                  <a:pt x="268248" y="446127"/>
                  <a:pt x="257675" y="442466"/>
                  <a:pt x="252960" y="432018"/>
                </a:cubicBezTo>
                <a:lnTo>
                  <a:pt x="236815" y="395942"/>
                </a:lnTo>
                <a:cubicBezTo>
                  <a:pt x="232386" y="385941"/>
                  <a:pt x="234958" y="373350"/>
                  <a:pt x="242745" y="367278"/>
                </a:cubicBezTo>
                <a:lnTo>
                  <a:pt x="245888" y="364867"/>
                </a:lnTo>
                <a:cubicBezTo>
                  <a:pt x="257532" y="355848"/>
                  <a:pt x="257532" y="329059"/>
                  <a:pt x="245888" y="320040"/>
                </a:cubicBezTo>
                <a:lnTo>
                  <a:pt x="242673" y="317540"/>
                </a:lnTo>
                <a:cubicBezTo>
                  <a:pt x="234887" y="311468"/>
                  <a:pt x="232315" y="298877"/>
                  <a:pt x="236744" y="288875"/>
                </a:cubicBezTo>
                <a:lnTo>
                  <a:pt x="252817" y="252889"/>
                </a:lnTo>
                <a:cubicBezTo>
                  <a:pt x="257461" y="242441"/>
                  <a:pt x="268105" y="238780"/>
                  <a:pt x="276320" y="244763"/>
                </a:cubicBezTo>
                <a:lnTo>
                  <a:pt x="279749" y="247263"/>
                </a:lnTo>
                <a:cubicBezTo>
                  <a:pt x="291536" y="255746"/>
                  <a:pt x="308824" y="243245"/>
                  <a:pt x="308824" y="226278"/>
                </a:cubicBezTo>
                <a:lnTo>
                  <a:pt x="308824" y="221010"/>
                </a:lnTo>
                <a:close/>
                <a:moveTo>
                  <a:pt x="380405" y="342721"/>
                </a:moveTo>
                <a:cubicBezTo>
                  <a:pt x="380405" y="317094"/>
                  <a:pt x="363759" y="296287"/>
                  <a:pt x="343257" y="296287"/>
                </a:cubicBezTo>
                <a:cubicBezTo>
                  <a:pt x="322755" y="296287"/>
                  <a:pt x="306110" y="317094"/>
                  <a:pt x="306110" y="342721"/>
                </a:cubicBezTo>
                <a:cubicBezTo>
                  <a:pt x="306110" y="368349"/>
                  <a:pt x="322755" y="389156"/>
                  <a:pt x="343257" y="389156"/>
                </a:cubicBezTo>
                <a:cubicBezTo>
                  <a:pt x="363759" y="389156"/>
                  <a:pt x="380405" y="368349"/>
                  <a:pt x="380405" y="342721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99500" y="22225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Operação Simplificada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6670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operador define uma rotação desejada e acompanha a resposta pelo </a:t>
            </a: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por uma ferramenta MQTT como o </a:t>
            </a: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MQTTX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95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Funcionalidades Principais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16000" y="571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460500" y="5651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Medição de velocidade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eixo em tempo real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08500" y="54610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62500" y="571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8513" y="38100"/>
                  <a:pt x="0" y="46613"/>
                  <a:pt x="0" y="57150"/>
                </a:cubicBezTo>
                <a:cubicBezTo>
                  <a:pt x="0" y="67687"/>
                  <a:pt x="8513" y="76200"/>
                  <a:pt x="19050" y="76200"/>
                </a:cubicBezTo>
                <a:lnTo>
                  <a:pt x="70664" y="76200"/>
                </a:lnTo>
                <a:cubicBezTo>
                  <a:pt x="77986" y="93047"/>
                  <a:pt x="94774" y="104775"/>
                  <a:pt x="114300" y="104775"/>
                </a:cubicBezTo>
                <a:cubicBezTo>
                  <a:pt x="133826" y="104775"/>
                  <a:pt x="150614" y="93047"/>
                  <a:pt x="157936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57936" y="38100"/>
                </a:lnTo>
                <a:cubicBezTo>
                  <a:pt x="150614" y="21253"/>
                  <a:pt x="133826" y="9525"/>
                  <a:pt x="114300" y="9525"/>
                </a:cubicBezTo>
                <a:cubicBezTo>
                  <a:pt x="94774" y="9525"/>
                  <a:pt x="77986" y="21253"/>
                  <a:pt x="70664" y="38100"/>
                </a:cubicBezTo>
                <a:lnTo>
                  <a:pt x="19050" y="38100"/>
                </a:lnTo>
                <a:close/>
                <a:moveTo>
                  <a:pt x="19050" y="133350"/>
                </a:move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65914" y="171450"/>
                </a:lnTo>
                <a:cubicBezTo>
                  <a:pt x="173236" y="188297"/>
                  <a:pt x="190024" y="200025"/>
                  <a:pt x="209550" y="200025"/>
                </a:cubicBezTo>
                <a:cubicBezTo>
                  <a:pt x="229076" y="200025"/>
                  <a:pt x="245864" y="188297"/>
                  <a:pt x="253186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253186" y="133350"/>
                </a:lnTo>
                <a:cubicBezTo>
                  <a:pt x="245864" y="116503"/>
                  <a:pt x="229076" y="104775"/>
                  <a:pt x="209550" y="104775"/>
                </a:cubicBezTo>
                <a:cubicBezTo>
                  <a:pt x="190024" y="104775"/>
                  <a:pt x="173236" y="116503"/>
                  <a:pt x="165914" y="133350"/>
                </a:cubicBezTo>
                <a:lnTo>
                  <a:pt x="19050" y="133350"/>
                </a:lnTo>
                <a:close/>
                <a:moveTo>
                  <a:pt x="19050" y="228600"/>
                </a:moveTo>
                <a:cubicBezTo>
                  <a:pt x="8513" y="228600"/>
                  <a:pt x="0" y="237113"/>
                  <a:pt x="0" y="247650"/>
                </a:cubicBezTo>
                <a:cubicBezTo>
                  <a:pt x="0" y="258187"/>
                  <a:pt x="8513" y="266700"/>
                  <a:pt x="19050" y="266700"/>
                </a:cubicBezTo>
                <a:lnTo>
                  <a:pt x="51614" y="266700"/>
                </a:lnTo>
                <a:cubicBezTo>
                  <a:pt x="58936" y="283547"/>
                  <a:pt x="75724" y="295275"/>
                  <a:pt x="95250" y="295275"/>
                </a:cubicBezTo>
                <a:cubicBezTo>
                  <a:pt x="114776" y="295275"/>
                  <a:pt x="131564" y="283547"/>
                  <a:pt x="138886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38886" y="228600"/>
                </a:lnTo>
                <a:cubicBezTo>
                  <a:pt x="131564" y="211753"/>
                  <a:pt x="114776" y="200025"/>
                  <a:pt x="95250" y="200025"/>
                </a:cubicBezTo>
                <a:cubicBezTo>
                  <a:pt x="75724" y="200025"/>
                  <a:pt x="58936" y="211753"/>
                  <a:pt x="51614" y="228600"/>
                </a:cubicBezTo>
                <a:lnTo>
                  <a:pt x="19050" y="2286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207000" y="5651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Correção automática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 atuação do motor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55000" y="54610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509000" y="571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113" y="0"/>
                </a:moveTo>
                <a:cubicBezTo>
                  <a:pt x="230148" y="0"/>
                  <a:pt x="304800" y="74652"/>
                  <a:pt x="304800" y="166688"/>
                </a:cubicBezTo>
                <a:cubicBezTo>
                  <a:pt x="304800" y="174605"/>
                  <a:pt x="298430" y="180975"/>
                  <a:pt x="290513" y="180975"/>
                </a:cubicBezTo>
                <a:cubicBezTo>
                  <a:pt x="282595" y="180975"/>
                  <a:pt x="276225" y="174605"/>
                  <a:pt x="276225" y="166688"/>
                </a:cubicBezTo>
                <a:cubicBezTo>
                  <a:pt x="276225" y="90428"/>
                  <a:pt x="214372" y="28575"/>
                  <a:pt x="138113" y="28575"/>
                </a:cubicBezTo>
                <a:cubicBezTo>
                  <a:pt x="130195" y="28575"/>
                  <a:pt x="123825" y="22205"/>
                  <a:pt x="123825" y="14288"/>
                </a:cubicBezTo>
                <a:cubicBezTo>
                  <a:pt x="123825" y="6370"/>
                  <a:pt x="130195" y="0"/>
                  <a:pt x="138113" y="0"/>
                </a:cubicBezTo>
                <a:close/>
                <a:moveTo>
                  <a:pt x="123825" y="71438"/>
                </a:moveTo>
                <a:cubicBezTo>
                  <a:pt x="123825" y="63520"/>
                  <a:pt x="130195" y="57150"/>
                  <a:pt x="138113" y="57150"/>
                </a:cubicBezTo>
                <a:cubicBezTo>
                  <a:pt x="198596" y="57150"/>
                  <a:pt x="247650" y="106204"/>
                  <a:pt x="247650" y="166688"/>
                </a:cubicBezTo>
                <a:cubicBezTo>
                  <a:pt x="247650" y="174605"/>
                  <a:pt x="241280" y="180975"/>
                  <a:pt x="233363" y="180975"/>
                </a:cubicBezTo>
                <a:cubicBezTo>
                  <a:pt x="225445" y="180975"/>
                  <a:pt x="219075" y="174605"/>
                  <a:pt x="219075" y="166688"/>
                </a:cubicBezTo>
                <a:cubicBezTo>
                  <a:pt x="219075" y="121980"/>
                  <a:pt x="182820" y="85725"/>
                  <a:pt x="138113" y="85725"/>
                </a:cubicBezTo>
                <a:cubicBezTo>
                  <a:pt x="130195" y="85725"/>
                  <a:pt x="123825" y="79355"/>
                  <a:pt x="123825" y="71438"/>
                </a:cubicBezTo>
                <a:close/>
                <a:moveTo>
                  <a:pt x="15716" y="84951"/>
                </a:moveTo>
                <a:cubicBezTo>
                  <a:pt x="20955" y="74295"/>
                  <a:pt x="35004" y="73104"/>
                  <a:pt x="43398" y="81498"/>
                </a:cubicBezTo>
                <a:lnTo>
                  <a:pt x="119896" y="157996"/>
                </a:lnTo>
                <a:lnTo>
                  <a:pt x="138946" y="138946"/>
                </a:lnTo>
                <a:cubicBezTo>
                  <a:pt x="146387" y="131505"/>
                  <a:pt x="158472" y="131505"/>
                  <a:pt x="165914" y="138946"/>
                </a:cubicBezTo>
                <a:cubicBezTo>
                  <a:pt x="173355" y="146387"/>
                  <a:pt x="173355" y="158472"/>
                  <a:pt x="165914" y="165914"/>
                </a:cubicBezTo>
                <a:lnTo>
                  <a:pt x="146864" y="184964"/>
                </a:lnTo>
                <a:lnTo>
                  <a:pt x="223361" y="261461"/>
                </a:lnTo>
                <a:cubicBezTo>
                  <a:pt x="231755" y="269855"/>
                  <a:pt x="230505" y="283845"/>
                  <a:pt x="219908" y="289143"/>
                </a:cubicBezTo>
                <a:cubicBezTo>
                  <a:pt x="199549" y="299204"/>
                  <a:pt x="176689" y="304860"/>
                  <a:pt x="152460" y="304860"/>
                </a:cubicBezTo>
                <a:cubicBezTo>
                  <a:pt x="68282" y="304860"/>
                  <a:pt x="60" y="236637"/>
                  <a:pt x="60" y="152460"/>
                </a:cubicBezTo>
                <a:cubicBezTo>
                  <a:pt x="60" y="128230"/>
                  <a:pt x="5715" y="105311"/>
                  <a:pt x="15776" y="85011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953500" y="5651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Dados em tempo real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MQTT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001500" y="5461000"/>
            <a:ext cx="34925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2255500" y="571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2700000" y="5651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Supervisão remota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dashboard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12">
            <a:extLst>
              <a:ext uri="{FF2B5EF4-FFF2-40B4-BE49-F238E27FC236}">
                <a16:creationId xmlns:a16="http://schemas.microsoft.com/office/drawing/2014/main" id="{EBCFF7C5-6B84-0CF0-C7A2-FD5880124ECE}"/>
              </a:ext>
            </a:extLst>
          </p:cNvPr>
          <p:cNvSpPr/>
          <p:nvPr/>
        </p:nvSpPr>
        <p:spPr>
          <a:xfrm>
            <a:off x="6232461" y="4500857"/>
            <a:ext cx="21590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Ideia da Solução IoT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04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Componentes da Solução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721477"/>
            <a:ext cx="2159000" cy="2412999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89000" y="3324973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Wi-Fi integrado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94861" y="2966078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92500" y="1721477"/>
            <a:ext cx="2159000" cy="2412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68217" y="3327705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 DC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Encoder Hall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78500" y="2983119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23000" y="1721477"/>
            <a:ext cx="2159000" cy="2412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16" name="Text 14"/>
          <p:cNvSpPr/>
          <p:nvPr/>
        </p:nvSpPr>
        <p:spPr>
          <a:xfrm>
            <a:off x="6350000" y="3294358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 L298N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 err="1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</a:t>
            </a:r>
            <a:r>
              <a:rPr lang="en-US" sz="1400" dirty="0" err="1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7311961" y="4163902"/>
            <a:ext cx="10995" cy="333757"/>
          </a:xfrm>
          <a:custGeom>
            <a:avLst/>
            <a:gdLst>
              <a:gd name="csX0" fmla="*/ 0 w 45719"/>
              <a:gd name="csY0" fmla="*/ 0 h 322182"/>
              <a:gd name="csX1" fmla="*/ 45719 w 45719"/>
              <a:gd name="csY1" fmla="*/ 322182 h 322182"/>
              <a:gd name="csX0" fmla="*/ 0 w 10995"/>
              <a:gd name="csY0" fmla="*/ 0 h 333757"/>
              <a:gd name="csX1" fmla="*/ 10995 w 10995"/>
              <a:gd name="csY1" fmla="*/ 333757 h 3337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995" h="333757" fill="none">
                <a:moveTo>
                  <a:pt x="0" y="0"/>
                </a:moveTo>
                <a:cubicBezTo>
                  <a:pt x="15240" y="107394"/>
                  <a:pt x="-4245" y="226363"/>
                  <a:pt x="10995" y="333757"/>
                </a:cubicBezTo>
              </a:path>
            </a:pathLst>
          </a:cu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214582" y="2966078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1659082" y="2394578"/>
            <a:ext cx="1778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2294082" y="2521578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3106" y="61119"/>
                </a:moveTo>
                <a:lnTo>
                  <a:pt x="202494" y="61119"/>
                </a:lnTo>
                <a:lnTo>
                  <a:pt x="202494" y="94456"/>
                </a:lnTo>
                <a:lnTo>
                  <a:pt x="153106" y="94456"/>
                </a:lnTo>
                <a:lnTo>
                  <a:pt x="153106" y="61119"/>
                </a:lnTo>
                <a:close/>
                <a:moveTo>
                  <a:pt x="148167" y="22225"/>
                </a:moveTo>
                <a:cubicBezTo>
                  <a:pt x="131807" y="22225"/>
                  <a:pt x="118533" y="37157"/>
                  <a:pt x="118533" y="55563"/>
                </a:cubicBezTo>
                <a:lnTo>
                  <a:pt x="118533" y="100013"/>
                </a:lnTo>
                <a:cubicBezTo>
                  <a:pt x="118533" y="118418"/>
                  <a:pt x="131807" y="133350"/>
                  <a:pt x="148167" y="133350"/>
                </a:cubicBezTo>
                <a:lnTo>
                  <a:pt x="158044" y="133350"/>
                </a:lnTo>
                <a:lnTo>
                  <a:pt x="158044" y="155575"/>
                </a:lnTo>
                <a:lnTo>
                  <a:pt x="19756" y="155575"/>
                </a:lnTo>
                <a:cubicBezTo>
                  <a:pt x="8828" y="155575"/>
                  <a:pt x="0" y="165507"/>
                  <a:pt x="0" y="177800"/>
                </a:cubicBezTo>
                <a:cubicBezTo>
                  <a:pt x="0" y="190093"/>
                  <a:pt x="8828" y="200025"/>
                  <a:pt x="19756" y="200025"/>
                </a:cubicBezTo>
                <a:lnTo>
                  <a:pt x="79022" y="200025"/>
                </a:lnTo>
                <a:lnTo>
                  <a:pt x="79022" y="222250"/>
                </a:lnTo>
                <a:lnTo>
                  <a:pt x="69144" y="222250"/>
                </a:lnTo>
                <a:cubicBezTo>
                  <a:pt x="52784" y="222250"/>
                  <a:pt x="39511" y="237182"/>
                  <a:pt x="39511" y="255587"/>
                </a:cubicBezTo>
                <a:lnTo>
                  <a:pt x="39511" y="300038"/>
                </a:lnTo>
                <a:cubicBezTo>
                  <a:pt x="39511" y="318443"/>
                  <a:pt x="52784" y="333375"/>
                  <a:pt x="69144" y="333375"/>
                </a:cubicBezTo>
                <a:lnTo>
                  <a:pt x="128411" y="333375"/>
                </a:lnTo>
                <a:cubicBezTo>
                  <a:pt x="144771" y="333375"/>
                  <a:pt x="158044" y="318443"/>
                  <a:pt x="158044" y="300038"/>
                </a:cubicBezTo>
                <a:lnTo>
                  <a:pt x="158044" y="255587"/>
                </a:lnTo>
                <a:cubicBezTo>
                  <a:pt x="158044" y="237182"/>
                  <a:pt x="144771" y="222250"/>
                  <a:pt x="128411" y="222250"/>
                </a:cubicBezTo>
                <a:lnTo>
                  <a:pt x="118533" y="222250"/>
                </a:lnTo>
                <a:lnTo>
                  <a:pt x="118533" y="200025"/>
                </a:lnTo>
                <a:lnTo>
                  <a:pt x="237067" y="200025"/>
                </a:lnTo>
                <a:lnTo>
                  <a:pt x="237067" y="222250"/>
                </a:lnTo>
                <a:lnTo>
                  <a:pt x="227189" y="222250"/>
                </a:lnTo>
                <a:cubicBezTo>
                  <a:pt x="210829" y="222250"/>
                  <a:pt x="197556" y="237182"/>
                  <a:pt x="197556" y="255587"/>
                </a:cubicBezTo>
                <a:lnTo>
                  <a:pt x="197556" y="300038"/>
                </a:lnTo>
                <a:cubicBezTo>
                  <a:pt x="197556" y="318443"/>
                  <a:pt x="210829" y="333375"/>
                  <a:pt x="227189" y="333375"/>
                </a:cubicBezTo>
                <a:lnTo>
                  <a:pt x="286456" y="333375"/>
                </a:lnTo>
                <a:cubicBezTo>
                  <a:pt x="302816" y="333375"/>
                  <a:pt x="316089" y="318443"/>
                  <a:pt x="316089" y="300038"/>
                </a:cubicBezTo>
                <a:lnTo>
                  <a:pt x="316089" y="255587"/>
                </a:lnTo>
                <a:cubicBezTo>
                  <a:pt x="316089" y="237182"/>
                  <a:pt x="302816" y="222250"/>
                  <a:pt x="286456" y="222250"/>
                </a:cubicBezTo>
                <a:lnTo>
                  <a:pt x="276578" y="222250"/>
                </a:lnTo>
                <a:lnTo>
                  <a:pt x="276578" y="200025"/>
                </a:lnTo>
                <a:lnTo>
                  <a:pt x="335844" y="200025"/>
                </a:lnTo>
                <a:cubicBezTo>
                  <a:pt x="346772" y="200025"/>
                  <a:pt x="355600" y="190093"/>
                  <a:pt x="355600" y="177800"/>
                </a:cubicBezTo>
                <a:cubicBezTo>
                  <a:pt x="355600" y="165507"/>
                  <a:pt x="346772" y="155575"/>
                  <a:pt x="335844" y="155575"/>
                </a:cubicBezTo>
                <a:lnTo>
                  <a:pt x="197556" y="155575"/>
                </a:lnTo>
                <a:lnTo>
                  <a:pt x="197556" y="133350"/>
                </a:lnTo>
                <a:lnTo>
                  <a:pt x="207433" y="133350"/>
                </a:lnTo>
                <a:cubicBezTo>
                  <a:pt x="223793" y="133350"/>
                  <a:pt x="237067" y="118418"/>
                  <a:pt x="237067" y="100013"/>
                </a:cubicBezTo>
                <a:lnTo>
                  <a:pt x="237067" y="55563"/>
                </a:lnTo>
                <a:cubicBezTo>
                  <a:pt x="237067" y="37157"/>
                  <a:pt x="223793" y="22225"/>
                  <a:pt x="207433" y="22225"/>
                </a:cubicBezTo>
                <a:lnTo>
                  <a:pt x="148167" y="22225"/>
                </a:lnTo>
                <a:close/>
                <a:moveTo>
                  <a:pt x="276578" y="261144"/>
                </a:moveTo>
                <a:lnTo>
                  <a:pt x="281517" y="261144"/>
                </a:lnTo>
                <a:lnTo>
                  <a:pt x="281517" y="294481"/>
                </a:lnTo>
                <a:lnTo>
                  <a:pt x="232128" y="294481"/>
                </a:lnTo>
                <a:lnTo>
                  <a:pt x="232128" y="261144"/>
                </a:lnTo>
                <a:lnTo>
                  <a:pt x="276578" y="261144"/>
                </a:lnTo>
                <a:close/>
                <a:moveTo>
                  <a:pt x="118533" y="261144"/>
                </a:moveTo>
                <a:lnTo>
                  <a:pt x="123472" y="261144"/>
                </a:lnTo>
                <a:lnTo>
                  <a:pt x="123472" y="294481"/>
                </a:lnTo>
                <a:lnTo>
                  <a:pt x="74083" y="294481"/>
                </a:lnTo>
                <a:lnTo>
                  <a:pt x="74083" y="261144"/>
                </a:lnTo>
                <a:lnTo>
                  <a:pt x="118533" y="261144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786082" y="2966078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Broker </a:t>
            </a:r>
            <a:r>
              <a:rPr lang="en-US" sz="1300" b="1" dirty="0" err="1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V="1">
            <a:off x="13564082" y="2394578"/>
            <a:ext cx="508000" cy="461541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4141932" y="1713119"/>
            <a:ext cx="1460500" cy="1270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4649932" y="184011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4205432" y="2284619"/>
            <a:ext cx="1333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6932" y="5845987"/>
            <a:ext cx="14732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124432" y="5972987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sz="1300" dirty="0">
                <a:solidFill>
                  <a:srgbClr val="323232"/>
                </a:solidFill>
              </a:rPr>
              <a:t>O </a:t>
            </a:r>
            <a:r>
              <a:rPr sz="1300" dirty="0" err="1">
                <a:solidFill>
                  <a:srgbClr val="323232"/>
                </a:solidFill>
              </a:rPr>
              <a:t>controle</a:t>
            </a:r>
            <a:r>
              <a:rPr sz="1300" dirty="0">
                <a:solidFill>
                  <a:srgbClr val="323232"/>
                </a:solidFill>
              </a:rPr>
              <a:t> é local no ESP32, </a:t>
            </a:r>
            <a:r>
              <a:rPr sz="1300" dirty="0" err="1">
                <a:solidFill>
                  <a:srgbClr val="323232"/>
                </a:solidFill>
              </a:rPr>
              <a:t>garantindo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resposta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rápida</a:t>
            </a:r>
            <a:r>
              <a:rPr sz="1300" dirty="0">
                <a:solidFill>
                  <a:srgbClr val="323232"/>
                </a:solidFill>
              </a:rPr>
              <a:t> e </a:t>
            </a:r>
            <a:r>
              <a:rPr sz="1300" dirty="0" err="1">
                <a:solidFill>
                  <a:srgbClr val="323232"/>
                </a:solidFill>
              </a:rPr>
              <a:t>independente</a:t>
            </a:r>
            <a:r>
              <a:rPr sz="1300" dirty="0">
                <a:solidFill>
                  <a:srgbClr val="323232"/>
                </a:solidFill>
              </a:rPr>
              <a:t> de </a:t>
            </a:r>
            <a:r>
              <a:rPr sz="1300" dirty="0" err="1">
                <a:solidFill>
                  <a:srgbClr val="323232"/>
                </a:solidFill>
              </a:rPr>
              <a:t>conexão</a:t>
            </a:r>
            <a:r>
              <a:rPr sz="1300" dirty="0">
                <a:solidFill>
                  <a:srgbClr val="323232"/>
                </a:solidFill>
              </a:rPr>
              <a:t>. O MQTT </a:t>
            </a:r>
            <a:r>
              <a:rPr sz="1300" dirty="0" err="1">
                <a:solidFill>
                  <a:srgbClr val="323232"/>
                </a:solidFill>
              </a:rPr>
              <a:t>permite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supervisão</a:t>
            </a:r>
            <a:r>
              <a:rPr sz="1300" dirty="0">
                <a:solidFill>
                  <a:srgbClr val="323232"/>
                </a:solidFill>
              </a:rPr>
              <a:t> e </a:t>
            </a:r>
            <a:r>
              <a:rPr sz="1300" dirty="0" err="1">
                <a:solidFill>
                  <a:srgbClr val="323232"/>
                </a:solidFill>
              </a:rPr>
              <a:t>comandos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remotos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pelo</a:t>
            </a:r>
            <a:r>
              <a:rPr sz="1300" dirty="0">
                <a:solidFill>
                  <a:srgbClr val="323232"/>
                </a:solidFill>
              </a:rPr>
              <a:t> dashboard </a:t>
            </a:r>
            <a:r>
              <a:rPr sz="1300" dirty="0" err="1">
                <a:solidFill>
                  <a:srgbClr val="323232"/>
                </a:solidFill>
              </a:rPr>
              <a:t>ou</a:t>
            </a:r>
            <a:r>
              <a:rPr sz="1300" dirty="0">
                <a:solidFill>
                  <a:srgbClr val="323232"/>
                </a:solidFill>
              </a:rPr>
              <a:t> MQTTX. </a:t>
            </a:r>
            <a:r>
              <a:rPr sz="1300" dirty="0" err="1">
                <a:solidFill>
                  <a:srgbClr val="323232"/>
                </a:solidFill>
              </a:rPr>
              <a:t>Além</a:t>
            </a:r>
            <a:r>
              <a:rPr sz="1300" dirty="0">
                <a:solidFill>
                  <a:srgbClr val="323232"/>
                </a:solidFill>
              </a:rPr>
              <a:t> </a:t>
            </a:r>
            <a:r>
              <a:rPr sz="1300" dirty="0" err="1">
                <a:solidFill>
                  <a:srgbClr val="323232"/>
                </a:solidFill>
              </a:rPr>
              <a:t>disso</a:t>
            </a:r>
            <a:r>
              <a:rPr sz="1300" dirty="0">
                <a:solidFill>
                  <a:srgbClr val="323232"/>
                </a:solidFill>
              </a:rPr>
              <a:t>, o MQTTX </a:t>
            </a:r>
            <a:r>
              <a:rPr sz="1300" dirty="0" err="1">
                <a:solidFill>
                  <a:srgbClr val="323232"/>
                </a:solidFill>
              </a:rPr>
              <a:t>pode</a:t>
            </a:r>
            <a:r>
              <a:rPr sz="1300" dirty="0">
                <a:solidFill>
                  <a:srgbClr val="323232"/>
                </a:solidFill>
              </a:rPr>
              <a:t> ser </a:t>
            </a:r>
            <a:r>
              <a:rPr sz="1300" dirty="0" err="1">
                <a:solidFill>
                  <a:srgbClr val="323232"/>
                </a:solidFill>
              </a:rPr>
              <a:t>usado</a:t>
            </a:r>
            <a:r>
              <a:rPr sz="1300" dirty="0">
                <a:solidFill>
                  <a:srgbClr val="323232"/>
                </a:solidFill>
              </a:rPr>
              <a:t> para testes e </a:t>
            </a:r>
            <a:r>
              <a:rPr sz="1300" dirty="0" err="1">
                <a:solidFill>
                  <a:srgbClr val="323232"/>
                </a:solidFill>
              </a:rPr>
              <a:t>simulação</a:t>
            </a:r>
            <a:r>
              <a:rPr sz="1300" dirty="0">
                <a:solidFill>
                  <a:srgbClr val="323232"/>
                </a:solidFill>
              </a:rPr>
              <a:t> do </a:t>
            </a:r>
            <a:r>
              <a:rPr sz="1300" dirty="0" err="1">
                <a:solidFill>
                  <a:srgbClr val="323232"/>
                </a:solidFill>
              </a:rPr>
              <a:t>sistema</a:t>
            </a:r>
            <a:r>
              <a:rPr sz="1300" dirty="0">
                <a:solidFill>
                  <a:srgbClr val="323232"/>
                </a:solidFill>
              </a:rPr>
              <a:t>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04</a:t>
            </a:r>
            <a:endParaRPr lang="en-US" sz="1300" dirty="0"/>
          </a:p>
        </p:txBody>
      </p:sp>
      <p:pic>
        <p:nvPicPr>
          <p:cNvPr id="45" name="Imagem 44" descr="Amazon.com: Hall Encoder Geared Motor DC 12V AB Bi-Phase ...">
            <a:extLst>
              <a:ext uri="{FF2B5EF4-FFF2-40B4-BE49-F238E27FC236}">
                <a16:creationId xmlns:a16="http://schemas.microsoft.com/office/drawing/2014/main" id="{B92400FD-2471-82F9-6937-8261F5B41A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545"/>
          <a:stretch>
            <a:fillRect/>
          </a:stretch>
        </p:blipFill>
        <p:spPr>
          <a:xfrm>
            <a:off x="3760751" y="1950078"/>
            <a:ext cx="1706736" cy="1143000"/>
          </a:xfrm>
          <a:prstGeom prst="rect">
            <a:avLst/>
          </a:prstGeom>
        </p:spPr>
      </p:pic>
      <p:pic>
        <p:nvPicPr>
          <p:cNvPr id="48" name="Imagem 47" descr="Módulo WiFi ESP32 Bluetooth 30 pinos - Eletrogate - 14 anos!">
            <a:extLst>
              <a:ext uri="{FF2B5EF4-FFF2-40B4-BE49-F238E27FC236}">
                <a16:creationId xmlns:a16="http://schemas.microsoft.com/office/drawing/2014/main" id="{FFD7236E-2062-FBD0-D293-4A6D1B7870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00" t="19345" r="6622" b="19333"/>
          <a:stretch>
            <a:fillRect/>
          </a:stretch>
        </p:blipFill>
        <p:spPr>
          <a:xfrm>
            <a:off x="990600" y="1990750"/>
            <a:ext cx="1636116" cy="1143000"/>
          </a:xfrm>
          <a:prstGeom prst="rect">
            <a:avLst/>
          </a:prstGeom>
        </p:spPr>
      </p:pic>
      <p:pic>
        <p:nvPicPr>
          <p:cNvPr id="49" name="Imagem 48" descr="Driver Motor Ponte H L298n">
            <a:extLst>
              <a:ext uri="{FF2B5EF4-FFF2-40B4-BE49-F238E27FC236}">
                <a16:creationId xmlns:a16="http://schemas.microsoft.com/office/drawing/2014/main" id="{AFA6B017-05B7-C05E-2921-486AD2540F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51" t="3945" r="5712" b="6849"/>
          <a:stretch>
            <a:fillRect/>
          </a:stretch>
        </p:blipFill>
        <p:spPr>
          <a:xfrm>
            <a:off x="6603437" y="1809226"/>
            <a:ext cx="1392489" cy="1355560"/>
          </a:xfrm>
          <a:prstGeom prst="rect">
            <a:avLst/>
          </a:prstGeom>
        </p:spPr>
      </p:pic>
      <p:sp>
        <p:nvSpPr>
          <p:cNvPr id="50" name="Shape 16">
            <a:extLst>
              <a:ext uri="{FF2B5EF4-FFF2-40B4-BE49-F238E27FC236}">
                <a16:creationId xmlns:a16="http://schemas.microsoft.com/office/drawing/2014/main" id="{E002A919-3670-86DC-CE1E-0BD2E8ED24A8}"/>
              </a:ext>
            </a:extLst>
          </p:cNvPr>
          <p:cNvSpPr/>
          <p:nvPr/>
        </p:nvSpPr>
        <p:spPr>
          <a:xfrm>
            <a:off x="8996101" y="2394578"/>
            <a:ext cx="2159000" cy="12700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5E78D2CD-4C36-9B73-C30E-477E649F022C}"/>
              </a:ext>
            </a:extLst>
          </p:cNvPr>
          <p:cNvSpPr/>
          <p:nvPr/>
        </p:nvSpPr>
        <p:spPr>
          <a:xfrm>
            <a:off x="9897801" y="2514183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2A28170A-FB44-D99D-D631-5289100DA57D}"/>
              </a:ext>
            </a:extLst>
          </p:cNvPr>
          <p:cNvSpPr/>
          <p:nvPr/>
        </p:nvSpPr>
        <p:spPr>
          <a:xfrm>
            <a:off x="9123101" y="2966078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Fuzzy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Embarcado</a:t>
            </a:r>
            <a:endParaRPr lang="en-US" sz="1300" dirty="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9BE4C642-4170-339A-0A24-5B5C82312AD2}"/>
              </a:ext>
            </a:extLst>
          </p:cNvPr>
          <p:cNvSpPr/>
          <p:nvPr/>
        </p:nvSpPr>
        <p:spPr>
          <a:xfrm>
            <a:off x="6051422" y="4695045"/>
            <a:ext cx="247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</a:rPr>
              <a:t>Fonte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</a:rPr>
              <a:t>Externa</a:t>
            </a:r>
          </a:p>
          <a:p>
            <a:pPr algn="ctr">
              <a:lnSpc>
                <a:spcPct val="120000"/>
              </a:lnSpc>
            </a:pPr>
            <a:r>
              <a:rPr lang="en-US" sz="1100" dirty="0" err="1">
                <a:solidFill>
                  <a:srgbClr val="64748B"/>
                </a:solidFill>
                <a:latin typeface="Quattrocento Sans" pitchFamily="34" charset="0"/>
              </a:rPr>
              <a:t>Alimentação</a:t>
            </a: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</a:rPr>
              <a:t> do motor</a:t>
            </a:r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A094F30E-0185-E709-AB89-4652A9050CC7}"/>
              </a:ext>
            </a:extLst>
          </p:cNvPr>
          <p:cNvSpPr/>
          <p:nvPr/>
        </p:nvSpPr>
        <p:spPr>
          <a:xfrm>
            <a:off x="7099592" y="4728037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1600" y="-22225"/>
                </a:moveTo>
                <a:cubicBezTo>
                  <a:pt x="115649" y="-22225"/>
                  <a:pt x="127000" y="-12293"/>
                  <a:pt x="127000" y="0"/>
                </a:cubicBezTo>
                <a:lnTo>
                  <a:pt x="127000" y="66675"/>
                </a:lnTo>
                <a:lnTo>
                  <a:pt x="228600" y="66675"/>
                </a:lnTo>
                <a:lnTo>
                  <a:pt x="228600" y="0"/>
                </a:lnTo>
                <a:cubicBezTo>
                  <a:pt x="228600" y="-12293"/>
                  <a:pt x="239951" y="-22225"/>
                  <a:pt x="254000" y="-22225"/>
                </a:cubicBezTo>
                <a:cubicBezTo>
                  <a:pt x="268049" y="-22225"/>
                  <a:pt x="279400" y="-12293"/>
                  <a:pt x="279400" y="0"/>
                </a:cubicBezTo>
                <a:lnTo>
                  <a:pt x="279400" y="66675"/>
                </a:lnTo>
                <a:lnTo>
                  <a:pt x="330200" y="66675"/>
                </a:lnTo>
                <a:cubicBezTo>
                  <a:pt x="344249" y="66675"/>
                  <a:pt x="355600" y="76607"/>
                  <a:pt x="355600" y="88900"/>
                </a:cubicBezTo>
                <a:cubicBezTo>
                  <a:pt x="355600" y="101193"/>
                  <a:pt x="344249" y="111125"/>
                  <a:pt x="330200" y="111125"/>
                </a:cubicBezTo>
                <a:lnTo>
                  <a:pt x="330200" y="155575"/>
                </a:lnTo>
                <a:cubicBezTo>
                  <a:pt x="330200" y="221625"/>
                  <a:pt x="275273" y="276493"/>
                  <a:pt x="203200" y="287050"/>
                </a:cubicBezTo>
                <a:lnTo>
                  <a:pt x="203200" y="333375"/>
                </a:lnTo>
                <a:cubicBezTo>
                  <a:pt x="203200" y="345668"/>
                  <a:pt x="191849" y="355600"/>
                  <a:pt x="177800" y="355600"/>
                </a:cubicBezTo>
                <a:cubicBezTo>
                  <a:pt x="163751" y="355600"/>
                  <a:pt x="152400" y="345668"/>
                  <a:pt x="152400" y="333375"/>
                </a:cubicBezTo>
                <a:lnTo>
                  <a:pt x="152400" y="287050"/>
                </a:lnTo>
                <a:cubicBezTo>
                  <a:pt x="80328" y="276493"/>
                  <a:pt x="25400" y="221625"/>
                  <a:pt x="25400" y="155575"/>
                </a:cubicBezTo>
                <a:lnTo>
                  <a:pt x="25400" y="111125"/>
                </a:lnTo>
                <a:cubicBezTo>
                  <a:pt x="11351" y="111125"/>
                  <a:pt x="0" y="101193"/>
                  <a:pt x="0" y="88900"/>
                </a:cubicBezTo>
                <a:cubicBezTo>
                  <a:pt x="0" y="76607"/>
                  <a:pt x="11351" y="66675"/>
                  <a:pt x="25400" y="66675"/>
                </a:cubicBezTo>
                <a:lnTo>
                  <a:pt x="76200" y="66675"/>
                </a:lnTo>
                <a:lnTo>
                  <a:pt x="76200" y="0"/>
                </a:lnTo>
                <a:cubicBezTo>
                  <a:pt x="76200" y="-12293"/>
                  <a:pt x="87551" y="-22225"/>
                  <a:pt x="101600" y="-22225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5" name="Shape 20">
            <a:extLst>
              <a:ext uri="{FF2B5EF4-FFF2-40B4-BE49-F238E27FC236}">
                <a16:creationId xmlns:a16="http://schemas.microsoft.com/office/drawing/2014/main" id="{6549EEA8-5747-8200-82FD-A3B404954DAB}"/>
              </a:ext>
            </a:extLst>
          </p:cNvPr>
          <p:cNvSpPr/>
          <p:nvPr/>
        </p:nvSpPr>
        <p:spPr>
          <a:xfrm>
            <a:off x="14145017" y="3303851"/>
            <a:ext cx="1457415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Text 22">
            <a:extLst>
              <a:ext uri="{FF2B5EF4-FFF2-40B4-BE49-F238E27FC236}">
                <a16:creationId xmlns:a16="http://schemas.microsoft.com/office/drawing/2014/main" id="{3701DEF4-0627-D380-D0FB-E2675AAA0961}"/>
              </a:ext>
            </a:extLst>
          </p:cNvPr>
          <p:cNvSpPr/>
          <p:nvPr/>
        </p:nvSpPr>
        <p:spPr>
          <a:xfrm>
            <a:off x="14107771" y="3901403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MQTTX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</a:rPr>
              <a:t>Testes</a:t>
            </a:r>
            <a:endParaRPr lang="en-US" sz="1300" dirty="0"/>
          </a:p>
        </p:txBody>
      </p:sp>
      <p:sp>
        <p:nvSpPr>
          <p:cNvPr id="71" name="Shape 26">
            <a:extLst>
              <a:ext uri="{FF2B5EF4-FFF2-40B4-BE49-F238E27FC236}">
                <a16:creationId xmlns:a16="http://schemas.microsoft.com/office/drawing/2014/main" id="{CB1554BE-A075-88C0-03CD-D4C624BF4F34}"/>
              </a:ext>
            </a:extLst>
          </p:cNvPr>
          <p:cNvSpPr/>
          <p:nvPr/>
        </p:nvSpPr>
        <p:spPr>
          <a:xfrm>
            <a:off x="14649932" y="344305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" name="Text 28">
            <a:extLst>
              <a:ext uri="{FF2B5EF4-FFF2-40B4-BE49-F238E27FC236}">
                <a16:creationId xmlns:a16="http://schemas.microsoft.com/office/drawing/2014/main" id="{D748120D-4B54-CA5A-FE57-7A454F0225FE}"/>
              </a:ext>
            </a:extLst>
          </p:cNvPr>
          <p:cNvSpPr/>
          <p:nvPr/>
        </p:nvSpPr>
        <p:spPr>
          <a:xfrm>
            <a:off x="839244" y="7064799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Sensores para Evolução Industrial</a:t>
            </a:r>
            <a:endParaRPr lang="en-US" sz="1800" dirty="0"/>
          </a:p>
        </p:txBody>
      </p:sp>
      <p:sp>
        <p:nvSpPr>
          <p:cNvPr id="83" name="Shape 29">
            <a:extLst>
              <a:ext uri="{FF2B5EF4-FFF2-40B4-BE49-F238E27FC236}">
                <a16:creationId xmlns:a16="http://schemas.microsoft.com/office/drawing/2014/main" id="{E596A469-D916-AE7D-0222-817BAC756B67}"/>
              </a:ext>
            </a:extLst>
          </p:cNvPr>
          <p:cNvSpPr/>
          <p:nvPr/>
        </p:nvSpPr>
        <p:spPr>
          <a:xfrm>
            <a:off x="839244" y="7468624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Text 30">
            <a:extLst>
              <a:ext uri="{FF2B5EF4-FFF2-40B4-BE49-F238E27FC236}">
                <a16:creationId xmlns:a16="http://schemas.microsoft.com/office/drawing/2014/main" id="{C227DCE9-BD6A-D695-4589-F9EFADD3C60D}"/>
              </a:ext>
            </a:extLst>
          </p:cNvPr>
          <p:cNvSpPr/>
          <p:nvPr/>
        </p:nvSpPr>
        <p:spPr>
          <a:xfrm>
            <a:off x="1156744" y="7595624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Corrente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Torque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Vibração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Temperatura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Nível  </a:t>
            </a: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Segurança física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Esses sensores ampliariam as capacidades do sistema para uma versão comercial robusta.</a:t>
            </a:r>
            <a:endParaRPr lang="en-US" sz="1600" dirty="0"/>
          </a:p>
        </p:txBody>
      </p:sp>
      <p:sp>
        <p:nvSpPr>
          <p:cNvPr id="87" name="Shape 11">
            <a:extLst>
              <a:ext uri="{FF2B5EF4-FFF2-40B4-BE49-F238E27FC236}">
                <a16:creationId xmlns:a16="http://schemas.microsoft.com/office/drawing/2014/main" id="{201BDBDD-43A4-86E8-6619-63677AD1F09F}"/>
              </a:ext>
            </a:extLst>
          </p:cNvPr>
          <p:cNvSpPr/>
          <p:nvPr/>
        </p:nvSpPr>
        <p:spPr>
          <a:xfrm>
            <a:off x="8527922" y="2976432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89" name="Shape 23">
            <a:extLst>
              <a:ext uri="{FF2B5EF4-FFF2-40B4-BE49-F238E27FC236}">
                <a16:creationId xmlns:a16="http://schemas.microsoft.com/office/drawing/2014/main" id="{8EE3C216-EAE1-B745-0FCC-E2A695DFD031}"/>
              </a:ext>
            </a:extLst>
          </p:cNvPr>
          <p:cNvSpPr/>
          <p:nvPr/>
        </p:nvSpPr>
        <p:spPr>
          <a:xfrm>
            <a:off x="13564083" y="3133751"/>
            <a:ext cx="444474" cy="461542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5CB96442-6F50-657E-F4E4-96A08B68DAAA}"/>
              </a:ext>
            </a:extLst>
          </p:cNvPr>
          <p:cNvSpPr txBox="1"/>
          <p:nvPr/>
        </p:nvSpPr>
        <p:spPr>
          <a:xfrm rot="16200000">
            <a:off x="7666242" y="2718479"/>
            <a:ext cx="863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Fonte: </a:t>
            </a:r>
            <a:r>
              <a:rPr lang="pt-BR" sz="600" dirty="0" err="1"/>
              <a:t>MakerHero</a:t>
            </a:r>
            <a:endParaRPr lang="pt-BR" sz="600" dirty="0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369B3EED-FF90-E77E-9055-8D31D83541AB}"/>
              </a:ext>
            </a:extLst>
          </p:cNvPr>
          <p:cNvSpPr txBox="1"/>
          <p:nvPr/>
        </p:nvSpPr>
        <p:spPr>
          <a:xfrm rot="16200000">
            <a:off x="4914900" y="2718479"/>
            <a:ext cx="863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Fonte: </a:t>
            </a:r>
            <a:r>
              <a:rPr lang="pt-BR" sz="600" dirty="0" err="1"/>
              <a:t>RoboCore</a:t>
            </a:r>
            <a:endParaRPr lang="pt-BR" sz="600" dirty="0"/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9C964857-3F0E-C08F-85A2-C4E32B15708F}"/>
              </a:ext>
            </a:extLst>
          </p:cNvPr>
          <p:cNvSpPr txBox="1"/>
          <p:nvPr/>
        </p:nvSpPr>
        <p:spPr>
          <a:xfrm rot="16200000">
            <a:off x="2276444" y="2652664"/>
            <a:ext cx="863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Fonte: </a:t>
            </a:r>
            <a:r>
              <a:rPr lang="pt-BR" sz="600" dirty="0" err="1"/>
              <a:t>Eletrogate</a:t>
            </a:r>
            <a:endParaRPr lang="pt-BR" sz="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05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304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70000" y="19685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70000" y="19685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02C"/>
                </a:solidFill>
                <a:latin typeface="Quattrocento Sans"/>
              </a:rPr>
              <a:t>Encoder Hall</a:t>
            </a:r>
            <a:endParaRPr lang="en-US" sz="1400" dirty="0"/>
          </a:p>
          <a:p>
            <a:r>
              <a:rPr sz="1400" b="1">
                <a:solidFill>
                  <a:srgbClr val="1A202C"/>
                </a:solidFill>
                <a:latin typeface="Quattrocento Sans"/>
              </a:rPr>
              <a:t>mede RPM</a:t>
            </a:r>
          </a:p>
        </p:txBody>
      </p:sp>
      <p:sp>
        <p:nvSpPr>
          <p:cNvPr id="8" name="Shape 6"/>
          <p:cNvSpPr/>
          <p:nvPr/>
        </p:nvSpPr>
        <p:spPr>
          <a:xfrm>
            <a:off x="3429000" y="23495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18000" y="17780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318000" y="1778000"/>
            <a:ext cx="2286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Quattrocento Sans"/>
              </a:rPr>
              <a:t>ESP32</a:t>
            </a:r>
            <a:endParaRPr lang="en-US" sz="1400" dirty="0"/>
          </a:p>
          <a:p>
            <a:r>
              <a:rPr sz="1400" b="1">
                <a:solidFill>
                  <a:srgbClr val="FFFFFF"/>
                </a:solidFill>
                <a:latin typeface="Quattrocento Sans"/>
              </a:rPr>
              <a:t>controle local</a:t>
            </a:r>
          </a:p>
          <a:p>
            <a:r>
              <a:rPr sz="1400" b="1">
                <a:solidFill>
                  <a:srgbClr val="FFFFFF"/>
                </a:solidFill>
                <a:latin typeface="Quattrocento Sans"/>
              </a:rPr>
              <a:t>Wi-Fi + MQTT</a:t>
            </a:r>
          </a:p>
        </p:txBody>
      </p:sp>
      <p:sp>
        <p:nvSpPr>
          <p:cNvPr id="11" name="Shape 9"/>
          <p:cNvSpPr/>
          <p:nvPr/>
        </p:nvSpPr>
        <p:spPr>
          <a:xfrm>
            <a:off x="6731000" y="23495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20000" y="19685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620000" y="19685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Quattrocento Sans"/>
              </a:rPr>
              <a:t>Broker MQTT</a:t>
            </a:r>
            <a:endParaRPr lang="en-US" sz="1400" dirty="0"/>
          </a:p>
          <a:p>
            <a:r>
              <a:rPr sz="1400" b="1">
                <a:solidFill>
                  <a:srgbClr val="FFFFFF"/>
                </a:solidFill>
                <a:latin typeface="Quattrocento Sans"/>
              </a:rPr>
              <a:t>Mosquitto</a:t>
            </a:r>
          </a:p>
          <a:p>
            <a:r>
              <a:rPr sz="1400" b="1">
                <a:solidFill>
                  <a:srgbClr val="FFFFFF"/>
                </a:solidFill>
                <a:latin typeface="Quattrocento Sans"/>
              </a:rPr>
              <a:t>porta 1883 / WS 9001</a:t>
            </a:r>
          </a:p>
        </p:txBody>
      </p:sp>
      <p:sp>
        <p:nvSpPr>
          <p:cNvPr id="14" name="Shape 12"/>
          <p:cNvSpPr/>
          <p:nvPr/>
        </p:nvSpPr>
        <p:spPr>
          <a:xfrm>
            <a:off x="9779000" y="2095500"/>
            <a:ext cx="762000" cy="381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 flipV="1">
            <a:off x="9779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0668000" y="1778000"/>
            <a:ext cx="2032000" cy="762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668000" y="1778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202C"/>
                </a:solidFill>
                <a:latin typeface="Quattrocento Sans"/>
              </a:rPr>
              <a:t>Dashboard</a:t>
            </a:r>
            <a:endParaRPr lang="en-US" sz="1300" dirty="0"/>
          </a:p>
          <a:p>
            <a:r>
              <a:rPr sz="1300" b="1">
                <a:solidFill>
                  <a:srgbClr val="1A202C"/>
                </a:solidFill>
                <a:latin typeface="Quattrocento Sans"/>
              </a:rPr>
              <a:t>Web</a:t>
            </a:r>
          </a:p>
        </p:txBody>
      </p:sp>
      <p:sp>
        <p:nvSpPr>
          <p:cNvPr id="18" name="Shape 16"/>
          <p:cNvSpPr/>
          <p:nvPr/>
        </p:nvSpPr>
        <p:spPr>
          <a:xfrm>
            <a:off x="10668000" y="2730500"/>
            <a:ext cx="2032000" cy="762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668000" y="27305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202C"/>
                </a:solidFill>
                <a:latin typeface="Quattrocento Sans"/>
              </a:rPr>
              <a:t>MQTTX</a:t>
            </a:r>
            <a:endParaRPr lang="en-US" sz="1300" dirty="0"/>
          </a:p>
          <a:p>
            <a:r>
              <a:rPr sz="1300" b="1">
                <a:solidFill>
                  <a:srgbClr val="1A202C"/>
                </a:solidFill>
                <a:latin typeface="Quattrocento Sans"/>
              </a:rPr>
              <a:t>Testes</a:t>
            </a:r>
          </a:p>
        </p:txBody>
      </p:sp>
      <p:sp>
        <p:nvSpPr>
          <p:cNvPr id="20" name="Shape 18"/>
          <p:cNvSpPr/>
          <p:nvPr/>
        </p:nvSpPr>
        <p:spPr>
          <a:xfrm flipH="1">
            <a:off x="4318000" y="3048000"/>
            <a:ext cx="2032000" cy="762000"/>
          </a:xfrm>
          <a:prstGeom prst="bentConnector3">
            <a:avLst/>
          </a:prstGeom>
          <a:noFill/>
          <a:ln w="12700">
            <a:solidFill>
              <a:srgbClr val="C2410C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540000" y="34925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C2410C"/>
                </a:solidFill>
                <a:latin typeface="Quattrocento Sans"/>
              </a:rPr>
              <a:t>L298N/PWM → Motor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Tópicos MQTT da Arquitetura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70500"/>
          <a:ext cx="14732000" cy="2194560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Tópico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Direção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Função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motor/telemetry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ESP32 → Broker → Dashboard/MQTTX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Telemetria de operação em JSON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motor/setpoint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Dashboard/MQTTX → Broker → ESP32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Rotação desejada em RPM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motor/cmd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Dashboard/MQTTX → Broker → ESP32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1E1E"/>
                          </a:solidFill>
                        </a:rPr>
                        <a:t>Comandos start e stop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05</a:t>
            </a:r>
            <a:endParaRPr lang="en-US" sz="1300" dirty="0"/>
          </a:p>
        </p:txBody>
      </p:sp>
      <p:sp>
        <p:nvSpPr>
          <p:cNvPr id="25" name="Rounded Rectangle 24"/>
          <p:cNvSpPr/>
          <p:nvPr/>
        </p:nvSpPr>
        <p:spPr>
          <a:xfrm>
            <a:off x="868680" y="3611880"/>
            <a:ext cx="14081760" cy="566928"/>
          </a:xfrm>
          <a:prstGeom prst="roundRect">
            <a:avLst/>
          </a:prstGeom>
          <a:solidFill>
            <a:srgbClr val="172232"/>
          </a:solidFill>
          <a:ln>
            <a:solidFill>
              <a:srgbClr val="44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Fluxo físico: Encoder → ESP32 → L298N/PWM → Motor   |   Fluxo IoT: ESP32 → Broker → Dashboard/MQTTX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1298448"/>
            <a:ext cx="14630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144475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3E50"/>
                </a:solidFill>
              </a:rPr>
              <a:t>Fluxo físico de controle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7194" y="2700390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3E50"/>
                </a:solidFill>
              </a:rPr>
              <a:t>Fluxo de comunicação IoT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1828800"/>
            <a:ext cx="2057400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Encoder Hall</a:t>
            </a:r>
          </a:p>
          <a:p>
            <a:pPr algn="ctr"/>
            <a:r>
              <a:rPr sz="1300" b="1">
                <a:solidFill>
                  <a:srgbClr val="1E293B"/>
                </a:solidFill>
              </a:rPr>
              <a:t>mede RPM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0116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1828800"/>
            <a:ext cx="2057400" cy="713232"/>
          </a:xfrm>
          <a:prstGeom prst="roundRect">
            <a:avLst/>
          </a:prstGeom>
          <a:solidFill>
            <a:srgbClr val="2F435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ESP32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calcula erro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0116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828800"/>
            <a:ext cx="2057400" cy="713232"/>
          </a:xfrm>
          <a:prstGeom prst="roundRect">
            <a:avLst/>
          </a:prstGeom>
          <a:solidFill>
            <a:srgbClr val="C93B0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L298N/PWM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atua potência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0116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828800"/>
            <a:ext cx="2057400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Motor DC</a:t>
            </a:r>
          </a:p>
          <a:p>
            <a:pPr algn="ctr"/>
            <a:r>
              <a:rPr sz="1300" b="1">
                <a:solidFill>
                  <a:srgbClr val="1E293B"/>
                </a:solidFill>
              </a:rPr>
              <a:t>misturador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3063240"/>
            <a:ext cx="2194560" cy="685800"/>
          </a:xfrm>
          <a:prstGeom prst="roundRect">
            <a:avLst/>
          </a:prstGeom>
          <a:solidFill>
            <a:srgbClr val="2F435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ESP32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cliente MQTT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2186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3063240"/>
            <a:ext cx="2377440" cy="685800"/>
          </a:xfrm>
          <a:prstGeom prst="roundRect">
            <a:avLst/>
          </a:prstGeom>
          <a:solidFill>
            <a:srgbClr val="C93B0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Broker MQTT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1883 / WS 9001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2186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07087"/>
                </a:solidFill>
              </a:rPr>
              <a:t>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3063240"/>
            <a:ext cx="2926080" cy="685800"/>
          </a:xfrm>
          <a:prstGeom prst="roundRect">
            <a:avLst/>
          </a:prstGeom>
          <a:solidFill>
            <a:srgbClr val="E2E8F0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50800" rIns="63500" bIns="50800"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Dashboard Web</a:t>
            </a:r>
          </a:p>
          <a:p>
            <a:pPr algn="ctr"/>
            <a:r>
              <a:rPr sz="1300" b="1">
                <a:solidFill>
                  <a:srgbClr val="1E293B"/>
                </a:solidFill>
              </a:rPr>
              <a:t>MQTTX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886200"/>
            <a:ext cx="1380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769"/>
                </a:solidFill>
              </a:rPr>
              <a:t>Controle permanece local no ESP32; MQTT transporta telemetria e comandos entre dispositivo, broker e ferramentas de supervisão.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Comunicação MQTT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6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33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Tópicos Usados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14732000" cy="1905000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Tópico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Descrição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motor/telemetry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Telemetria enviada pelo ESP32 em tempo real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motor/setpoint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Rotação desejada em RPM (60, 120, 180)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motor/cmd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Comandos start e stop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06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Exemplo de Telemetria (JSON)</a:t>
            </a:r>
            <a:endParaRPr lang="en-US" sz="1800" dirty="0"/>
          </a:p>
        </p:txBody>
      </p:sp>
      <p:sp>
        <p:nvSpPr>
          <p:cNvPr id="6" name="Shape 5"/>
          <p:cNvSpPr/>
          <p:nvPr/>
        </p:nvSpPr>
        <p:spPr>
          <a:xfrm>
            <a:off x="762000" y="4572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79500" y="4699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"t"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12.5, </a:t>
            </a: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"sp"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120, </a:t>
            </a: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"rpm"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116.8, </a:t>
            </a: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"err"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3.2, </a:t>
            </a: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"u"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64.5, </a:t>
            </a: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"mp"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4.1, </a:t>
            </a: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"ts"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2.8, </a:t>
            </a: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"ess"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1.5 </a:t>
            </a: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t=tempo | sp=set point | rpm=velocidade | err=erro | u=atuação PWM | mp=sobressinal | ts=tempo acomodação | ess=erro regime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2000" y="622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Significado dos Campos</a:t>
            </a:r>
            <a:endParaRPr lang="en-US" sz="18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731000"/>
          <a:ext cx="14732000" cy="1564640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Campo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Significado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Tempo de execução (s)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Set point de rotação (RPM)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rpm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Velocidade medida do eixo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err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Erro entre set point e RPM atual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Atuação do controlador (% PWM)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mp / ts / 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0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Sobressinal, tempo de acomodação e erro em regime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07</a:t>
            </a:r>
            <a:endParaRPr lang="en-US" sz="1300" dirty="0"/>
          </a:p>
        </p:txBody>
      </p:sp>
      <p:sp>
        <p:nvSpPr>
          <p:cNvPr id="16" name="Rounded Rectangle 15"/>
          <p:cNvSpPr/>
          <p:nvPr/>
        </p:nvSpPr>
        <p:spPr>
          <a:xfrm>
            <a:off x="7315200" y="1183386"/>
            <a:ext cx="7863840" cy="566928"/>
          </a:xfrm>
          <a:prstGeom prst="roundRect">
            <a:avLst/>
          </a:prstGeom>
          <a:solidFill>
            <a:srgbClr val="172232"/>
          </a:solidFill>
          <a:ln>
            <a:solidFill>
              <a:srgbClr val="44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Broker </a:t>
            </a:r>
            <a:r>
              <a:rPr sz="1300" b="1" dirty="0" err="1">
                <a:solidFill>
                  <a:srgbClr val="FFFFFF"/>
                </a:solidFill>
              </a:rPr>
              <a:t>Mosquitto</a:t>
            </a:r>
            <a:r>
              <a:rPr sz="1300" b="1" dirty="0">
                <a:solidFill>
                  <a:srgbClr val="FFFFFF"/>
                </a:solidFill>
              </a:rPr>
              <a:t>: porta MQTT 1883 | WebSocket 9001 para o dashboard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e MQTTX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7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Dashboard Mostra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160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60500" y="2032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Tacômetro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RPM em tempo real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08500" y="1841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625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207000" y="2032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point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configurável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55000" y="1841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5090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1450" y="0"/>
                </a:moveTo>
                <a:cubicBezTo>
                  <a:pt x="171450" y="-10537"/>
                  <a:pt x="162937" y="-19050"/>
                  <a:pt x="152400" y="-19050"/>
                </a:cubicBezTo>
                <a:cubicBezTo>
                  <a:pt x="141863" y="-19050"/>
                  <a:pt x="133350" y="-10537"/>
                  <a:pt x="133350" y="0"/>
                </a:cubicBezTo>
                <a:lnTo>
                  <a:pt x="133350" y="152400"/>
                </a:lnTo>
                <a:cubicBezTo>
                  <a:pt x="133350" y="162937"/>
                  <a:pt x="141863" y="171450"/>
                  <a:pt x="152400" y="171450"/>
                </a:cubicBezTo>
                <a:cubicBezTo>
                  <a:pt x="162937" y="171450"/>
                  <a:pt x="171450" y="162937"/>
                  <a:pt x="171450" y="152400"/>
                </a:cubicBezTo>
                <a:lnTo>
                  <a:pt x="171450" y="0"/>
                </a:lnTo>
                <a:close/>
                <a:moveTo>
                  <a:pt x="87094" y="58579"/>
                </a:moveTo>
                <a:cubicBezTo>
                  <a:pt x="95726" y="52566"/>
                  <a:pt x="97810" y="40660"/>
                  <a:pt x="91797" y="32028"/>
                </a:cubicBezTo>
                <a:cubicBezTo>
                  <a:pt x="85785" y="23396"/>
                  <a:pt x="73878" y="21312"/>
                  <a:pt x="65246" y="27325"/>
                </a:cubicBezTo>
                <a:cubicBezTo>
                  <a:pt x="25837" y="54828"/>
                  <a:pt x="0" y="100608"/>
                  <a:pt x="0" y="152400"/>
                </a:cubicBezTo>
                <a:cubicBezTo>
                  <a:pt x="0" y="236577"/>
                  <a:pt x="68223" y="304800"/>
                  <a:pt x="152400" y="304800"/>
                </a:cubicBezTo>
                <a:cubicBezTo>
                  <a:pt x="236577" y="304800"/>
                  <a:pt x="304800" y="236577"/>
                  <a:pt x="304800" y="152400"/>
                </a:cubicBezTo>
                <a:cubicBezTo>
                  <a:pt x="304800" y="100608"/>
                  <a:pt x="278963" y="54828"/>
                  <a:pt x="239494" y="27325"/>
                </a:cubicBezTo>
                <a:cubicBezTo>
                  <a:pt x="230862" y="21312"/>
                  <a:pt x="219015" y="23396"/>
                  <a:pt x="212943" y="32028"/>
                </a:cubicBezTo>
                <a:cubicBezTo>
                  <a:pt x="206871" y="40660"/>
                  <a:pt x="209014" y="52507"/>
                  <a:pt x="217646" y="58579"/>
                </a:cubicBezTo>
                <a:cubicBezTo>
                  <a:pt x="247293" y="79296"/>
                  <a:pt x="266640" y="113586"/>
                  <a:pt x="266640" y="152400"/>
                </a:cubicBezTo>
                <a:cubicBezTo>
                  <a:pt x="266640" y="215503"/>
                  <a:pt x="215444" y="266700"/>
                  <a:pt x="152340" y="266700"/>
                </a:cubicBezTo>
                <a:cubicBezTo>
                  <a:pt x="89237" y="266700"/>
                  <a:pt x="38100" y="215503"/>
                  <a:pt x="38100" y="152400"/>
                </a:cubicBezTo>
                <a:cubicBezTo>
                  <a:pt x="38100" y="113586"/>
                  <a:pt x="57448" y="79236"/>
                  <a:pt x="87094" y="58579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53500" y="2032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Comando 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start/stop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001500" y="1841500"/>
            <a:ext cx="34925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22555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2700000" y="2032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Gráfico temporal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RPM x tempo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3238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016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80962"/>
                </a:moveTo>
                <a:cubicBezTo>
                  <a:pt x="160318" y="80962"/>
                  <a:pt x="166688" y="87332"/>
                  <a:pt x="166688" y="95250"/>
                </a:cubicBezTo>
                <a:lnTo>
                  <a:pt x="166688" y="161925"/>
                </a:lnTo>
                <a:cubicBezTo>
                  <a:pt x="166688" y="169843"/>
                  <a:pt x="160318" y="176212"/>
                  <a:pt x="152400" y="176212"/>
                </a:cubicBezTo>
                <a:cubicBezTo>
                  <a:pt x="144482" y="176212"/>
                  <a:pt x="138113" y="169843"/>
                  <a:pt x="138113" y="161925"/>
                </a:cubicBezTo>
                <a:lnTo>
                  <a:pt x="138113" y="95250"/>
                </a:lnTo>
                <a:cubicBezTo>
                  <a:pt x="138113" y="87332"/>
                  <a:pt x="144482" y="80962"/>
                  <a:pt x="152400" y="80962"/>
                </a:cubicBezTo>
                <a:close/>
                <a:moveTo>
                  <a:pt x="136505" y="209550"/>
                </a:moveTo>
                <a:cubicBezTo>
                  <a:pt x="136144" y="203650"/>
                  <a:pt x="139086" y="198037"/>
                  <a:pt x="144144" y="194977"/>
                </a:cubicBezTo>
                <a:cubicBezTo>
                  <a:pt x="149201" y="191918"/>
                  <a:pt x="155539" y="191918"/>
                  <a:pt x="160597" y="194977"/>
                </a:cubicBezTo>
                <a:cubicBezTo>
                  <a:pt x="165655" y="198037"/>
                  <a:pt x="168597" y="203650"/>
                  <a:pt x="168235" y="209550"/>
                </a:cubicBezTo>
                <a:cubicBezTo>
                  <a:pt x="168597" y="215450"/>
                  <a:pt x="165655" y="221063"/>
                  <a:pt x="160597" y="224123"/>
                </a:cubicBezTo>
                <a:cubicBezTo>
                  <a:pt x="155539" y="227182"/>
                  <a:pt x="149201" y="227182"/>
                  <a:pt x="144144" y="224123"/>
                </a:cubicBezTo>
                <a:cubicBezTo>
                  <a:pt x="139086" y="221063"/>
                  <a:pt x="136144" y="215450"/>
                  <a:pt x="136505" y="20955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460500" y="342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do 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velocidade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08500" y="3238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7625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207000" y="342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Potência 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aplicada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55000" y="323850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509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953500" y="342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Métricas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controle (Mp, Ts, Ess)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001500" y="3238500"/>
            <a:ext cx="34925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22555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2700000" y="342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Visualização da </a:t>
            </a: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lógica fuzzy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MQTTX - Ferramenta de Teste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5270500"/>
            <a:ext cx="14732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79500" y="54610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sz="1700">
                <a:solidFill>
                  <a:srgbClr val="1A202C"/>
                </a:solidFill>
                <a:latin typeface="Quattrocento Sans"/>
              </a:rPr>
              <a:t>O MQTTX demonstra a comunicação MQTT publicando comandos e assinando a telemetria. No trabalho, ele funciona como ferramenta similar ao app móvel solicitado no enunciado: permite validar, depurar e simular o comportamento do sistema em tempo real.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0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8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461" y="94139"/>
                </a:moveTo>
                <a:cubicBezTo>
                  <a:pt x="-2461" y="84217"/>
                  <a:pt x="-2461" y="68104"/>
                  <a:pt x="7461" y="58182"/>
                </a:cubicBezTo>
                <a:cubicBezTo>
                  <a:pt x="17383" y="48260"/>
                  <a:pt x="33496" y="48260"/>
                  <a:pt x="43418" y="58182"/>
                </a:cubicBezTo>
                <a:lnTo>
                  <a:pt x="170418" y="185182"/>
                </a:lnTo>
                <a:cubicBezTo>
                  <a:pt x="180340" y="195104"/>
                  <a:pt x="180340" y="211217"/>
                  <a:pt x="170418" y="221139"/>
                </a:cubicBezTo>
                <a:lnTo>
                  <a:pt x="43418" y="348139"/>
                </a:lnTo>
                <a:cubicBezTo>
                  <a:pt x="33496" y="358061"/>
                  <a:pt x="17383" y="358061"/>
                  <a:pt x="7461" y="348139"/>
                </a:cubicBezTo>
                <a:cubicBezTo>
                  <a:pt x="-2461" y="338217"/>
                  <a:pt x="-2461" y="322104"/>
                  <a:pt x="7461" y="312182"/>
                </a:cubicBezTo>
                <a:lnTo>
                  <a:pt x="116443" y="203200"/>
                </a:lnTo>
                <a:lnTo>
                  <a:pt x="7461" y="94139"/>
                </a:ln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51000" y="165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Simulação de Mensagens MQTT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47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sistema permite simular envio e recebimento de mensagens MQTT com: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600" dirty="0" err="1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mosquitto_pub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publicar comandos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600" dirty="0" err="1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mosquitto_sub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assinar telemetria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MQTTX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interface gráfica para testes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3302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69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271000" y="165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Modo de Planta Simulada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222500"/>
            <a:ext cx="647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firmware inclui um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modo de simulação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qual o RPM é calculado por um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de primeira ordem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Isso permite testar o controle fuzzy, a telemetria MQTT e a integração com o dashboard </a:t>
            </a:r>
            <a:r>
              <a:rPr lang="en-US" sz="16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depender do protótipo físico completo</a:t>
            </a: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80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Exemplos de Comandos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5880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79500" y="57785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mosquitto_pub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-h localhost -t motor/cmd -m start        </a:t>
            </a: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inicia o motor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mosquitto_pub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-h localhost -t motor/setpoint -m 120     </a:t>
            </a: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define 120 RPM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mosquitto_sub</a:t>
            </a: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-h localhost -t motor/telemetry           </a:t>
            </a: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assina telemetria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Soluções Existentes no Mercado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pt-BR" sz="1300" dirty="0">
                <a:solidFill>
                  <a:srgbClr val="64748B"/>
                </a:solidFill>
                <a:latin typeface="Quattrocento Sans"/>
              </a:rPr>
              <a:t>09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79500" y="152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0"/>
                </a:solidFill>
                <a:latin typeface="Quattrocento Sans"/>
              </a:rPr>
              <a:t>Exemplos Comerciais Reais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9500" y="1968500"/>
            <a:ext cx="14097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300" dirty="0">
                <a:solidFill>
                  <a:srgbClr val="C2410C"/>
                </a:solidFill>
                <a:latin typeface="Quattrocento Sans"/>
              </a:rPr>
              <a:t>● 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WMProcess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Mixer Speed Controller </a:t>
            </a:r>
            <a:r>
              <a:rPr lang="pt-BR" sz="1300" dirty="0">
                <a:solidFill>
                  <a:srgbClr val="C2410C"/>
                </a:solidFill>
                <a:latin typeface="Quattrocento Sans"/>
              </a:rPr>
              <a:t>-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controle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de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velocidade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por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VFD/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inversor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para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misturadores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industriais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.</a:t>
            </a:r>
            <a:endParaRPr lang="en-US" sz="1600" dirty="0"/>
          </a:p>
          <a:p>
            <a:r>
              <a:rPr sz="1300" dirty="0">
                <a:solidFill>
                  <a:srgbClr val="C2410C"/>
                </a:solidFill>
                <a:latin typeface="Quattrocento Sans"/>
              </a:rPr>
              <a:t>●  Ascon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Tecnologic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AT Mixer </a:t>
            </a:r>
            <a:r>
              <a:rPr lang="pt-BR" sz="1300" dirty="0">
                <a:solidFill>
                  <a:srgbClr val="C2410C"/>
                </a:solidFill>
                <a:latin typeface="Quattrocento Sans"/>
              </a:rPr>
              <a:t>-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controle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para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misturadores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/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planetárias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com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receitas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,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velocidade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e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supervisão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remota.</a:t>
            </a:r>
          </a:p>
          <a:p>
            <a:r>
              <a:rPr sz="1300" dirty="0">
                <a:solidFill>
                  <a:srgbClr val="C2410C"/>
                </a:solidFill>
                <a:latin typeface="Quattrocento Sans"/>
              </a:rPr>
              <a:t>●  OEM Panels Agitator Mixer Control Panels </a:t>
            </a:r>
            <a:r>
              <a:rPr lang="pt-BR" sz="1300" dirty="0">
                <a:solidFill>
                  <a:srgbClr val="C2410C"/>
                </a:solidFill>
                <a:latin typeface="Quattrocento Sans"/>
              </a:rPr>
              <a:t>-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painéis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para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ligar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/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desligar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,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controlar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processo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e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monitorar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alarmes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.</a:t>
            </a:r>
          </a:p>
          <a:p>
            <a:r>
              <a:rPr sz="1300" dirty="0">
                <a:solidFill>
                  <a:srgbClr val="C2410C"/>
                </a:solidFill>
                <a:latin typeface="Quattrocento Sans"/>
              </a:rPr>
              <a:t>●  Load Controls </a:t>
            </a:r>
            <a:r>
              <a:rPr lang="pt-BR" sz="1300" dirty="0">
                <a:solidFill>
                  <a:srgbClr val="C2410C"/>
                </a:solidFill>
                <a:latin typeface="Quattrocento Sans"/>
              </a:rPr>
              <a:t>-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monitoramento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por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potência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/carga para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acompanhar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viscosidade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e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desvios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 do </a:t>
            </a:r>
            <a:r>
              <a:rPr sz="1300" dirty="0" err="1">
                <a:solidFill>
                  <a:srgbClr val="C2410C"/>
                </a:solidFill>
                <a:latin typeface="Quattrocento Sans"/>
              </a:rPr>
              <a:t>processo</a:t>
            </a:r>
            <a:r>
              <a:rPr sz="1300" dirty="0">
                <a:solidFill>
                  <a:srgbClr val="C2410C"/>
                </a:solidFill>
                <a:latin typeface="Quattrocento Sans"/>
              </a:rPr>
              <a:t>.</a:t>
            </a:r>
          </a:p>
        </p:txBody>
      </p:sp>
      <p:sp>
        <p:nvSpPr>
          <p:cNvPr id="8" name="Shape 6"/>
          <p:cNvSpPr/>
          <p:nvPr/>
        </p:nvSpPr>
        <p:spPr>
          <a:xfrm>
            <a:off x="762000" y="3746500"/>
            <a:ext cx="14732000" cy="25400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270000" y="412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2962" y="-18752"/>
                </a:moveTo>
                <a:cubicBezTo>
                  <a:pt x="269346" y="-26690"/>
                  <a:pt x="262026" y="-31750"/>
                  <a:pt x="254088" y="-31750"/>
                </a:cubicBezTo>
                <a:cubicBezTo>
                  <a:pt x="246151" y="-31750"/>
                  <a:pt x="238831" y="-26690"/>
                  <a:pt x="235215" y="-18752"/>
                </a:cubicBezTo>
                <a:lnTo>
                  <a:pt x="170303" y="124321"/>
                </a:lnTo>
                <a:lnTo>
                  <a:pt x="29281" y="149523"/>
                </a:lnTo>
                <a:cubicBezTo>
                  <a:pt x="21431" y="150912"/>
                  <a:pt x="14905" y="157162"/>
                  <a:pt x="12435" y="165695"/>
                </a:cubicBezTo>
                <a:cubicBezTo>
                  <a:pt x="9966" y="174228"/>
                  <a:pt x="11994" y="183555"/>
                  <a:pt x="17551" y="189905"/>
                </a:cubicBezTo>
                <a:lnTo>
                  <a:pt x="118445" y="303510"/>
                </a:lnTo>
                <a:lnTo>
                  <a:pt x="96220" y="462161"/>
                </a:lnTo>
                <a:cubicBezTo>
                  <a:pt x="94985" y="470991"/>
                  <a:pt x="98249" y="479921"/>
                  <a:pt x="104687" y="485180"/>
                </a:cubicBezTo>
                <a:cubicBezTo>
                  <a:pt x="111125" y="490438"/>
                  <a:pt x="119592" y="491232"/>
                  <a:pt x="126735" y="487164"/>
                </a:cubicBezTo>
                <a:lnTo>
                  <a:pt x="254088" y="414338"/>
                </a:lnTo>
                <a:lnTo>
                  <a:pt x="381353" y="487164"/>
                </a:lnTo>
                <a:cubicBezTo>
                  <a:pt x="388408" y="491232"/>
                  <a:pt x="396963" y="490438"/>
                  <a:pt x="403401" y="485180"/>
                </a:cubicBezTo>
                <a:cubicBezTo>
                  <a:pt x="409840" y="479921"/>
                  <a:pt x="413103" y="471091"/>
                  <a:pt x="411868" y="462161"/>
                </a:cubicBezTo>
                <a:lnTo>
                  <a:pt x="389555" y="303510"/>
                </a:lnTo>
                <a:lnTo>
                  <a:pt x="490449" y="189905"/>
                </a:lnTo>
                <a:cubicBezTo>
                  <a:pt x="496094" y="183555"/>
                  <a:pt x="498034" y="174228"/>
                  <a:pt x="495565" y="165695"/>
                </a:cubicBezTo>
                <a:cubicBezTo>
                  <a:pt x="493095" y="157163"/>
                  <a:pt x="486657" y="150912"/>
                  <a:pt x="478719" y="149523"/>
                </a:cubicBezTo>
                <a:lnTo>
                  <a:pt x="337785" y="124321"/>
                </a:lnTo>
                <a:lnTo>
                  <a:pt x="272962" y="-1875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032000" y="4064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Quattrocento Sans"/>
              </a:rPr>
              <a:t>Melhoria Proposta pelo Grupo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70000" y="47625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400">
                <a:solidFill>
                  <a:srgbClr val="FFFFFF"/>
                </a:solidFill>
                <a:latin typeface="Quattrocento Sans"/>
              </a:rPr>
              <a:t>A proposta acadêmica combina ESP32, MQTT, dashboard próprio e controle fuzzy. Em uma evolução comercial, o sistema poderia agregar sensores de corrente/torque, histórico em banco de dados, alertas e comunicação segura.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660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Comparativo: Comercial vs. Projeto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112000"/>
          <a:ext cx="14732000" cy="1397000"/>
        </p:xfrm>
        <a:graphic>
          <a:graphicData uri="http://schemas.openxmlformats.org/drawingml/2006/table">
            <a:tbl>
              <a:tblPr/>
              <a:tblGrid>
                <a:gridCol w="515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t>Aspecto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Solução Comercial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Nosso Projeto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t>Custo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Maior investimento (CLP, VFD, SCADA)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Menor custo de protótipo (ESP32, open source)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t>Foco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Produção industrial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Didático e prototipagem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10</a:t>
            </a:r>
            <a:endParaRPr lang="en-US" sz="1300" dirty="0"/>
          </a:p>
        </p:txBody>
      </p:sp>
      <p:sp>
        <p:nvSpPr>
          <p:cNvPr id="15" name="TextBox 14"/>
          <p:cNvSpPr txBox="1"/>
          <p:nvPr/>
        </p:nvSpPr>
        <p:spPr>
          <a:xfrm>
            <a:off x="1520254" y="8509384"/>
            <a:ext cx="1399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96969"/>
                </a:solidFill>
              </a:rPr>
              <a:t>Fontes: WMProcess; Ascon Tecnologic; OEM Panels; Load Controls.</a:t>
            </a:r>
          </a:p>
        </p:txBody>
      </p:sp>
      <p:pic>
        <p:nvPicPr>
          <p:cNvPr id="16" name="Imagem 15" descr="Agitator Mixer Control for beginners • OEM Panels">
            <a:extLst>
              <a:ext uri="{FF2B5EF4-FFF2-40B4-BE49-F238E27FC236}">
                <a16:creationId xmlns:a16="http://schemas.microsoft.com/office/drawing/2014/main" id="{180C17DA-A9BD-FB5A-E8AE-D752981D1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1492058"/>
            <a:ext cx="1079500" cy="2159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9D9CB283-BEBC-2E37-6F71-397185F7E318}"/>
              </a:ext>
            </a:extLst>
          </p:cNvPr>
          <p:cNvSpPr txBox="1"/>
          <p:nvPr/>
        </p:nvSpPr>
        <p:spPr>
          <a:xfrm rot="16200000">
            <a:off x="14906367" y="3031867"/>
            <a:ext cx="863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Fonte: OEM </a:t>
            </a:r>
            <a:r>
              <a:rPr lang="pt-BR" sz="600" dirty="0" err="1"/>
              <a:t>Panels</a:t>
            </a:r>
            <a:endParaRPr lang="pt-BR" sz="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Melhorias Possíveis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0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2065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Melhorias para uma versão comercial do sistema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16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986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Driver industrial ou VFD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Sensor de corrente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Sensor de torque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Sensor de vibração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Botão de emergência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Proteções elétricas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785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0325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151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25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Histórico em banco de dados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Autenticação e TLS no MQTT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Alarmes e notificações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Integração com Node-RED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Dashboard Grafana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Interface SCADA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7950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049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6675" y="22225"/>
                </a:moveTo>
                <a:cubicBezTo>
                  <a:pt x="54382" y="22225"/>
                  <a:pt x="44450" y="32157"/>
                  <a:pt x="44450" y="44450"/>
                </a:cubicBezTo>
                <a:cubicBezTo>
                  <a:pt x="44450" y="56743"/>
                  <a:pt x="54382" y="66675"/>
                  <a:pt x="66675" y="66675"/>
                </a:cubicBezTo>
                <a:lnTo>
                  <a:pt x="79663" y="66675"/>
                </a:lnTo>
                <a:lnTo>
                  <a:pt x="6529" y="139879"/>
                </a:lnTo>
                <a:cubicBezTo>
                  <a:pt x="-2153" y="148560"/>
                  <a:pt x="-2153" y="162659"/>
                  <a:pt x="6529" y="171341"/>
                </a:cubicBezTo>
                <a:cubicBezTo>
                  <a:pt x="15210" y="180022"/>
                  <a:pt x="29309" y="180022"/>
                  <a:pt x="37991" y="171341"/>
                </a:cubicBezTo>
                <a:lnTo>
                  <a:pt x="111125" y="98137"/>
                </a:lnTo>
                <a:lnTo>
                  <a:pt x="111125" y="111125"/>
                </a:lnTo>
                <a:cubicBezTo>
                  <a:pt x="111125" y="123418"/>
                  <a:pt x="121057" y="133350"/>
                  <a:pt x="133350" y="133350"/>
                </a:cubicBezTo>
                <a:cubicBezTo>
                  <a:pt x="145643" y="133350"/>
                  <a:pt x="155575" y="123418"/>
                  <a:pt x="155575" y="111125"/>
                </a:cubicBezTo>
                <a:lnTo>
                  <a:pt x="155575" y="44450"/>
                </a:lnTo>
                <a:cubicBezTo>
                  <a:pt x="155575" y="32157"/>
                  <a:pt x="145643" y="22225"/>
                  <a:pt x="133350" y="22225"/>
                </a:cubicBezTo>
                <a:lnTo>
                  <a:pt x="66675" y="22225"/>
                </a:lnTo>
                <a:close/>
                <a:moveTo>
                  <a:pt x="280452" y="48687"/>
                </a:moveTo>
                <a:cubicBezTo>
                  <a:pt x="280452" y="58140"/>
                  <a:pt x="285495" y="66876"/>
                  <a:pt x="293683" y="71603"/>
                </a:cubicBezTo>
                <a:cubicBezTo>
                  <a:pt x="301870" y="76330"/>
                  <a:pt x="311957" y="76330"/>
                  <a:pt x="320144" y="71603"/>
                </a:cubicBezTo>
                <a:cubicBezTo>
                  <a:pt x="328331" y="66876"/>
                  <a:pt x="333375" y="58140"/>
                  <a:pt x="333375" y="48687"/>
                </a:cubicBezTo>
                <a:cubicBezTo>
                  <a:pt x="333375" y="39233"/>
                  <a:pt x="328331" y="30497"/>
                  <a:pt x="320144" y="25770"/>
                </a:cubicBezTo>
                <a:cubicBezTo>
                  <a:pt x="311957" y="21043"/>
                  <a:pt x="301870" y="21043"/>
                  <a:pt x="293683" y="25770"/>
                </a:cubicBezTo>
                <a:cubicBezTo>
                  <a:pt x="285495" y="30497"/>
                  <a:pt x="280452" y="39233"/>
                  <a:pt x="280452" y="48687"/>
                </a:cubicBezTo>
                <a:close/>
                <a:moveTo>
                  <a:pt x="194260" y="134878"/>
                </a:moveTo>
                <a:cubicBezTo>
                  <a:pt x="194260" y="144332"/>
                  <a:pt x="199304" y="153068"/>
                  <a:pt x="207491" y="157794"/>
                </a:cubicBezTo>
                <a:cubicBezTo>
                  <a:pt x="215678" y="162521"/>
                  <a:pt x="225766" y="162521"/>
                  <a:pt x="233953" y="157794"/>
                </a:cubicBezTo>
                <a:cubicBezTo>
                  <a:pt x="242140" y="153068"/>
                  <a:pt x="247184" y="144332"/>
                  <a:pt x="247184" y="134878"/>
                </a:cubicBezTo>
                <a:cubicBezTo>
                  <a:pt x="247184" y="125424"/>
                  <a:pt x="242140" y="116688"/>
                  <a:pt x="233953" y="111962"/>
                </a:cubicBezTo>
                <a:cubicBezTo>
                  <a:pt x="225766" y="107235"/>
                  <a:pt x="215678" y="107235"/>
                  <a:pt x="207491" y="111962"/>
                </a:cubicBezTo>
                <a:cubicBezTo>
                  <a:pt x="199304" y="116688"/>
                  <a:pt x="194260" y="125424"/>
                  <a:pt x="194260" y="134878"/>
                </a:cubicBezTo>
                <a:close/>
                <a:moveTo>
                  <a:pt x="306913" y="108416"/>
                </a:moveTo>
                <a:cubicBezTo>
                  <a:pt x="292309" y="108416"/>
                  <a:pt x="280452" y="120273"/>
                  <a:pt x="280452" y="134878"/>
                </a:cubicBezTo>
                <a:cubicBezTo>
                  <a:pt x="280452" y="149483"/>
                  <a:pt x="292309" y="161340"/>
                  <a:pt x="306913" y="161340"/>
                </a:cubicBezTo>
                <a:cubicBezTo>
                  <a:pt x="316367" y="161340"/>
                  <a:pt x="325103" y="156296"/>
                  <a:pt x="329830" y="148109"/>
                </a:cubicBezTo>
                <a:cubicBezTo>
                  <a:pt x="334557" y="139922"/>
                  <a:pt x="334557" y="129834"/>
                  <a:pt x="329830" y="121647"/>
                </a:cubicBezTo>
                <a:cubicBezTo>
                  <a:pt x="325103" y="113460"/>
                  <a:pt x="316367" y="108416"/>
                  <a:pt x="306913" y="108416"/>
                </a:cubicBezTo>
                <a:close/>
                <a:moveTo>
                  <a:pt x="108486" y="220722"/>
                </a:moveTo>
                <a:cubicBezTo>
                  <a:pt x="108486" y="230176"/>
                  <a:pt x="113529" y="238912"/>
                  <a:pt x="121717" y="243638"/>
                </a:cubicBezTo>
                <a:cubicBezTo>
                  <a:pt x="129904" y="248365"/>
                  <a:pt x="139991" y="248365"/>
                  <a:pt x="148178" y="243638"/>
                </a:cubicBezTo>
                <a:cubicBezTo>
                  <a:pt x="156366" y="238912"/>
                  <a:pt x="161409" y="230176"/>
                  <a:pt x="161409" y="220722"/>
                </a:cubicBezTo>
                <a:cubicBezTo>
                  <a:pt x="161409" y="211268"/>
                  <a:pt x="156366" y="202532"/>
                  <a:pt x="148178" y="197806"/>
                </a:cubicBezTo>
                <a:cubicBezTo>
                  <a:pt x="139991" y="193079"/>
                  <a:pt x="129904" y="193079"/>
                  <a:pt x="121717" y="197806"/>
                </a:cubicBezTo>
                <a:cubicBezTo>
                  <a:pt x="113529" y="202532"/>
                  <a:pt x="108486" y="211268"/>
                  <a:pt x="108486" y="220722"/>
                </a:cubicBezTo>
                <a:close/>
                <a:moveTo>
                  <a:pt x="220722" y="194260"/>
                </a:moveTo>
                <a:cubicBezTo>
                  <a:pt x="211268" y="194260"/>
                  <a:pt x="202532" y="199304"/>
                  <a:pt x="197806" y="207491"/>
                </a:cubicBezTo>
                <a:cubicBezTo>
                  <a:pt x="193079" y="215678"/>
                  <a:pt x="193079" y="225766"/>
                  <a:pt x="197806" y="233953"/>
                </a:cubicBezTo>
                <a:cubicBezTo>
                  <a:pt x="202532" y="242140"/>
                  <a:pt x="211268" y="247184"/>
                  <a:pt x="220722" y="247184"/>
                </a:cubicBezTo>
                <a:cubicBezTo>
                  <a:pt x="230176" y="247184"/>
                  <a:pt x="238912" y="242140"/>
                  <a:pt x="243638" y="233953"/>
                </a:cubicBezTo>
                <a:cubicBezTo>
                  <a:pt x="248365" y="225766"/>
                  <a:pt x="248365" y="215678"/>
                  <a:pt x="243638" y="207491"/>
                </a:cubicBezTo>
                <a:cubicBezTo>
                  <a:pt x="238912" y="199304"/>
                  <a:pt x="230176" y="194260"/>
                  <a:pt x="220722" y="194260"/>
                </a:cubicBezTo>
                <a:close/>
                <a:moveTo>
                  <a:pt x="280521" y="220722"/>
                </a:moveTo>
                <a:cubicBezTo>
                  <a:pt x="280521" y="230176"/>
                  <a:pt x="285565" y="238912"/>
                  <a:pt x="293752" y="243638"/>
                </a:cubicBezTo>
                <a:cubicBezTo>
                  <a:pt x="301939" y="248365"/>
                  <a:pt x="312026" y="248365"/>
                  <a:pt x="320214" y="243638"/>
                </a:cubicBezTo>
                <a:cubicBezTo>
                  <a:pt x="328401" y="238912"/>
                  <a:pt x="333444" y="230176"/>
                  <a:pt x="333444" y="220722"/>
                </a:cubicBezTo>
                <a:cubicBezTo>
                  <a:pt x="333444" y="206117"/>
                  <a:pt x="321587" y="194260"/>
                  <a:pt x="306983" y="194260"/>
                </a:cubicBezTo>
                <a:cubicBezTo>
                  <a:pt x="292378" y="194260"/>
                  <a:pt x="280521" y="206117"/>
                  <a:pt x="280521" y="220722"/>
                </a:cubicBezTo>
                <a:close/>
                <a:moveTo>
                  <a:pt x="48687" y="280452"/>
                </a:moveTo>
                <a:cubicBezTo>
                  <a:pt x="39233" y="280452"/>
                  <a:pt x="30497" y="285495"/>
                  <a:pt x="25770" y="293683"/>
                </a:cubicBezTo>
                <a:cubicBezTo>
                  <a:pt x="21043" y="301870"/>
                  <a:pt x="21043" y="311957"/>
                  <a:pt x="25770" y="320144"/>
                </a:cubicBezTo>
                <a:cubicBezTo>
                  <a:pt x="30497" y="328331"/>
                  <a:pt x="39233" y="333375"/>
                  <a:pt x="48687" y="333375"/>
                </a:cubicBezTo>
                <a:cubicBezTo>
                  <a:pt x="58140" y="333375"/>
                  <a:pt x="66876" y="328331"/>
                  <a:pt x="71603" y="320144"/>
                </a:cubicBezTo>
                <a:cubicBezTo>
                  <a:pt x="76330" y="311957"/>
                  <a:pt x="76330" y="301870"/>
                  <a:pt x="71603" y="293683"/>
                </a:cubicBezTo>
                <a:cubicBezTo>
                  <a:pt x="66876" y="285495"/>
                  <a:pt x="58140" y="280452"/>
                  <a:pt x="48687" y="280452"/>
                </a:cubicBezTo>
                <a:close/>
                <a:moveTo>
                  <a:pt x="108486" y="306913"/>
                </a:moveTo>
                <a:cubicBezTo>
                  <a:pt x="108486" y="316367"/>
                  <a:pt x="113529" y="325103"/>
                  <a:pt x="121717" y="329830"/>
                </a:cubicBezTo>
                <a:cubicBezTo>
                  <a:pt x="129904" y="334557"/>
                  <a:pt x="139991" y="334557"/>
                  <a:pt x="148178" y="329830"/>
                </a:cubicBezTo>
                <a:cubicBezTo>
                  <a:pt x="156366" y="325103"/>
                  <a:pt x="161409" y="316367"/>
                  <a:pt x="161409" y="306913"/>
                </a:cubicBezTo>
                <a:cubicBezTo>
                  <a:pt x="161409" y="297460"/>
                  <a:pt x="156366" y="288724"/>
                  <a:pt x="148178" y="283997"/>
                </a:cubicBezTo>
                <a:cubicBezTo>
                  <a:pt x="139991" y="279270"/>
                  <a:pt x="129904" y="279270"/>
                  <a:pt x="121717" y="283997"/>
                </a:cubicBezTo>
                <a:cubicBezTo>
                  <a:pt x="113529" y="288724"/>
                  <a:pt x="108486" y="297460"/>
                  <a:pt x="108486" y="306913"/>
                </a:cubicBezTo>
                <a:close/>
                <a:moveTo>
                  <a:pt x="220722" y="280452"/>
                </a:moveTo>
                <a:cubicBezTo>
                  <a:pt x="211268" y="280452"/>
                  <a:pt x="202532" y="285495"/>
                  <a:pt x="197806" y="293683"/>
                </a:cubicBezTo>
                <a:cubicBezTo>
                  <a:pt x="193079" y="301870"/>
                  <a:pt x="193079" y="311957"/>
                  <a:pt x="197806" y="320144"/>
                </a:cubicBezTo>
                <a:cubicBezTo>
                  <a:pt x="202532" y="328331"/>
                  <a:pt x="211268" y="333375"/>
                  <a:pt x="220722" y="333375"/>
                </a:cubicBezTo>
                <a:cubicBezTo>
                  <a:pt x="230176" y="333375"/>
                  <a:pt x="238912" y="328331"/>
                  <a:pt x="243638" y="320144"/>
                </a:cubicBezTo>
                <a:cubicBezTo>
                  <a:pt x="248365" y="311957"/>
                  <a:pt x="248365" y="301870"/>
                  <a:pt x="243638" y="293683"/>
                </a:cubicBezTo>
                <a:cubicBezTo>
                  <a:pt x="238912" y="285495"/>
                  <a:pt x="230176" y="280452"/>
                  <a:pt x="220722" y="280452"/>
                </a:cubicBezTo>
                <a:close/>
                <a:moveTo>
                  <a:pt x="280521" y="306913"/>
                </a:moveTo>
                <a:cubicBezTo>
                  <a:pt x="280521" y="316367"/>
                  <a:pt x="285565" y="325103"/>
                  <a:pt x="293752" y="329830"/>
                </a:cubicBezTo>
                <a:cubicBezTo>
                  <a:pt x="301939" y="334557"/>
                  <a:pt x="312026" y="334557"/>
                  <a:pt x="320214" y="329830"/>
                </a:cubicBezTo>
                <a:cubicBezTo>
                  <a:pt x="328401" y="325103"/>
                  <a:pt x="333444" y="316367"/>
                  <a:pt x="333444" y="306913"/>
                </a:cubicBezTo>
                <a:cubicBezTo>
                  <a:pt x="333444" y="292309"/>
                  <a:pt x="321587" y="280452"/>
                  <a:pt x="306983" y="280452"/>
                </a:cubicBezTo>
                <a:cubicBezTo>
                  <a:pt x="292378" y="280452"/>
                  <a:pt x="280521" y="292309"/>
                  <a:pt x="280521" y="306913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5316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Esperado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Robustez industrial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Segurança elétrica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Rastreabilidade completa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Comunicação segura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Escalabilidade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Pronto para produção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2D3E50"/>
                </a:solidFill>
                <a:latin typeface="Quattrocento Sans"/>
              </a:rPr>
              <a:t>Integração com Outras Soluções IoT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2065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64748B"/>
                </a:solidFill>
                <a:latin typeface="Quattrocento Sans"/>
              </a:rPr>
              <a:t>Arquitetura expansível para compor um ecossistema IoT industrial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16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986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0"/>
                </a:solidFill>
                <a:latin typeface="Quattrocento Sans"/>
              </a:rPr>
              <a:t>Camada de Campo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500">
                <a:solidFill>
                  <a:srgbClr val="C2410C"/>
                </a:solidFill>
                <a:latin typeface="Quattrocento Sans"/>
              </a:rPr>
              <a:t>●  ESP32 lê encoder e controla PWM</a:t>
            </a:r>
            <a:endParaRPr lang="en-US" sz="1500" dirty="0"/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Motor + L298N executam a atuação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Telemetria publicada via MQTT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Comandos recebidos por tópicos</a:t>
            </a:r>
          </a:p>
        </p:txBody>
      </p:sp>
      <p:sp>
        <p:nvSpPr>
          <p:cNvPr id="10" name="Shape 8"/>
          <p:cNvSpPr/>
          <p:nvPr/>
        </p:nvSpPr>
        <p:spPr>
          <a:xfrm>
            <a:off x="57785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0325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151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0"/>
                </a:solidFill>
                <a:latin typeface="Quattrocento Sans"/>
              </a:rPr>
              <a:t>Broker e Orquestração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25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500">
                <a:solidFill>
                  <a:srgbClr val="C2410C"/>
                </a:solidFill>
                <a:latin typeface="Quattrocento Sans"/>
              </a:rPr>
              <a:t>●  Broker MQTT centraliza mensagens</a:t>
            </a:r>
            <a:endParaRPr lang="en-US" sz="1500" dirty="0"/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Node-RED cria regras e fluxos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InfluxDB armazena séries temporais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MQTT mantém baixo acoplamento</a:t>
            </a:r>
          </a:p>
        </p:txBody>
      </p:sp>
      <p:sp>
        <p:nvSpPr>
          <p:cNvPr id="14" name="Shape 12"/>
          <p:cNvSpPr/>
          <p:nvPr/>
        </p:nvSpPr>
        <p:spPr>
          <a:xfrm>
            <a:off x="10795000" y="1714500"/>
            <a:ext cx="4699000" cy="3302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049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6675" y="22225"/>
                </a:moveTo>
                <a:cubicBezTo>
                  <a:pt x="54382" y="22225"/>
                  <a:pt x="44450" y="32157"/>
                  <a:pt x="44450" y="44450"/>
                </a:cubicBezTo>
                <a:cubicBezTo>
                  <a:pt x="44450" y="56743"/>
                  <a:pt x="54382" y="66675"/>
                  <a:pt x="66675" y="66675"/>
                </a:cubicBezTo>
                <a:lnTo>
                  <a:pt x="79663" y="66675"/>
                </a:lnTo>
                <a:lnTo>
                  <a:pt x="6529" y="139879"/>
                </a:lnTo>
                <a:cubicBezTo>
                  <a:pt x="-2153" y="148560"/>
                  <a:pt x="-2153" y="162659"/>
                  <a:pt x="6529" y="171341"/>
                </a:cubicBezTo>
                <a:cubicBezTo>
                  <a:pt x="15210" y="180022"/>
                  <a:pt x="29309" y="180022"/>
                  <a:pt x="37991" y="171341"/>
                </a:cubicBezTo>
                <a:lnTo>
                  <a:pt x="111125" y="98137"/>
                </a:lnTo>
                <a:lnTo>
                  <a:pt x="111125" y="111125"/>
                </a:lnTo>
                <a:cubicBezTo>
                  <a:pt x="111125" y="123418"/>
                  <a:pt x="121057" y="133350"/>
                  <a:pt x="133350" y="133350"/>
                </a:cubicBezTo>
                <a:cubicBezTo>
                  <a:pt x="145643" y="133350"/>
                  <a:pt x="155575" y="123418"/>
                  <a:pt x="155575" y="111125"/>
                </a:cubicBezTo>
                <a:lnTo>
                  <a:pt x="155575" y="44450"/>
                </a:lnTo>
                <a:cubicBezTo>
                  <a:pt x="155575" y="32157"/>
                  <a:pt x="145643" y="22225"/>
                  <a:pt x="133350" y="22225"/>
                </a:cubicBezTo>
                <a:lnTo>
                  <a:pt x="66675" y="22225"/>
                </a:lnTo>
                <a:close/>
                <a:moveTo>
                  <a:pt x="280452" y="48687"/>
                </a:moveTo>
                <a:cubicBezTo>
                  <a:pt x="280452" y="58140"/>
                  <a:pt x="285495" y="66876"/>
                  <a:pt x="293683" y="71603"/>
                </a:cubicBezTo>
                <a:cubicBezTo>
                  <a:pt x="301870" y="76330"/>
                  <a:pt x="311957" y="76330"/>
                  <a:pt x="320144" y="71603"/>
                </a:cubicBezTo>
                <a:cubicBezTo>
                  <a:pt x="328331" y="66876"/>
                  <a:pt x="333375" y="58140"/>
                  <a:pt x="333375" y="48687"/>
                </a:cubicBezTo>
                <a:cubicBezTo>
                  <a:pt x="333375" y="39233"/>
                  <a:pt x="328331" y="30497"/>
                  <a:pt x="320144" y="25770"/>
                </a:cubicBezTo>
                <a:cubicBezTo>
                  <a:pt x="311957" y="21043"/>
                  <a:pt x="301870" y="21043"/>
                  <a:pt x="293683" y="25770"/>
                </a:cubicBezTo>
                <a:cubicBezTo>
                  <a:pt x="285495" y="30497"/>
                  <a:pt x="280452" y="39233"/>
                  <a:pt x="280452" y="48687"/>
                </a:cubicBezTo>
                <a:close/>
                <a:moveTo>
                  <a:pt x="194260" y="134878"/>
                </a:moveTo>
                <a:cubicBezTo>
                  <a:pt x="194260" y="144332"/>
                  <a:pt x="199304" y="153068"/>
                  <a:pt x="207491" y="157794"/>
                </a:cubicBezTo>
                <a:cubicBezTo>
                  <a:pt x="215678" y="162521"/>
                  <a:pt x="225766" y="162521"/>
                  <a:pt x="233953" y="157794"/>
                </a:cubicBezTo>
                <a:cubicBezTo>
                  <a:pt x="242140" y="153068"/>
                  <a:pt x="247184" y="144332"/>
                  <a:pt x="247184" y="134878"/>
                </a:cubicBezTo>
                <a:cubicBezTo>
                  <a:pt x="247184" y="125424"/>
                  <a:pt x="242140" y="116688"/>
                  <a:pt x="233953" y="111962"/>
                </a:cubicBezTo>
                <a:cubicBezTo>
                  <a:pt x="225766" y="107235"/>
                  <a:pt x="215678" y="107235"/>
                  <a:pt x="207491" y="111962"/>
                </a:cubicBezTo>
                <a:cubicBezTo>
                  <a:pt x="199304" y="116688"/>
                  <a:pt x="194260" y="125424"/>
                  <a:pt x="194260" y="134878"/>
                </a:cubicBezTo>
                <a:close/>
                <a:moveTo>
                  <a:pt x="306913" y="108416"/>
                </a:moveTo>
                <a:cubicBezTo>
                  <a:pt x="292309" y="108416"/>
                  <a:pt x="280452" y="120273"/>
                  <a:pt x="280452" y="134878"/>
                </a:cubicBezTo>
                <a:cubicBezTo>
                  <a:pt x="280452" y="149483"/>
                  <a:pt x="292309" y="161340"/>
                  <a:pt x="306913" y="161340"/>
                </a:cubicBezTo>
                <a:cubicBezTo>
                  <a:pt x="316367" y="161340"/>
                  <a:pt x="325103" y="156296"/>
                  <a:pt x="329830" y="148109"/>
                </a:cubicBezTo>
                <a:cubicBezTo>
                  <a:pt x="334557" y="139922"/>
                  <a:pt x="334557" y="129834"/>
                  <a:pt x="329830" y="121647"/>
                </a:cubicBezTo>
                <a:cubicBezTo>
                  <a:pt x="325103" y="113460"/>
                  <a:pt x="316367" y="108416"/>
                  <a:pt x="306913" y="108416"/>
                </a:cubicBezTo>
                <a:close/>
                <a:moveTo>
                  <a:pt x="108486" y="220722"/>
                </a:moveTo>
                <a:cubicBezTo>
                  <a:pt x="108486" y="230176"/>
                  <a:pt x="113529" y="238912"/>
                  <a:pt x="121717" y="243638"/>
                </a:cubicBezTo>
                <a:cubicBezTo>
                  <a:pt x="129904" y="248365"/>
                  <a:pt x="139991" y="248365"/>
                  <a:pt x="148178" y="243638"/>
                </a:cubicBezTo>
                <a:cubicBezTo>
                  <a:pt x="156366" y="238912"/>
                  <a:pt x="161409" y="230176"/>
                  <a:pt x="161409" y="220722"/>
                </a:cubicBezTo>
                <a:cubicBezTo>
                  <a:pt x="161409" y="211268"/>
                  <a:pt x="156366" y="202532"/>
                  <a:pt x="148178" y="197806"/>
                </a:cubicBezTo>
                <a:cubicBezTo>
                  <a:pt x="139991" y="193079"/>
                  <a:pt x="129904" y="193079"/>
                  <a:pt x="121717" y="197806"/>
                </a:cubicBezTo>
                <a:cubicBezTo>
                  <a:pt x="113529" y="202532"/>
                  <a:pt x="108486" y="211268"/>
                  <a:pt x="108486" y="220722"/>
                </a:cubicBezTo>
                <a:close/>
                <a:moveTo>
                  <a:pt x="220722" y="194260"/>
                </a:moveTo>
                <a:cubicBezTo>
                  <a:pt x="211268" y="194260"/>
                  <a:pt x="202532" y="199304"/>
                  <a:pt x="197806" y="207491"/>
                </a:cubicBezTo>
                <a:cubicBezTo>
                  <a:pt x="193079" y="215678"/>
                  <a:pt x="193079" y="225766"/>
                  <a:pt x="197806" y="233953"/>
                </a:cubicBezTo>
                <a:cubicBezTo>
                  <a:pt x="202532" y="242140"/>
                  <a:pt x="211268" y="247184"/>
                  <a:pt x="220722" y="247184"/>
                </a:cubicBezTo>
                <a:cubicBezTo>
                  <a:pt x="230176" y="247184"/>
                  <a:pt x="238912" y="242140"/>
                  <a:pt x="243638" y="233953"/>
                </a:cubicBezTo>
                <a:cubicBezTo>
                  <a:pt x="248365" y="225766"/>
                  <a:pt x="248365" y="215678"/>
                  <a:pt x="243638" y="207491"/>
                </a:cubicBezTo>
                <a:cubicBezTo>
                  <a:pt x="238912" y="199304"/>
                  <a:pt x="230176" y="194260"/>
                  <a:pt x="220722" y="194260"/>
                </a:cubicBezTo>
                <a:close/>
                <a:moveTo>
                  <a:pt x="280521" y="220722"/>
                </a:moveTo>
                <a:cubicBezTo>
                  <a:pt x="280521" y="230176"/>
                  <a:pt x="285565" y="238912"/>
                  <a:pt x="293752" y="243638"/>
                </a:cubicBezTo>
                <a:cubicBezTo>
                  <a:pt x="301939" y="248365"/>
                  <a:pt x="312026" y="248365"/>
                  <a:pt x="320214" y="243638"/>
                </a:cubicBezTo>
                <a:cubicBezTo>
                  <a:pt x="328401" y="238912"/>
                  <a:pt x="333444" y="230176"/>
                  <a:pt x="333444" y="220722"/>
                </a:cubicBezTo>
                <a:cubicBezTo>
                  <a:pt x="333444" y="206117"/>
                  <a:pt x="321587" y="194260"/>
                  <a:pt x="306983" y="194260"/>
                </a:cubicBezTo>
                <a:cubicBezTo>
                  <a:pt x="292378" y="194260"/>
                  <a:pt x="280521" y="206117"/>
                  <a:pt x="280521" y="220722"/>
                </a:cubicBezTo>
                <a:close/>
                <a:moveTo>
                  <a:pt x="48687" y="280452"/>
                </a:moveTo>
                <a:cubicBezTo>
                  <a:pt x="39233" y="280452"/>
                  <a:pt x="30497" y="285495"/>
                  <a:pt x="25770" y="293683"/>
                </a:cubicBezTo>
                <a:cubicBezTo>
                  <a:pt x="21043" y="301870"/>
                  <a:pt x="21043" y="311957"/>
                  <a:pt x="25770" y="320144"/>
                </a:cubicBezTo>
                <a:cubicBezTo>
                  <a:pt x="30497" y="328331"/>
                  <a:pt x="39233" y="333375"/>
                  <a:pt x="48687" y="333375"/>
                </a:cubicBezTo>
                <a:cubicBezTo>
                  <a:pt x="58140" y="333375"/>
                  <a:pt x="66876" y="328331"/>
                  <a:pt x="71603" y="320144"/>
                </a:cubicBezTo>
                <a:cubicBezTo>
                  <a:pt x="76330" y="311957"/>
                  <a:pt x="76330" y="301870"/>
                  <a:pt x="71603" y="293683"/>
                </a:cubicBezTo>
                <a:cubicBezTo>
                  <a:pt x="66876" y="285495"/>
                  <a:pt x="58140" y="280452"/>
                  <a:pt x="48687" y="280452"/>
                </a:cubicBezTo>
                <a:close/>
                <a:moveTo>
                  <a:pt x="108486" y="306913"/>
                </a:moveTo>
                <a:cubicBezTo>
                  <a:pt x="108486" y="316367"/>
                  <a:pt x="113529" y="325103"/>
                  <a:pt x="121717" y="329830"/>
                </a:cubicBezTo>
                <a:cubicBezTo>
                  <a:pt x="129904" y="334557"/>
                  <a:pt x="139991" y="334557"/>
                  <a:pt x="148178" y="329830"/>
                </a:cubicBezTo>
                <a:cubicBezTo>
                  <a:pt x="156366" y="325103"/>
                  <a:pt x="161409" y="316367"/>
                  <a:pt x="161409" y="306913"/>
                </a:cubicBezTo>
                <a:cubicBezTo>
                  <a:pt x="161409" y="297460"/>
                  <a:pt x="156366" y="288724"/>
                  <a:pt x="148178" y="283997"/>
                </a:cubicBezTo>
                <a:cubicBezTo>
                  <a:pt x="139991" y="279270"/>
                  <a:pt x="129904" y="279270"/>
                  <a:pt x="121717" y="283997"/>
                </a:cubicBezTo>
                <a:cubicBezTo>
                  <a:pt x="113529" y="288724"/>
                  <a:pt x="108486" y="297460"/>
                  <a:pt x="108486" y="306913"/>
                </a:cubicBezTo>
                <a:close/>
                <a:moveTo>
                  <a:pt x="220722" y="280452"/>
                </a:moveTo>
                <a:cubicBezTo>
                  <a:pt x="211268" y="280452"/>
                  <a:pt x="202532" y="285495"/>
                  <a:pt x="197806" y="293683"/>
                </a:cubicBezTo>
                <a:cubicBezTo>
                  <a:pt x="193079" y="301870"/>
                  <a:pt x="193079" y="311957"/>
                  <a:pt x="197806" y="320144"/>
                </a:cubicBezTo>
                <a:cubicBezTo>
                  <a:pt x="202532" y="328331"/>
                  <a:pt x="211268" y="333375"/>
                  <a:pt x="220722" y="333375"/>
                </a:cubicBezTo>
                <a:cubicBezTo>
                  <a:pt x="230176" y="333375"/>
                  <a:pt x="238912" y="328331"/>
                  <a:pt x="243638" y="320144"/>
                </a:cubicBezTo>
                <a:cubicBezTo>
                  <a:pt x="248365" y="311957"/>
                  <a:pt x="248365" y="301870"/>
                  <a:pt x="243638" y="293683"/>
                </a:cubicBezTo>
                <a:cubicBezTo>
                  <a:pt x="238912" y="285495"/>
                  <a:pt x="230176" y="280452"/>
                  <a:pt x="220722" y="280452"/>
                </a:cubicBezTo>
                <a:close/>
                <a:moveTo>
                  <a:pt x="280521" y="306913"/>
                </a:moveTo>
                <a:cubicBezTo>
                  <a:pt x="280521" y="316367"/>
                  <a:pt x="285565" y="325103"/>
                  <a:pt x="293752" y="329830"/>
                </a:cubicBezTo>
                <a:cubicBezTo>
                  <a:pt x="301939" y="334557"/>
                  <a:pt x="312026" y="334557"/>
                  <a:pt x="320214" y="329830"/>
                </a:cubicBezTo>
                <a:cubicBezTo>
                  <a:pt x="328401" y="325103"/>
                  <a:pt x="333444" y="316367"/>
                  <a:pt x="333444" y="306913"/>
                </a:cubicBezTo>
                <a:cubicBezTo>
                  <a:pt x="333444" y="292309"/>
                  <a:pt x="321587" y="280452"/>
                  <a:pt x="306983" y="280452"/>
                </a:cubicBezTo>
                <a:cubicBezTo>
                  <a:pt x="292378" y="280452"/>
                  <a:pt x="280521" y="292309"/>
                  <a:pt x="280521" y="306913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531600" y="19304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Quattrocento Sans"/>
              </a:rPr>
              <a:t>Supervisão e Alertas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0" y="2476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500">
                <a:solidFill>
                  <a:srgbClr val="C2410C"/>
                </a:solidFill>
                <a:latin typeface="Quattrocento Sans"/>
              </a:rPr>
              <a:t>●  Grafana exibe histórico e KPIs</a:t>
            </a:r>
            <a:endParaRPr lang="en-US" sz="1500" dirty="0"/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SCADA acompanha operação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Alertas por e-mail/Telegram</a:t>
            </a:r>
          </a:p>
          <a:p>
            <a:r>
              <a:rPr sz="1500">
                <a:solidFill>
                  <a:srgbClr val="C2410C"/>
                </a:solidFill>
                <a:latin typeface="Quattrocento Sans"/>
              </a:rPr>
              <a:t>●  Base para manutenção preditiva</a:t>
            </a:r>
          </a:p>
        </p:txBody>
      </p:sp>
      <p:sp>
        <p:nvSpPr>
          <p:cNvPr id="18" name="Text 1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12</a:t>
            </a:r>
            <a:endParaRPr lang="en-US" sz="1300" dirty="0"/>
          </a:p>
        </p:txBody>
      </p:sp>
      <p:sp>
        <p:nvSpPr>
          <p:cNvPr id="19" name="Rounded Rectangle 18"/>
          <p:cNvSpPr/>
          <p:nvPr/>
        </p:nvSpPr>
        <p:spPr>
          <a:xfrm>
            <a:off x="1005840" y="5669280"/>
            <a:ext cx="13716000" cy="777240"/>
          </a:xfrm>
          <a:prstGeom prst="roundRect">
            <a:avLst/>
          </a:prstGeom>
          <a:solidFill>
            <a:srgbClr val="172232"/>
          </a:solidFill>
          <a:ln>
            <a:solidFill>
              <a:srgbClr val="44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ESP32 → Broker MQTT → Node-RED → InfluxDB → Grafana / SCADA / Alertas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629400"/>
            <a:ext cx="1353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Node-RED processa e grava dados no InfluxDB; o Grafana consulta o banco para histórico, KPIs e alertas.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Benefícios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2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160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1351" y="50800"/>
                  <a:pt x="0" y="62151"/>
                  <a:pt x="0" y="76200"/>
                </a:cubicBezTo>
                <a:cubicBezTo>
                  <a:pt x="0" y="90249"/>
                  <a:pt x="11351" y="101600"/>
                  <a:pt x="25400" y="101600"/>
                </a:cubicBezTo>
                <a:lnTo>
                  <a:pt x="94218" y="101600"/>
                </a:lnTo>
                <a:cubicBezTo>
                  <a:pt x="103981" y="124063"/>
                  <a:pt x="126365" y="139700"/>
                  <a:pt x="152400" y="139700"/>
                </a:cubicBezTo>
                <a:cubicBezTo>
                  <a:pt x="178435" y="139700"/>
                  <a:pt x="200819" y="124063"/>
                  <a:pt x="210582" y="101600"/>
                </a:cubicBezTo>
                <a:lnTo>
                  <a:pt x="381000" y="101600"/>
                </a:lnTo>
                <a:cubicBezTo>
                  <a:pt x="395049" y="101600"/>
                  <a:pt x="406400" y="90249"/>
                  <a:pt x="406400" y="76200"/>
                </a:cubicBezTo>
                <a:cubicBezTo>
                  <a:pt x="406400" y="62151"/>
                  <a:pt x="395049" y="50800"/>
                  <a:pt x="381000" y="50800"/>
                </a:cubicBezTo>
                <a:lnTo>
                  <a:pt x="210582" y="50800"/>
                </a:lnTo>
                <a:cubicBezTo>
                  <a:pt x="200819" y="28337"/>
                  <a:pt x="178435" y="12700"/>
                  <a:pt x="152400" y="12700"/>
                </a:cubicBezTo>
                <a:cubicBezTo>
                  <a:pt x="126365" y="12700"/>
                  <a:pt x="103981" y="28337"/>
                  <a:pt x="94218" y="50800"/>
                </a:cubicBezTo>
                <a:lnTo>
                  <a:pt x="25400" y="50800"/>
                </a:lnTo>
                <a:close/>
                <a:moveTo>
                  <a:pt x="25400" y="177800"/>
                </a:move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221218" y="228600"/>
                </a:lnTo>
                <a:cubicBezTo>
                  <a:pt x="230981" y="251063"/>
                  <a:pt x="253365" y="266700"/>
                  <a:pt x="279400" y="266700"/>
                </a:cubicBezTo>
                <a:cubicBezTo>
                  <a:pt x="305435" y="266700"/>
                  <a:pt x="327819" y="251063"/>
                  <a:pt x="337582" y="228600"/>
                </a:cubicBezTo>
                <a:lnTo>
                  <a:pt x="381000" y="228600"/>
                </a:lnTo>
                <a:cubicBezTo>
                  <a:pt x="395049" y="228600"/>
                  <a:pt x="406400" y="217249"/>
                  <a:pt x="406400" y="203200"/>
                </a:cubicBezTo>
                <a:cubicBezTo>
                  <a:pt x="406400" y="189151"/>
                  <a:pt x="395049" y="177800"/>
                  <a:pt x="381000" y="177800"/>
                </a:cubicBezTo>
                <a:lnTo>
                  <a:pt x="337582" y="177800"/>
                </a:lnTo>
                <a:cubicBezTo>
                  <a:pt x="327819" y="155337"/>
                  <a:pt x="305435" y="139700"/>
                  <a:pt x="279400" y="139700"/>
                </a:cubicBezTo>
                <a:cubicBezTo>
                  <a:pt x="253365" y="139700"/>
                  <a:pt x="230981" y="155337"/>
                  <a:pt x="221218" y="177800"/>
                </a:cubicBezTo>
                <a:lnTo>
                  <a:pt x="25400" y="177800"/>
                </a:lnTo>
                <a:close/>
                <a:moveTo>
                  <a:pt x="25400" y="304800"/>
                </a:moveTo>
                <a:cubicBezTo>
                  <a:pt x="11351" y="304800"/>
                  <a:pt x="0" y="316151"/>
                  <a:pt x="0" y="330200"/>
                </a:cubicBezTo>
                <a:cubicBezTo>
                  <a:pt x="0" y="344249"/>
                  <a:pt x="11351" y="355600"/>
                  <a:pt x="25400" y="355600"/>
                </a:cubicBezTo>
                <a:lnTo>
                  <a:pt x="68818" y="355600"/>
                </a:lnTo>
                <a:cubicBezTo>
                  <a:pt x="78581" y="378063"/>
                  <a:pt x="100965" y="393700"/>
                  <a:pt x="127000" y="393700"/>
                </a:cubicBezTo>
                <a:cubicBezTo>
                  <a:pt x="153035" y="393700"/>
                  <a:pt x="175419" y="378063"/>
                  <a:pt x="185182" y="355600"/>
                </a:cubicBez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ubicBezTo>
                  <a:pt x="406400" y="316151"/>
                  <a:pt x="395049" y="304800"/>
                  <a:pt x="381000" y="304800"/>
                </a:cubicBezTo>
                <a:lnTo>
                  <a:pt x="185182" y="304800"/>
                </a:lnTo>
                <a:cubicBezTo>
                  <a:pt x="175419" y="282337"/>
                  <a:pt x="153035" y="266700"/>
                  <a:pt x="127000" y="266700"/>
                </a:cubicBezTo>
                <a:cubicBezTo>
                  <a:pt x="100965" y="266700"/>
                  <a:pt x="78581" y="282337"/>
                  <a:pt x="68818" y="304800"/>
                </a:cubicBezTo>
                <a:lnTo>
                  <a:pt x="25400" y="3048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16000" y="2184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Automático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16000" y="2565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automático da rotação do eixo sem intervenção manual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78500" y="13970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032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79" y="152400"/>
                </a:moveTo>
                <a:lnTo>
                  <a:pt x="387350" y="152400"/>
                </a:lnTo>
                <a:cubicBezTo>
                  <a:pt x="397907" y="152400"/>
                  <a:pt x="406400" y="143907"/>
                  <a:pt x="406400" y="133350"/>
                </a:cubicBezTo>
                <a:lnTo>
                  <a:pt x="406400" y="19050"/>
                </a:lnTo>
                <a:cubicBezTo>
                  <a:pt x="406400" y="11351"/>
                  <a:pt x="401796" y="4366"/>
                  <a:pt x="394652" y="1429"/>
                </a:cubicBezTo>
                <a:cubicBezTo>
                  <a:pt x="387509" y="-1508"/>
                  <a:pt x="379333" y="159"/>
                  <a:pt x="373856" y="5556"/>
                </a:cubicBezTo>
                <a:lnTo>
                  <a:pt x="332819" y="46673"/>
                </a:lnTo>
                <a:cubicBezTo>
                  <a:pt x="297656" y="17542"/>
                  <a:pt x="252413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ubicBezTo>
                  <a:pt x="62865" y="107553"/>
                  <a:pt x="126444" y="50800"/>
                  <a:pt x="203200" y="50800"/>
                </a:cubicBezTo>
                <a:cubicBezTo>
                  <a:pt x="238442" y="50800"/>
                  <a:pt x="270828" y="62706"/>
                  <a:pt x="296624" y="82788"/>
                </a:cubicBezTo>
                <a:lnTo>
                  <a:pt x="259556" y="119856"/>
                </a:lnTo>
                <a:cubicBezTo>
                  <a:pt x="254079" y="125333"/>
                  <a:pt x="252492" y="133509"/>
                  <a:pt x="255429" y="140652"/>
                </a:cubicBezTo>
                <a:cubicBezTo>
                  <a:pt x="258366" y="147796"/>
                  <a:pt x="265351" y="152400"/>
                  <a:pt x="273050" y="152400"/>
                </a:cubicBezTo>
                <a:lnTo>
                  <a:pt x="381079" y="152400"/>
                </a:lnTo>
                <a:close/>
                <a:moveTo>
                  <a:pt x="404416" y="232172"/>
                </a:moveTo>
                <a:cubicBezTo>
                  <a:pt x="406400" y="218281"/>
                  <a:pt x="396716" y="205423"/>
                  <a:pt x="382905" y="203438"/>
                </a:cubicBezTo>
                <a:cubicBezTo>
                  <a:pt x="369094" y="201454"/>
                  <a:pt x="356156" y="211138"/>
                  <a:pt x="354171" y="224949"/>
                </a:cubicBezTo>
                <a:cubicBezTo>
                  <a:pt x="343614" y="298768"/>
                  <a:pt x="280035" y="355521"/>
                  <a:pt x="203279" y="355521"/>
                </a:cubicBezTo>
                <a:cubicBezTo>
                  <a:pt x="168037" y="355521"/>
                  <a:pt x="135652" y="343614"/>
                  <a:pt x="109855" y="323533"/>
                </a:cubicBezTo>
                <a:lnTo>
                  <a:pt x="146844" y="286544"/>
                </a:lnTo>
                <a:cubicBezTo>
                  <a:pt x="152321" y="281067"/>
                  <a:pt x="153908" y="272891"/>
                  <a:pt x="150971" y="265748"/>
                </a:cubicBezTo>
                <a:cubicBezTo>
                  <a:pt x="148034" y="258604"/>
                  <a:pt x="141049" y="254000"/>
                  <a:pt x="133350" y="254000"/>
                </a:cubicBezTo>
                <a:lnTo>
                  <a:pt x="19050" y="254000"/>
                </a:lnTo>
                <a:cubicBezTo>
                  <a:pt x="8493" y="254000"/>
                  <a:pt x="0" y="262493"/>
                  <a:pt x="0" y="273050"/>
                </a:cubicBezTo>
                <a:lnTo>
                  <a:pt x="0" y="387350"/>
                </a:lnTo>
                <a:cubicBezTo>
                  <a:pt x="0" y="395049"/>
                  <a:pt x="4604" y="402034"/>
                  <a:pt x="11748" y="404971"/>
                </a:cubicBezTo>
                <a:cubicBezTo>
                  <a:pt x="18891" y="407908"/>
                  <a:pt x="27067" y="406241"/>
                  <a:pt x="32544" y="400844"/>
                </a:cubicBezTo>
                <a:lnTo>
                  <a:pt x="73660" y="359728"/>
                </a:lnTo>
                <a:cubicBezTo>
                  <a:pt x="108744" y="388858"/>
                  <a:pt x="153988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032500" y="2184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Maior Repetibilidade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32500" y="2565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 padronizado com maior repetibilidade entre lotes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795000" y="13970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10490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150" y="0"/>
                </a:moveTo>
                <a:cubicBezTo>
                  <a:pt x="306864" y="0"/>
                  <a:pt x="406400" y="99536"/>
                  <a:pt x="406400" y="222250"/>
                </a:cubicBezTo>
                <a:cubicBezTo>
                  <a:pt x="406400" y="232807"/>
                  <a:pt x="397907" y="241300"/>
                  <a:pt x="387350" y="241300"/>
                </a:cubicBezTo>
                <a:cubicBezTo>
                  <a:pt x="376793" y="241300"/>
                  <a:pt x="368300" y="232807"/>
                  <a:pt x="368300" y="222250"/>
                </a:cubicBezTo>
                <a:cubicBezTo>
                  <a:pt x="368300" y="120571"/>
                  <a:pt x="285829" y="38100"/>
                  <a:pt x="184150" y="38100"/>
                </a:cubicBezTo>
                <a:cubicBezTo>
                  <a:pt x="173593" y="38100"/>
                  <a:pt x="165100" y="29607"/>
                  <a:pt x="165100" y="19050"/>
                </a:cubicBezTo>
                <a:cubicBezTo>
                  <a:pt x="165100" y="8493"/>
                  <a:pt x="173593" y="0"/>
                  <a:pt x="184150" y="0"/>
                </a:cubicBezTo>
                <a:close/>
                <a:moveTo>
                  <a:pt x="165100" y="95250"/>
                </a:moveTo>
                <a:cubicBezTo>
                  <a:pt x="165100" y="84693"/>
                  <a:pt x="173593" y="76200"/>
                  <a:pt x="184150" y="76200"/>
                </a:cubicBezTo>
                <a:cubicBezTo>
                  <a:pt x="264795" y="76200"/>
                  <a:pt x="330200" y="141605"/>
                  <a:pt x="330200" y="222250"/>
                </a:cubicBezTo>
                <a:cubicBezTo>
                  <a:pt x="330200" y="232807"/>
                  <a:pt x="321707" y="241300"/>
                  <a:pt x="311150" y="241300"/>
                </a:cubicBezTo>
                <a:cubicBezTo>
                  <a:pt x="300593" y="241300"/>
                  <a:pt x="292100" y="232807"/>
                  <a:pt x="292100" y="222250"/>
                </a:cubicBezTo>
                <a:cubicBezTo>
                  <a:pt x="292100" y="162639"/>
                  <a:pt x="243761" y="114300"/>
                  <a:pt x="184150" y="114300"/>
                </a:cubicBezTo>
                <a:cubicBezTo>
                  <a:pt x="173593" y="114300"/>
                  <a:pt x="165100" y="105807"/>
                  <a:pt x="165100" y="95250"/>
                </a:cubicBezTo>
                <a:close/>
                <a:moveTo>
                  <a:pt x="20955" y="113268"/>
                </a:moveTo>
                <a:cubicBezTo>
                  <a:pt x="27940" y="99060"/>
                  <a:pt x="46673" y="97472"/>
                  <a:pt x="57864" y="108664"/>
                </a:cubicBezTo>
                <a:lnTo>
                  <a:pt x="159861" y="210661"/>
                </a:lnTo>
                <a:lnTo>
                  <a:pt x="185261" y="185261"/>
                </a:lnTo>
                <a:cubicBezTo>
                  <a:pt x="195183" y="175339"/>
                  <a:pt x="211296" y="175339"/>
                  <a:pt x="221218" y="185261"/>
                </a:cubicBezTo>
                <a:cubicBezTo>
                  <a:pt x="231140" y="195183"/>
                  <a:pt x="231140" y="211296"/>
                  <a:pt x="221218" y="221218"/>
                </a:cubicBezTo>
                <a:lnTo>
                  <a:pt x="195818" y="246618"/>
                </a:lnTo>
                <a:lnTo>
                  <a:pt x="297815" y="348615"/>
                </a:lnTo>
                <a:cubicBezTo>
                  <a:pt x="309007" y="359807"/>
                  <a:pt x="307340" y="378460"/>
                  <a:pt x="293211" y="385524"/>
                </a:cubicBezTo>
                <a:cubicBezTo>
                  <a:pt x="266065" y="398939"/>
                  <a:pt x="235585" y="406479"/>
                  <a:pt x="203279" y="406479"/>
                </a:cubicBezTo>
                <a:cubicBezTo>
                  <a:pt x="91043" y="406479"/>
                  <a:pt x="79" y="315516"/>
                  <a:pt x="79" y="203279"/>
                </a:cubicBezTo>
                <a:cubicBezTo>
                  <a:pt x="79" y="170974"/>
                  <a:pt x="7620" y="140414"/>
                  <a:pt x="21034" y="113348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049000" y="2184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Monitoramento Remoto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049000" y="2565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Acompanhamento do processo de qualquer lugar via MQTT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38735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016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8600" y="25400"/>
                </a:moveTo>
                <a:cubicBezTo>
                  <a:pt x="228600" y="11351"/>
                  <a:pt x="217249" y="0"/>
                  <a:pt x="203200" y="0"/>
                </a:cubicBezTo>
                <a:cubicBezTo>
                  <a:pt x="189151" y="0"/>
                  <a:pt x="177800" y="11351"/>
                  <a:pt x="177800" y="25400"/>
                </a:cubicBezTo>
                <a:lnTo>
                  <a:pt x="177800" y="190500"/>
                </a:lnTo>
                <a:cubicBezTo>
                  <a:pt x="177800" y="197485"/>
                  <a:pt x="172085" y="203200"/>
                  <a:pt x="165100" y="203200"/>
                </a:cubicBezTo>
                <a:cubicBezTo>
                  <a:pt x="158115" y="203200"/>
                  <a:pt x="152400" y="197485"/>
                  <a:pt x="152400" y="190500"/>
                </a:cubicBezTo>
                <a:lnTo>
                  <a:pt x="152400" y="50800"/>
                </a:lnTo>
                <a:cubicBezTo>
                  <a:pt x="152400" y="36751"/>
                  <a:pt x="141049" y="25400"/>
                  <a:pt x="127000" y="25400"/>
                </a:cubicBezTo>
                <a:cubicBezTo>
                  <a:pt x="112951" y="25400"/>
                  <a:pt x="101600" y="36751"/>
                  <a:pt x="101600" y="50800"/>
                </a:cubicBezTo>
                <a:lnTo>
                  <a:pt x="101600" y="266700"/>
                </a:lnTo>
                <a:cubicBezTo>
                  <a:pt x="101600" y="267891"/>
                  <a:pt x="101600" y="269161"/>
                  <a:pt x="101679" y="270351"/>
                </a:cubicBezTo>
                <a:lnTo>
                  <a:pt x="53657" y="224631"/>
                </a:lnTo>
                <a:cubicBezTo>
                  <a:pt x="40957" y="212566"/>
                  <a:pt x="20876" y="213042"/>
                  <a:pt x="8731" y="225742"/>
                </a:cubicBezTo>
                <a:cubicBezTo>
                  <a:pt x="-3413" y="238442"/>
                  <a:pt x="-2857" y="258524"/>
                  <a:pt x="9843" y="270669"/>
                </a:cubicBezTo>
                <a:lnTo>
                  <a:pt x="99060" y="355600"/>
                </a:lnTo>
                <a:cubicBezTo>
                  <a:pt x="133271" y="388223"/>
                  <a:pt x="178753" y="406400"/>
                  <a:pt x="226060" y="406400"/>
                </a:cubicBezTo>
                <a:lnTo>
                  <a:pt x="241300" y="406400"/>
                </a:lnTo>
                <a:cubicBezTo>
                  <a:pt x="318453" y="406400"/>
                  <a:pt x="381000" y="343853"/>
                  <a:pt x="381000" y="266700"/>
                </a:cubicBezTo>
                <a:lnTo>
                  <a:pt x="381000" y="101600"/>
                </a:lnTo>
                <a:cubicBezTo>
                  <a:pt x="381000" y="87551"/>
                  <a:pt x="369649" y="76200"/>
                  <a:pt x="355600" y="76200"/>
                </a:cubicBezTo>
                <a:cubicBezTo>
                  <a:pt x="341551" y="76200"/>
                  <a:pt x="330200" y="87551"/>
                  <a:pt x="330200" y="101600"/>
                </a:cubicBezTo>
                <a:lnTo>
                  <a:pt x="330200" y="190500"/>
                </a:lnTo>
                <a:cubicBezTo>
                  <a:pt x="330200" y="197485"/>
                  <a:pt x="324485" y="203200"/>
                  <a:pt x="317500" y="203200"/>
                </a:cubicBezTo>
                <a:cubicBezTo>
                  <a:pt x="310515" y="203200"/>
                  <a:pt x="304800" y="197485"/>
                  <a:pt x="304800" y="190500"/>
                </a:cubicBezTo>
                <a:lnTo>
                  <a:pt x="304800" y="50800"/>
                </a:lnTo>
                <a:cubicBezTo>
                  <a:pt x="304800" y="36751"/>
                  <a:pt x="293449" y="25400"/>
                  <a:pt x="279400" y="25400"/>
                </a:cubicBezTo>
                <a:cubicBezTo>
                  <a:pt x="265351" y="25400"/>
                  <a:pt x="254000" y="36751"/>
                  <a:pt x="254000" y="50800"/>
                </a:cubicBezTo>
                <a:lnTo>
                  <a:pt x="254000" y="190500"/>
                </a:lnTo>
                <a:cubicBezTo>
                  <a:pt x="254000" y="197485"/>
                  <a:pt x="248285" y="203200"/>
                  <a:pt x="241300" y="203200"/>
                </a:cubicBezTo>
                <a:cubicBezTo>
                  <a:pt x="234315" y="203200"/>
                  <a:pt x="228600" y="197485"/>
                  <a:pt x="228600" y="190500"/>
                </a:cubicBezTo>
                <a:lnTo>
                  <a:pt x="228600" y="254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16000" y="4660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Redução de Intervenção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16000" y="50419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Menor necessidade de ajustes manuais durante a mistura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78500" y="38735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0325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9410" y="78264"/>
                </a:moveTo>
                <a:cubicBezTo>
                  <a:pt x="364772" y="72231"/>
                  <a:pt x="373733" y="73739"/>
                  <a:pt x="376414" y="81677"/>
                </a:cubicBezTo>
                <a:cubicBezTo>
                  <a:pt x="381212" y="95726"/>
                  <a:pt x="383822" y="111046"/>
                  <a:pt x="383822" y="127000"/>
                </a:cubicBezTo>
                <a:cubicBezTo>
                  <a:pt x="383822" y="197168"/>
                  <a:pt x="333304" y="254000"/>
                  <a:pt x="270933" y="254000"/>
                </a:cubicBezTo>
                <a:cubicBezTo>
                  <a:pt x="258586" y="254000"/>
                  <a:pt x="246662" y="251777"/>
                  <a:pt x="235514" y="247650"/>
                </a:cubicBezTo>
                <a:lnTo>
                  <a:pt x="103646" y="396002"/>
                </a:lnTo>
                <a:cubicBezTo>
                  <a:pt x="83820" y="418306"/>
                  <a:pt x="51647" y="418306"/>
                  <a:pt x="31821" y="396002"/>
                </a:cubicBezTo>
                <a:cubicBezTo>
                  <a:pt x="11994" y="373697"/>
                  <a:pt x="11994" y="337502"/>
                  <a:pt x="31821" y="315198"/>
                </a:cubicBezTo>
                <a:lnTo>
                  <a:pt x="163689" y="166846"/>
                </a:lnTo>
                <a:cubicBezTo>
                  <a:pt x="160020" y="154305"/>
                  <a:pt x="158044" y="140970"/>
                  <a:pt x="158044" y="127000"/>
                </a:cubicBezTo>
                <a:cubicBezTo>
                  <a:pt x="158044" y="56832"/>
                  <a:pt x="208562" y="0"/>
                  <a:pt x="270933" y="0"/>
                </a:cubicBezTo>
                <a:cubicBezTo>
                  <a:pt x="285115" y="0"/>
                  <a:pt x="298732" y="2937"/>
                  <a:pt x="311221" y="8334"/>
                </a:cubicBezTo>
                <a:cubicBezTo>
                  <a:pt x="318276" y="11351"/>
                  <a:pt x="319546" y="21431"/>
                  <a:pt x="314254" y="27464"/>
                </a:cubicBezTo>
                <a:lnTo>
                  <a:pt x="251672" y="97869"/>
                </a:lnTo>
                <a:cubicBezTo>
                  <a:pt x="249555" y="100251"/>
                  <a:pt x="248356" y="103505"/>
                  <a:pt x="248356" y="106839"/>
                </a:cubicBezTo>
                <a:lnTo>
                  <a:pt x="248356" y="139700"/>
                </a:lnTo>
                <a:cubicBezTo>
                  <a:pt x="248356" y="146685"/>
                  <a:pt x="253436" y="152400"/>
                  <a:pt x="259644" y="152400"/>
                </a:cubicBezTo>
                <a:lnTo>
                  <a:pt x="288854" y="152400"/>
                </a:lnTo>
                <a:cubicBezTo>
                  <a:pt x="291818" y="152400"/>
                  <a:pt x="294711" y="151051"/>
                  <a:pt x="296827" y="148669"/>
                </a:cubicBezTo>
                <a:lnTo>
                  <a:pt x="359410" y="78264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032500" y="4660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Manutenção Preditiva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032500" y="50419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Apoio a manutenção preditiva com dados de desempenho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795000" y="3873500"/>
            <a:ext cx="4699000" cy="2159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1049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63500"/>
                </a:moveTo>
                <a:cubicBezTo>
                  <a:pt x="0" y="42466"/>
                  <a:pt x="17066" y="25400"/>
                  <a:pt x="38100" y="25400"/>
                </a:cubicBezTo>
                <a:lnTo>
                  <a:pt x="114300" y="25400"/>
                </a:lnTo>
                <a:cubicBezTo>
                  <a:pt x="135334" y="25400"/>
                  <a:pt x="152400" y="42466"/>
                  <a:pt x="152400" y="63500"/>
                </a:cubicBezTo>
                <a:lnTo>
                  <a:pt x="152400" y="76200"/>
                </a:lnTo>
                <a:lnTo>
                  <a:pt x="254000" y="76200"/>
                </a:lnTo>
                <a:lnTo>
                  <a:pt x="254000" y="63500"/>
                </a:lnTo>
                <a:cubicBezTo>
                  <a:pt x="254000" y="42466"/>
                  <a:pt x="271066" y="25400"/>
                  <a:pt x="29210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139700"/>
                </a:lnTo>
                <a:cubicBezTo>
                  <a:pt x="406400" y="160734"/>
                  <a:pt x="389334" y="177800"/>
                  <a:pt x="368300" y="177800"/>
                </a:cubicBezTo>
                <a:lnTo>
                  <a:pt x="292100" y="177800"/>
                </a:lnTo>
                <a:cubicBezTo>
                  <a:pt x="271066" y="177800"/>
                  <a:pt x="254000" y="160734"/>
                  <a:pt x="254000" y="139700"/>
                </a:cubicBezTo>
                <a:lnTo>
                  <a:pt x="254000" y="127000"/>
                </a:lnTo>
                <a:lnTo>
                  <a:pt x="152400" y="127000"/>
                </a:lnTo>
                <a:lnTo>
                  <a:pt x="152400" y="139700"/>
                </a:lnTo>
                <a:cubicBezTo>
                  <a:pt x="152400" y="145494"/>
                  <a:pt x="151051" y="151051"/>
                  <a:pt x="148749" y="155972"/>
                </a:cubicBezTo>
                <a:lnTo>
                  <a:pt x="203200" y="228600"/>
                </a:lnTo>
                <a:lnTo>
                  <a:pt x="266700" y="228600"/>
                </a:lnTo>
                <a:cubicBezTo>
                  <a:pt x="287734" y="228600"/>
                  <a:pt x="304800" y="245666"/>
                  <a:pt x="304800" y="266700"/>
                </a:cubicBezTo>
                <a:lnTo>
                  <a:pt x="304800" y="342900"/>
                </a:lnTo>
                <a:cubicBezTo>
                  <a:pt x="304800" y="363934"/>
                  <a:pt x="287734" y="381000"/>
                  <a:pt x="2667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266700"/>
                </a:lnTo>
                <a:cubicBezTo>
                  <a:pt x="152400" y="260906"/>
                  <a:pt x="153749" y="255349"/>
                  <a:pt x="156051" y="250428"/>
                </a:cubicBezTo>
                <a:lnTo>
                  <a:pt x="101600" y="177800"/>
                </a:lnTo>
                <a:lnTo>
                  <a:pt x="38100" y="177800"/>
                </a:lnTo>
                <a:cubicBezTo>
                  <a:pt x="17066" y="177800"/>
                  <a:pt x="0" y="160734"/>
                  <a:pt x="0" y="13970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1049000" y="4660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Integração IoT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049000" y="50419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Integração com arquiteturas IoT e melhor visualização do desempenho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Viabilidade Comercial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3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31750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9500" y="2286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Produto é Viável Como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7940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Protótipo acadêmico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Bancada didática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Solução inicial de baixo custo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69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99500" y="2286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Uso Industrial Real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7940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Componentes de maior robustez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Segurança elétrica e proteção mecânica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Autenticação de comunicação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Validação em ambiente produtivo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 de Viabilidade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5245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270000" y="577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70000" y="577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Protótipo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7000" y="6032500"/>
            <a:ext cx="1016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080000" y="577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80000" y="577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Bancada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Didática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47000" y="6032500"/>
            <a:ext cx="1016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890000" y="577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890000" y="577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Piloto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Pequena escala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557000" y="6032500"/>
            <a:ext cx="1016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2700000" y="577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2700000" y="577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 melhorias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63500" cy="4064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142337"/>
                </a:solidFill>
              </a:rPr>
              <a:t>Protótipo Funcional e Roteiro de Demonstração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986000" y="635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 dirty="0">
                <a:solidFill>
                  <a:srgbClr val="64748B"/>
                </a:solidFill>
                <a:latin typeface="Quattrocento Sans"/>
              </a:rPr>
              <a:t>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4</a:t>
            </a:r>
            <a:r>
              <a:rPr sz="1300" dirty="0">
                <a:solidFill>
                  <a:srgbClr val="64748B"/>
                </a:solidFill>
                <a:latin typeface="Quattrocento Sans"/>
              </a:rPr>
              <a:t> / 1</a:t>
            </a:r>
            <a:r>
              <a:rPr lang="pt-BR" sz="1300" dirty="0">
                <a:solidFill>
                  <a:srgbClr val="64748B"/>
                </a:solidFill>
                <a:latin typeface="Quattrocento Sans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51000" y="165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142337"/>
                </a:solidFill>
              </a:rPr>
              <a:t>Componentes do protótipo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400">
                <a:solidFill>
                  <a:srgbClr val="323232"/>
                </a:solidFill>
              </a:rPr>
              <a:t>Protótipo com ESP32, motor DC com encoder, driver L298N, broker Mosquitto, dashboard web e MQTTX para validação da comunicação e do controle de RPM.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2D3E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69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149463" y="116761"/>
                </a:moveTo>
                <a:cubicBezTo>
                  <a:pt x="143431" y="120094"/>
                  <a:pt x="139700" y="126524"/>
                  <a:pt x="139700" y="133350"/>
                </a:cubicBezTo>
                <a:lnTo>
                  <a:pt x="139700" y="273050"/>
                </a:lnTo>
                <a:cubicBezTo>
                  <a:pt x="139700" y="279956"/>
                  <a:pt x="143431" y="286306"/>
                  <a:pt x="149463" y="289639"/>
                </a:cubicBezTo>
                <a:cubicBezTo>
                  <a:pt x="155496" y="292973"/>
                  <a:pt x="162798" y="292894"/>
                  <a:pt x="168751" y="289243"/>
                </a:cubicBezTo>
                <a:lnTo>
                  <a:pt x="283051" y="219392"/>
                </a:lnTo>
                <a:cubicBezTo>
                  <a:pt x="288687" y="215900"/>
                  <a:pt x="292179" y="209788"/>
                  <a:pt x="292179" y="203121"/>
                </a:cubicBezTo>
                <a:cubicBezTo>
                  <a:pt x="292179" y="196453"/>
                  <a:pt x="288687" y="190341"/>
                  <a:pt x="283051" y="186849"/>
                </a:cubicBezTo>
                <a:lnTo>
                  <a:pt x="168751" y="116999"/>
                </a:lnTo>
                <a:cubicBezTo>
                  <a:pt x="162878" y="113427"/>
                  <a:pt x="155496" y="113268"/>
                  <a:pt x="149463" y="116602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271000" y="165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Quattrocento Sans"/>
              </a:rPr>
              <a:t>Telemetria MQTTX / Dashboard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2225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sz="1600">
                <a:solidFill>
                  <a:srgbClr val="CBD5E1"/>
                </a:solidFill>
                <a:latin typeface="Quattrocento Sans"/>
              </a:rPr>
              <a:t>MQTTX assina motor/telemetry e o dashboard recebe o JSON por WebSocket 9001. Comandos start/stop e set point usam a porta MQTT 1883.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31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142337"/>
                </a:solidFill>
              </a:rPr>
              <a:t>Roteiro da Demonstração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826000"/>
            <a:ext cx="2667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525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52500" y="5397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1A202C"/>
                </a:solidFill>
                <a:latin typeface="Quattrocento Sans"/>
              </a:rPr>
              <a:t>Foto do protótipo</a:t>
            </a:r>
            <a:endParaRPr lang="en-US" sz="1400" dirty="0"/>
          </a:p>
          <a:p>
            <a:r>
              <a:rPr sz="1200">
                <a:solidFill>
                  <a:srgbClr val="1A202C"/>
                </a:solidFill>
                <a:latin typeface="Quattrocento Sans"/>
              </a:rPr>
              <a:t>ESP32 + L298N + motor</a:t>
            </a:r>
          </a:p>
        </p:txBody>
      </p:sp>
      <p:sp>
        <p:nvSpPr>
          <p:cNvPr id="17" name="Shape 15"/>
          <p:cNvSpPr/>
          <p:nvPr/>
        </p:nvSpPr>
        <p:spPr>
          <a:xfrm>
            <a:off x="3556000" y="56515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000500" y="4826000"/>
            <a:ext cx="2667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1910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91000" y="5397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1A202C"/>
                </a:solidFill>
                <a:latin typeface="Quattrocento Sans"/>
              </a:rPr>
              <a:t>MQTTX assinando</a:t>
            </a:r>
            <a:endParaRPr lang="en-US" sz="1400" dirty="0"/>
          </a:p>
          <a:p>
            <a:r>
              <a:rPr sz="1200">
                <a:solidFill>
                  <a:srgbClr val="1A202C"/>
                </a:solidFill>
                <a:latin typeface="Quattrocento Sans"/>
              </a:rPr>
              <a:t>motor/telemetry</a:t>
            </a:r>
          </a:p>
        </p:txBody>
      </p:sp>
      <p:sp>
        <p:nvSpPr>
          <p:cNvPr id="21" name="Shape 19"/>
          <p:cNvSpPr/>
          <p:nvPr/>
        </p:nvSpPr>
        <p:spPr>
          <a:xfrm>
            <a:off x="6794500" y="56515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239000" y="4826000"/>
            <a:ext cx="2667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295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29500" y="5397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1A202C"/>
                </a:solidFill>
                <a:latin typeface="Quattrocento Sans"/>
              </a:rPr>
              <a:t>Dashboard exibindo</a:t>
            </a:r>
            <a:endParaRPr lang="en-US" sz="1400" dirty="0"/>
          </a:p>
          <a:p>
            <a:r>
              <a:rPr sz="1200">
                <a:solidFill>
                  <a:srgbClr val="1A202C"/>
                </a:solidFill>
                <a:latin typeface="Quattrocento Sans"/>
              </a:rPr>
              <a:t>RPM, PWM e erro</a:t>
            </a:r>
          </a:p>
        </p:txBody>
      </p:sp>
      <p:sp>
        <p:nvSpPr>
          <p:cNvPr id="25" name="Shape 23"/>
          <p:cNvSpPr/>
          <p:nvPr/>
        </p:nvSpPr>
        <p:spPr>
          <a:xfrm>
            <a:off x="10033000" y="56515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477500" y="4826000"/>
            <a:ext cx="2667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6680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668000" y="5397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1A202C"/>
                </a:solidFill>
                <a:latin typeface="Quattrocento Sans"/>
              </a:rPr>
              <a:t>Gráfico RPM ×</a:t>
            </a:r>
            <a:endParaRPr lang="en-US" sz="1400" dirty="0"/>
          </a:p>
          <a:p>
            <a:r>
              <a:rPr sz="1200">
                <a:solidFill>
                  <a:srgbClr val="1A202C"/>
                </a:solidFill>
                <a:latin typeface="Quattrocento Sans"/>
              </a:rPr>
              <a:t>set point</a:t>
            </a:r>
          </a:p>
        </p:txBody>
      </p:sp>
      <p:sp>
        <p:nvSpPr>
          <p:cNvPr id="29" name="Shape 27"/>
          <p:cNvSpPr/>
          <p:nvPr/>
        </p:nvSpPr>
        <p:spPr>
          <a:xfrm>
            <a:off x="13271500" y="56515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3716000" y="4826000"/>
            <a:ext cx="1778000" cy="17780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3906500" y="495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843000" y="5397500"/>
            <a:ext cx="15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FFFFFF"/>
                </a:solidFill>
                <a:latin typeface="Quattrocento Sans"/>
              </a:rPr>
              <a:t>Aplicar carga e</a:t>
            </a:r>
            <a:endParaRPr lang="en-US" sz="1400" dirty="0"/>
          </a:p>
          <a:p>
            <a:r>
              <a:rPr sz="1200">
                <a:solidFill>
                  <a:srgbClr val="FFFFFF"/>
                </a:solidFill>
                <a:latin typeface="Quattrocento Sans"/>
              </a:rPr>
              <a:t>observar recuperação</a:t>
            </a:r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sz="1300">
                <a:solidFill>
                  <a:srgbClr val="64748B"/>
                </a:solidFill>
                <a:latin typeface="Quattrocento Sans"/>
              </a:rPr>
              <a:t>15</a:t>
            </a:r>
            <a:endParaRPr lang="en-US" sz="1300" dirty="0"/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9326880" y="6656832"/>
          <a:ext cx="493776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868680" y="6720840"/>
            <a:ext cx="7223760" cy="868680"/>
          </a:xfrm>
          <a:prstGeom prst="roundRect">
            <a:avLst/>
          </a:prstGeom>
          <a:solidFill>
            <a:srgbClr val="121926"/>
          </a:solidFill>
          <a:ln>
            <a:solidFill>
              <a:srgbClr val="44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6D6C3"/>
                </a:solidFill>
              </a:rPr>
              <a:t>MQTTX  |  SUB  motor/telemetry</a:t>
            </a:r>
          </a:p>
          <a:p>
            <a:r>
              <a:rPr sz="1000">
                <a:solidFill>
                  <a:srgbClr val="EBF0F8"/>
                </a:solidFill>
              </a:rPr>
              <a:t>{ "sp":120, "rpm":116.8, "err":3.2, "u":64.5 }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jpey7laiyq2c/mnt/agents/output/misturador_iot/images/4_Industrial_Mixing_Tanks_Types_of.png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202C">
                  <a:alpha val="40000"/>
                </a:srgbClr>
              </a:gs>
              <a:gs pos="50000">
                <a:srgbClr val="1A202C">
                  <a:alpha val="80000"/>
                </a:srgbClr>
              </a:gs>
              <a:gs pos="100000">
                <a:srgbClr val="1A202C">
                  <a:alpha val="93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2413000" y="2540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95500" y="3429000"/>
            <a:ext cx="12065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sz="1800">
                <a:solidFill>
                  <a:srgbClr val="E2E8F0"/>
                </a:solidFill>
                <a:latin typeface="Quattrocento Sans"/>
              </a:rPr>
              <a:t>O Misturador Industrial IoT demonstra uma solução completa envolvendo sensoriamento, controle embarcado, atuação, MQTT e supervisão em tempo real.</a:t>
            </a:r>
            <a:endParaRPr lang="en-US" sz="1800" dirty="0"/>
          </a:p>
          <a:p>
            <a:r>
              <a:rPr sz="1800">
                <a:solidFill>
                  <a:srgbClr val="E2E8F0"/>
                </a:solidFill>
                <a:latin typeface="Quattrocento Sans"/>
              </a:rPr>
              <a:t>O projeto atende aos requisitos de IoT ao permitir comunicação remota, simulação de mensagens, integração com ferramentas externas e expansão para arquiteturas industriais conectadas com Node-RED, banco de dados e Grafana/SCADA.</a:t>
            </a:r>
          </a:p>
        </p:txBody>
      </p:sp>
      <p:sp>
        <p:nvSpPr>
          <p:cNvPr id="7" name="Shape 4"/>
          <p:cNvSpPr/>
          <p:nvPr/>
        </p:nvSpPr>
        <p:spPr>
          <a:xfrm>
            <a:off x="6223000" y="6350000"/>
            <a:ext cx="381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683000" y="6604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Christian Salles  |  Maria Clara Ignácio  |  Samuel Ralise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7302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DISPOSITIVOS CONECTADOS  |  C115 / C213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88000" y="7874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Obrigado!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06CED705BBB14EA8B259112D83A03B" ma:contentTypeVersion="4" ma:contentTypeDescription="Create a new document." ma:contentTypeScope="" ma:versionID="6a1eaf744f6dc4deb6b4ecbcde95f63c">
  <xsd:schema xmlns:xsd="http://www.w3.org/2001/XMLSchema" xmlns:xs="http://www.w3.org/2001/XMLSchema" xmlns:p="http://schemas.microsoft.com/office/2006/metadata/properties" xmlns:ns2="690f1434-2589-4cc5-990d-3fa52bfdab59" targetNamespace="http://schemas.microsoft.com/office/2006/metadata/properties" ma:root="true" ma:fieldsID="68cba40a768ea1555f12b012f829a2d4" ns2:_="">
    <xsd:import namespace="690f1434-2589-4cc5-990d-3fa52bfdab5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f1434-2589-4cc5-990d-3fa52bfdab59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690f1434-2589-4cc5-990d-3fa52bfdab59" xsi:nil="true"/>
  </documentManagement>
</p:properties>
</file>

<file path=customXml/itemProps1.xml><?xml version="1.0" encoding="utf-8"?>
<ds:datastoreItem xmlns:ds="http://schemas.openxmlformats.org/officeDocument/2006/customXml" ds:itemID="{3CC040BC-4E0D-40F0-8323-1487CDCF3A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0f1434-2589-4cc5-990d-3fa52bfdab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E9D094-40F4-4B76-AA11-E13A47BCCF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F1B878-48D8-4FB3-A8B9-0D0D5C17B6CB}">
  <ds:schemaRefs>
    <ds:schemaRef ds:uri="http://schemas.microsoft.com/office/2006/metadata/properties"/>
    <ds:schemaRef ds:uri="http://schemas.microsoft.com/office/infopath/2007/PartnerControls"/>
    <ds:schemaRef ds:uri="690f1434-2589-4cc5-990d-3fa52bfdab5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1682</Words>
  <Application>Microsoft Office PowerPoint</Application>
  <PresentationFormat>Personalizar</PresentationFormat>
  <Paragraphs>314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Quattrocento Sans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Misturador Industrial IoT</dc:title>
  <dc:subject>Misturador Industrial IoT</dc:subject>
  <dc:creator>Kimi</dc:creator>
  <cp:lastModifiedBy>CHRISTIAN SALLES CASTILHO</cp:lastModifiedBy>
  <cp:revision>7</cp:revision>
  <dcterms:created xsi:type="dcterms:W3CDTF">2026-06-18T00:18:51Z</dcterms:created>
  <dcterms:modified xsi:type="dcterms:W3CDTF">2026-06-18T17:28:54Z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{"Label":"Misturador Industrial IoT","ContentProducer":"001191110108MACG2KBH8F10000","ProduceID":"19ed80d0-a202-8e1a-8000-0000171d1d72","ReservedCode1":"","ContentPropagator":"001191110108MACG2KBH8F20000","PropagateID":"19ed3a7c-4412-879e-8000-09f46c808598","ReservedCode2":""}</vt:lpwstr>
  </property>
  <property fmtid="{D5CDD505-2E9C-101B-9397-08002B2CF9AE}" pid="3" name="ContentTypeId">
    <vt:lpwstr>0x010100E906CED705BBB14EA8B259112D83A03B</vt:lpwstr>
  </property>
</Properties>
</file>