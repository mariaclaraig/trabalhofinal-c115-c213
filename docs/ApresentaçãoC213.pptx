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7" r:id="rId3"/>
    <p:sldId id="268" r:id="rId4"/>
    <p:sldId id="260" r:id="rId5"/>
    <p:sldId id="274" r:id="rId6"/>
    <p:sldId id="262" r:id="rId7"/>
    <p:sldId id="270" r:id="rId8"/>
    <p:sldId id="271" r:id="rId9"/>
    <p:sldId id="27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82C11-4E0F-DDDF-15BA-F12FFA9B0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157385-04FB-92AF-824C-6EF77BF46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EC0795-6BD8-0482-822E-893BEEC02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1F60-2568-43E6-BD3C-31F197EC37C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23B5C8-9541-C908-EF15-979EA75F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AEAA25-CE2E-8F80-AE4F-582C5278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715-D874-4573-949F-AEC8173F5D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91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7ABED-02A5-DB55-F060-4E0A60AD4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622D3F-EA7F-61B3-8902-62EDA7F6A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F9AFAC-9105-995F-380A-913A22E1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1F60-2568-43E6-BD3C-31F197EC37C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E6C70-1F59-E456-1C3A-159B568B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B33E4C-1539-C0BF-6224-9E23D8D1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715-D874-4573-949F-AEC8173F5D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75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E7E34-1CBD-6186-A719-C702D17BF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EFB2C4-3B70-02DD-0EEF-28A58BF54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32CDC4-A690-8B1F-CE08-71B60E2D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1F60-2568-43E6-BD3C-31F197EC37C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5D1583-3AB3-8D4D-CE72-5C3C2FE0D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C99FC1-07DB-93D5-B9E6-21D83B171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715-D874-4573-949F-AEC8173F5D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43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314F5-4080-A60C-BF66-B298A7AFB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4B70AB-B384-AB94-E782-1270BC2623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2CD608-CC07-1FCD-C6C3-553DC6C1D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01C053-2FE4-BD25-C548-EE03D988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1F60-2568-43E6-BD3C-31F197EC37C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92318B-0663-4325-D95C-9F1711E51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EF711F-C57B-E253-8929-F26E43D3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715-D874-4573-949F-AEC8173F5D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850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72C10-A778-E0F3-16A4-040E21ED6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4044DD-96B6-36AF-8E9D-F9B4841F6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9A7C4F-836F-FA52-8556-C669FFDCF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AB3217-C790-E58B-95BA-E312FD552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84AA0DD-32BF-1BE1-0CD1-2D7678D7A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7D3A9D7-8470-7050-02B0-F8EC3AB4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1F60-2568-43E6-BD3C-31F197EC37C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12B36F6-6639-EC38-AE8A-7CAE29D0C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4F1CBDA-CF23-E593-3AC5-53CD7038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715-D874-4573-949F-AEC8173F5D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51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748148-2552-7069-DBA1-A61424921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1DEB43-1C91-915E-F407-80AC1749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1F60-2568-43E6-BD3C-31F197EC37C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26ECDD-8A95-7901-04AE-D67A4AF8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94A848-AEA7-6F72-3990-AAF68297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715-D874-4573-949F-AEC8173F5D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209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F954FD7-87DD-3EA3-8B30-B7873C67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1F60-2568-43E6-BD3C-31F197EC37C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393E897-EFF9-9FDD-AC6A-E41F49BF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57E18C-2F5B-883E-AF73-F35305C7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715-D874-4573-949F-AEC8173F5D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206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8B9F4-4F88-B275-0535-A0EA1444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2DEE94-1131-0EE8-B9BE-E4B716B55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365164-D05A-3FC9-4214-061AF4487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3A636D-F0FD-6F4C-0A27-99F13A04A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1F60-2568-43E6-BD3C-31F197EC37C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7CA54D-78F9-A457-C427-EBA693F5A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FE5C21-3504-6FC4-0E9F-BDBDE663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715-D874-4573-949F-AEC8173F5D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422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66FA9-C7EB-541A-BCF6-A4FD637B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5AB785B-814A-69E1-F685-F728E1A99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2E9C04-63BE-9E50-DFFE-7CB382657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AFC646-7FD7-911E-948F-7D86F54E3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1F60-2568-43E6-BD3C-31F197EC37C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6D5E39-9AE4-5D53-1149-8D28E80F6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A0F363-4B25-29A1-63A7-236C30F85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715-D874-4573-949F-AEC8173F5D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6958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93F75-7621-7D4F-09EB-D429AE2C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04D7424-B053-9D7F-9CAA-F5845855A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F741A6-5C32-7DE2-2428-CA947C8B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1F60-2568-43E6-BD3C-31F197EC37C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269C86-EE8E-41E0-64A3-E4BAF9B1B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FB53DD-09BF-A767-2EA7-C2E84DE5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715-D874-4573-949F-AEC8173F5D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74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3C6C22-9FFA-22C8-ABF1-4CAECDBD20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4870D4-0867-9C87-41AE-4A812E251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9C4F78-DE78-4DB1-C0AD-86577DEA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1F60-2568-43E6-BD3C-31F197EC37C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470FCD-A537-D6E5-0CFD-4CEE96B15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D77372-A8A3-6E0D-CCE9-CAB57224E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715-D874-4573-949F-AEC8173F5D5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36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2A3A"/>
            </a:gs>
            <a:gs pos="100000">
              <a:srgbClr val="121A2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0AF1A69-9119-D4F8-B9A8-95F0D3CE4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83746E-DEB4-733A-8161-C5B722932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C93523-7B70-DC7E-0119-454DD98F9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51F60-2568-43E6-BD3C-31F197EC37C1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7172DF-5826-600C-A3AB-AF82BC47F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470B24-5588-BF23-3043-D92A6ED80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59715-D874-4573-949F-AEC8173F5D5F}" type="slidenum">
              <a:rPr lang="pt-BR" smtClean="0"/>
              <a:t>‹nº›</a:t>
            </a:fld>
            <a:endParaRPr lang="pt-BR"/>
          </a:p>
        </p:txBody>
      </p:sp>
      <p:grpSp>
        <p:nvGrpSpPr>
          <p:cNvPr id="900" name="Dec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01" name="TopLine"/>
            <p:cNvSpPr/>
            <p:nvPr/>
          </p:nvSpPr>
          <p:spPr>
            <a:xfrm>
              <a:off x="0" y="0"/>
              <a:ext cx="9144000" cy="36000"/>
            </a:xfrm>
            <a:prstGeom prst="rect">
              <a:avLst/>
            </a:prstGeom>
            <a:solidFill>
              <a:srgbClr val="2EE6D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CornerAccent"/>
            <p:cNvSpPr/>
            <p:nvPr/>
          </p:nvSpPr>
          <p:spPr>
            <a:xfrm>
              <a:off x="0" y="6480000"/>
              <a:ext cx="760000" cy="378000"/>
            </a:xfrm>
            <a:prstGeom prst="rtTriangle">
              <a:avLst/>
            </a:prstGeom>
            <a:solidFill>
              <a:srgbClr val="2EE6D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7580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AF2F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B8170E2-7C01-4CE2-9AA4-92A00CBA97AF}"/>
              </a:ext>
            </a:extLst>
          </p:cNvPr>
          <p:cNvSpPr txBox="1"/>
          <p:nvPr/>
        </p:nvSpPr>
        <p:spPr>
          <a:xfrm>
            <a:off x="787400" y="1219200"/>
            <a:ext cx="609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b="1">
                <a:solidFill>
                  <a:srgbClr val="2EE6D6"/>
                </a:solidFill>
                <a:latin typeface="Montserrat"/>
              </a:rPr>
              <a:t>SISTEMAS EMBARCADOS · C213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AB2611-29A3-420F-A726-A424A53F5B09}"/>
              </a:ext>
            </a:extLst>
          </p:cNvPr>
          <p:cNvSpPr txBox="1"/>
          <p:nvPr/>
        </p:nvSpPr>
        <p:spPr>
          <a:xfrm>
            <a:off x="762000" y="1625600"/>
            <a:ext cx="6223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3800" b="1">
                <a:solidFill>
                  <a:srgbClr val="FFFFFF"/>
                </a:solidFill>
                <a:latin typeface="Montserrat"/>
              </a:rPr>
              <a:t>Misturador Industrial com Controle Fuzzy Embarcado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A174485-B1D8-4AD9-BDC7-42A4A36CC0A3}"/>
              </a:ext>
            </a:extLst>
          </p:cNvPr>
          <p:cNvSpPr txBox="1"/>
          <p:nvPr/>
        </p:nvSpPr>
        <p:spPr>
          <a:xfrm>
            <a:off x="787400" y="4216400"/>
            <a:ext cx="5969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dirty="0">
                <a:solidFill>
                  <a:srgbClr val="FFB020"/>
                </a:solidFill>
                <a:latin typeface="Arial"/>
                <a:cs typeface="Arial"/>
              </a:rPr>
              <a:t>ESP32 · </a:t>
            </a:r>
            <a:r>
              <a:rPr lang="pt-BR" dirty="0" err="1">
                <a:solidFill>
                  <a:srgbClr val="FFB020"/>
                </a:solidFill>
                <a:latin typeface="Arial"/>
                <a:cs typeface="Arial"/>
              </a:rPr>
              <a:t>Encoder</a:t>
            </a:r>
            <a:r>
              <a:rPr lang="pt-BR" dirty="0">
                <a:solidFill>
                  <a:srgbClr val="FFB020"/>
                </a:solidFill>
                <a:latin typeface="Arial"/>
                <a:cs typeface="Arial"/>
              </a:rPr>
              <a:t> Hall · PWM · Controle em malha fechada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E1EE647-624F-4935-8AC7-8EF8D9688F84}"/>
              </a:ext>
            </a:extLst>
          </p:cNvPr>
          <p:cNvSpPr/>
          <p:nvPr/>
        </p:nvSpPr>
        <p:spPr>
          <a:xfrm>
            <a:off x="812800" y="4978400"/>
            <a:ext cx="762000" cy="50800"/>
          </a:xfrm>
          <a:prstGeom prst="rect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5F0759E-9C50-4E1E-93C8-3087320333B7}"/>
              </a:ext>
            </a:extLst>
          </p:cNvPr>
          <p:cNvSpPr txBox="1"/>
          <p:nvPr/>
        </p:nvSpPr>
        <p:spPr>
          <a:xfrm>
            <a:off x="787400" y="5207000"/>
            <a:ext cx="609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500">
                <a:solidFill>
                  <a:srgbClr val="EAF2F5"/>
                </a:solidFill>
                <a:latin typeface="Arial"/>
                <a:cs typeface="Arial"/>
              </a:rPr>
              <a:t>Christian Salles   ·   Maria Clara Ignácio   ·   Samuel Ralise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8F14309-E7D6-4021-A3D9-4DD314427E1C}"/>
              </a:ext>
            </a:extLst>
          </p:cNvPr>
          <p:cNvSpPr/>
          <p:nvPr/>
        </p:nvSpPr>
        <p:spPr>
          <a:xfrm>
            <a:off x="8141111" y="1347019"/>
            <a:ext cx="2546554" cy="3986981"/>
          </a:xfrm>
          <a:prstGeom prst="roundRect">
            <a:avLst/>
          </a:prstGeom>
          <a:solidFill>
            <a:srgbClr val="1A2736"/>
          </a:solidFill>
          <a:ln w="15875" cap="flat" cmpd="sng" algn="ctr">
            <a:solidFill>
              <a:srgbClr val="2EE6D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endParaRPr lang="pt-BR" sz="1500" dirty="0">
              <a:solidFill>
                <a:srgbClr val="8FA3B5"/>
              </a:solidFill>
              <a:latin typeface="Arial"/>
              <a:cs typeface="Arial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1F16D7E-9BEC-4FC0-88F3-52E773C79089}"/>
              </a:ext>
            </a:extLst>
          </p:cNvPr>
          <p:cNvSpPr/>
          <p:nvPr/>
        </p:nvSpPr>
        <p:spPr>
          <a:xfrm>
            <a:off x="7326672" y="5486400"/>
            <a:ext cx="965200" cy="3810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2EE6D6"/>
                </a:solidFill>
                <a:latin typeface="Arial"/>
                <a:cs typeface="Arial"/>
              </a:rPr>
              <a:t>ESP32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B6027F7-FD30-4EEC-B88D-875C67034609}"/>
              </a:ext>
            </a:extLst>
          </p:cNvPr>
          <p:cNvSpPr/>
          <p:nvPr/>
        </p:nvSpPr>
        <p:spPr>
          <a:xfrm>
            <a:off x="8358854" y="5486400"/>
            <a:ext cx="994696" cy="3810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 b="1" dirty="0" err="1">
                <a:solidFill>
                  <a:srgbClr val="2EE6D6"/>
                </a:solidFill>
                <a:latin typeface="Arial"/>
                <a:cs typeface="Arial"/>
              </a:rPr>
              <a:t>Encoder</a:t>
            </a:r>
            <a:r>
              <a:rPr lang="pt-BR" sz="1100" b="1" dirty="0">
                <a:solidFill>
                  <a:srgbClr val="2EE6D6"/>
                </a:solidFill>
                <a:latin typeface="Arial"/>
                <a:cs typeface="Arial"/>
              </a:rPr>
              <a:t> Hall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8263958-822D-4893-9070-DEEFA4E748BB}"/>
              </a:ext>
            </a:extLst>
          </p:cNvPr>
          <p:cNvSpPr/>
          <p:nvPr/>
        </p:nvSpPr>
        <p:spPr>
          <a:xfrm>
            <a:off x="9410700" y="5486400"/>
            <a:ext cx="994696" cy="3810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 b="1" dirty="0">
                <a:solidFill>
                  <a:srgbClr val="FFB020"/>
                </a:solidFill>
                <a:latin typeface="Arial"/>
                <a:cs typeface="Arial"/>
              </a:rPr>
              <a:t>Driver L298N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843F2DC-A01B-4010-829D-6EB5C1D76E20}"/>
              </a:ext>
            </a:extLst>
          </p:cNvPr>
          <p:cNvSpPr/>
          <p:nvPr/>
        </p:nvSpPr>
        <p:spPr>
          <a:xfrm>
            <a:off x="10462546" y="5486400"/>
            <a:ext cx="965200" cy="3810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EAF2F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EAF2F5"/>
                </a:solidFill>
                <a:latin typeface="Arial"/>
                <a:cs typeface="Arial"/>
              </a:rPr>
              <a:t>Motor DC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1873DF4-5490-A22F-F5DE-8522F5C11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200" y="1437148"/>
            <a:ext cx="2191979" cy="383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07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916B126-B8EE-4308-B450-7CE686F0D9DC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>
                <a:solidFill>
                  <a:srgbClr val="2EE6D6"/>
                </a:solidFill>
                <a:latin typeface="Montserrat"/>
              </a:rPr>
              <a:t>PROBLEMA DE CONTROLE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9AB249-8406-4BFA-B34F-77789C7F90CA}"/>
              </a:ext>
            </a:extLst>
          </p:cNvPr>
          <p:cNvSpPr txBox="1"/>
          <p:nvPr/>
        </p:nvSpPr>
        <p:spPr>
          <a:xfrm>
            <a:off x="762000" y="762000"/>
            <a:ext cx="10820400" cy="5078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700" b="1" dirty="0">
                <a:solidFill>
                  <a:srgbClr val="FFFFFF"/>
                </a:solidFill>
                <a:latin typeface="Montserrat"/>
              </a:rPr>
              <a:t>O desafio: manter a rotação mesmo com variação de carga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77976C9-9157-4A9B-8ADE-C7B885CB7E58}"/>
              </a:ext>
            </a:extLst>
          </p:cNvPr>
          <p:cNvSpPr/>
          <p:nvPr/>
        </p:nvSpPr>
        <p:spPr>
          <a:xfrm>
            <a:off x="787400" y="1397000"/>
            <a:ext cx="609600" cy="3810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91D88D4-F76B-4DC5-90C8-9379B3885951}"/>
              </a:ext>
            </a:extLst>
          </p:cNvPr>
          <p:cNvSpPr/>
          <p:nvPr/>
        </p:nvSpPr>
        <p:spPr>
          <a:xfrm>
            <a:off x="889000" y="1905000"/>
            <a:ext cx="2921000" cy="2540000"/>
          </a:xfrm>
          <a:prstGeom prst="roundRect">
            <a:avLst/>
          </a:prstGeom>
          <a:solidFill>
            <a:srgbClr val="1A2736"/>
          </a:solidFill>
          <a:ln w="1905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14D385B-F5DF-4DCD-BB4D-801FC7B6DF59}"/>
              </a:ext>
            </a:extLst>
          </p:cNvPr>
          <p:cNvSpPr/>
          <p:nvPr/>
        </p:nvSpPr>
        <p:spPr>
          <a:xfrm>
            <a:off x="1016000" y="3175000"/>
            <a:ext cx="2667000" cy="1168400"/>
          </a:xfrm>
          <a:prstGeom prst="rect">
            <a:avLst/>
          </a:prstGeom>
          <a:solidFill>
            <a:srgbClr val="173A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843E54C-C50C-4F44-8B72-92121B07EA3F}"/>
              </a:ext>
            </a:extLst>
          </p:cNvPr>
          <p:cNvSpPr/>
          <p:nvPr/>
        </p:nvSpPr>
        <p:spPr>
          <a:xfrm>
            <a:off x="2298700" y="2006600"/>
            <a:ext cx="101600" cy="1905000"/>
          </a:xfrm>
          <a:prstGeom prst="rect">
            <a:avLst/>
          </a:prstGeom>
          <a:solidFill>
            <a:srgbClr val="8FA3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E0E315D-24DD-40BD-AB5A-337E1CD93F16}"/>
              </a:ext>
            </a:extLst>
          </p:cNvPr>
          <p:cNvSpPr/>
          <p:nvPr/>
        </p:nvSpPr>
        <p:spPr>
          <a:xfrm>
            <a:off x="1651000" y="3810000"/>
            <a:ext cx="1397000" cy="152400"/>
          </a:xfrm>
          <a:prstGeom prst="rect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7219705-5EC3-4C14-BB0D-CB778F5EC27F}"/>
              </a:ext>
            </a:extLst>
          </p:cNvPr>
          <p:cNvSpPr/>
          <p:nvPr/>
        </p:nvSpPr>
        <p:spPr>
          <a:xfrm>
            <a:off x="1905000" y="1676400"/>
            <a:ext cx="889000" cy="3302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EAF2F5"/>
                </a:solidFill>
              </a:rPr>
              <a:t>Motor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F7E9189-E535-4079-92C6-86502FC3223B}"/>
              </a:ext>
            </a:extLst>
          </p:cNvPr>
          <p:cNvSpPr/>
          <p:nvPr/>
        </p:nvSpPr>
        <p:spPr>
          <a:xfrm>
            <a:off x="889000" y="4648200"/>
            <a:ext cx="889000" cy="279400"/>
          </a:xfrm>
          <a:prstGeom prst="rect">
            <a:avLst/>
          </a:prstGeom>
          <a:solidFill>
            <a:srgbClr val="173A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EAF2F5"/>
                </a:solidFill>
              </a:rPr>
              <a:t>Baixa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FE1DC94-C533-4F4F-8D7B-34ADAF7D66DD}"/>
              </a:ext>
            </a:extLst>
          </p:cNvPr>
          <p:cNvSpPr/>
          <p:nvPr/>
        </p:nvSpPr>
        <p:spPr>
          <a:xfrm>
            <a:off x="1816100" y="4648200"/>
            <a:ext cx="889000" cy="279400"/>
          </a:xfrm>
          <a:prstGeom prst="rect">
            <a:avLst/>
          </a:prstGeom>
          <a:solidFill>
            <a:srgbClr val="1C5A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EAF2F5"/>
                </a:solidFill>
              </a:rPr>
              <a:t>Média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288344D-1ED8-40B3-9DA8-0BE00786F23B}"/>
              </a:ext>
            </a:extLst>
          </p:cNvPr>
          <p:cNvSpPr/>
          <p:nvPr/>
        </p:nvSpPr>
        <p:spPr>
          <a:xfrm>
            <a:off x="2743200" y="4648200"/>
            <a:ext cx="889000" cy="27940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08222A"/>
                </a:solidFill>
              </a:rPr>
              <a:t>Alta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EB6D40B-F868-484D-9ACA-430A861D910B}"/>
              </a:ext>
            </a:extLst>
          </p:cNvPr>
          <p:cNvSpPr txBox="1"/>
          <p:nvPr/>
        </p:nvSpPr>
        <p:spPr>
          <a:xfrm>
            <a:off x="889000" y="4978400"/>
            <a:ext cx="292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100" i="1">
                <a:solidFill>
                  <a:srgbClr val="8FA3B5"/>
                </a:solidFill>
              </a:rPr>
              <a:t>Carga: baixa · média · alta →</a:t>
            </a:r>
          </a:p>
        </p:txBody>
      </p:sp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09B249CE-AA87-45BA-92C6-7AF051AD84EE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1930400"/>
          <a:ext cx="685800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476749842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55310966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Variável</a:t>
                      </a:r>
                    </a:p>
                  </a:txBody>
                  <a:tcPr anchor="ctr">
                    <a:solidFill>
                      <a:srgbClr val="2EE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Faixa ou condição</a:t>
                      </a:r>
                    </a:p>
                  </a:txBody>
                  <a:tcPr anchor="ctr">
                    <a:solidFill>
                      <a:srgbClr val="2E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1257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Velocidade controlada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EAF2F5"/>
                          </a:solidFill>
                          <a:latin typeface="Arial"/>
                          <a:cs typeface="Arial"/>
                        </a:rPr>
                        <a:t>0 a aproximadamente 200 RPM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3352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Set points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EAF2F5"/>
                          </a:solidFill>
                          <a:latin typeface="Arial"/>
                          <a:cs typeface="Arial"/>
                        </a:rPr>
                        <a:t>60, 120 e 180 RPM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88092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PWM manipulado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EAF2F5"/>
                          </a:solidFill>
                          <a:latin typeface="Arial"/>
                          <a:cs typeface="Arial"/>
                        </a:rPr>
                        <a:t>0 a 100%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825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Perturbação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EAF2F5"/>
                          </a:solidFill>
                          <a:latin typeface="Arial"/>
                          <a:cs typeface="Arial"/>
                        </a:rPr>
                        <a:t>carga mecânica leve a elevada, sem sensor de torque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533750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BE2A27B-CDBD-44E8-9148-39E287CF34A8}"/>
              </a:ext>
            </a:extLst>
          </p:cNvPr>
          <p:cNvSpPr/>
          <p:nvPr/>
        </p:nvSpPr>
        <p:spPr>
          <a:xfrm>
            <a:off x="4572000" y="4572000"/>
            <a:ext cx="6858000" cy="685800"/>
          </a:xfrm>
          <a:prstGeom prst="roundRect">
            <a:avLst/>
          </a:prstGeom>
          <a:solidFill>
            <a:srgbClr val="2A1E12"/>
          </a:solidFill>
          <a:ln w="15875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500" b="1">
                <a:solidFill>
                  <a:srgbClr val="FFB020"/>
                </a:solidFill>
              </a:rPr>
              <a:t>Mais carga  →  queda de RPM  →  controlador aumenta a atuação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86ABB79-08DE-46DF-8B30-749170743558}"/>
              </a:ext>
            </a:extLst>
          </p:cNvPr>
          <p:cNvSpPr/>
          <p:nvPr/>
        </p:nvSpPr>
        <p:spPr>
          <a:xfrm>
            <a:off x="4572000" y="5384800"/>
            <a:ext cx="6858000" cy="1016000"/>
          </a:xfrm>
          <a:prstGeom prst="roundRect">
            <a:avLst/>
          </a:prstGeom>
          <a:solidFill>
            <a:srgbClr val="16242E"/>
          </a:solidFill>
          <a:ln w="1270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pt-BR" sz="1400" b="1" dirty="0">
                <a:solidFill>
                  <a:srgbClr val="2EE6D6"/>
                </a:solidFill>
              </a:rPr>
              <a:t>Por que </a:t>
            </a:r>
            <a:r>
              <a:rPr lang="pt-BR" sz="1400" b="1" dirty="0" err="1">
                <a:solidFill>
                  <a:srgbClr val="2EE6D6"/>
                </a:solidFill>
              </a:rPr>
              <a:t>fuzzy</a:t>
            </a:r>
            <a:r>
              <a:rPr lang="pt-BR" sz="1400" b="1" dirty="0">
                <a:solidFill>
                  <a:srgbClr val="2EE6D6"/>
                </a:solidFill>
              </a:rPr>
              <a:t>?  </a:t>
            </a:r>
            <a:r>
              <a:rPr lang="pt-BR" sz="1400" b="0" dirty="0">
                <a:solidFill>
                  <a:srgbClr val="EAF2F5"/>
                </a:solidFill>
              </a:rPr>
              <a:t>Relação PWM × RPM não linear, zona morta, saturação e carga variável, sem exigir um modelo matemático preciso.</a:t>
            </a:r>
          </a:p>
        </p:txBody>
      </p:sp>
    </p:spTree>
    <p:extLst>
      <p:ext uri="{BB962C8B-B14F-4D97-AF65-F5344CB8AC3E}">
        <p14:creationId xmlns:p14="http://schemas.microsoft.com/office/powerpoint/2010/main" val="350547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5EC00138-76CF-46E9-967E-81FD573BB2EE}"/>
              </a:ext>
            </a:extLst>
          </p:cNvPr>
          <p:cNvSpPr/>
          <p:nvPr/>
        </p:nvSpPr>
        <p:spPr>
          <a:xfrm>
            <a:off x="2032000" y="1905000"/>
            <a:ext cx="4089400" cy="1168400"/>
          </a:xfrm>
          <a:prstGeom prst="roundRect">
            <a:avLst/>
          </a:prstGeom>
          <a:noFill/>
          <a:ln w="15875" cap="flat" cmpd="sng" algn="ctr">
            <a:solidFill>
              <a:srgbClr val="2EE6D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E3470AD-40BC-419A-9C09-E65CD60BB7A9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>
                <a:solidFill>
                  <a:srgbClr val="2EE6D6"/>
                </a:solidFill>
                <a:latin typeface="Montserrat"/>
              </a:rPr>
              <a:t>PLANTA E HARDWARE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5A77FD-C73F-4285-A020-371E2CDB108C}"/>
              </a:ext>
            </a:extLst>
          </p:cNvPr>
          <p:cNvSpPr txBox="1"/>
          <p:nvPr/>
        </p:nvSpPr>
        <p:spPr>
          <a:xfrm>
            <a:off x="762000" y="762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700" b="1">
                <a:solidFill>
                  <a:srgbClr val="FFFFFF"/>
                </a:solidFill>
                <a:latin typeface="Montserrat"/>
              </a:rPr>
              <a:t>Malha fechada executada no ESP32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C847991-E887-4566-8B9D-B0BE27A472E9}"/>
              </a:ext>
            </a:extLst>
          </p:cNvPr>
          <p:cNvSpPr/>
          <p:nvPr/>
        </p:nvSpPr>
        <p:spPr>
          <a:xfrm>
            <a:off x="787400" y="1397000"/>
            <a:ext cx="609600" cy="3810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1BAD452-489E-499F-A3F5-0F98DE58A9AA}"/>
              </a:ext>
            </a:extLst>
          </p:cNvPr>
          <p:cNvSpPr/>
          <p:nvPr/>
        </p:nvSpPr>
        <p:spPr>
          <a:xfrm>
            <a:off x="2133600" y="2349500"/>
            <a:ext cx="508000" cy="508000"/>
          </a:xfrm>
          <a:prstGeom prst="ellipse">
            <a:avLst/>
          </a:prstGeom>
          <a:solidFill>
            <a:srgbClr val="22303F"/>
          </a:solidFill>
          <a:ln w="1905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l-GR" b="1">
                <a:solidFill>
                  <a:srgbClr val="FFB020"/>
                </a:solidFill>
              </a:rPr>
              <a:t>Σ</a:t>
            </a:r>
            <a:endParaRPr lang="pt-BR" b="1">
              <a:solidFill>
                <a:srgbClr val="FFB020"/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0B99669-6F90-49D7-8C5C-11219E2447A6}"/>
              </a:ext>
            </a:extLst>
          </p:cNvPr>
          <p:cNvSpPr/>
          <p:nvPr/>
        </p:nvSpPr>
        <p:spPr>
          <a:xfrm>
            <a:off x="558800" y="2260600"/>
            <a:ext cx="1371600" cy="685800"/>
          </a:xfrm>
          <a:prstGeom prst="roundRect">
            <a:avLst/>
          </a:prstGeom>
          <a:solidFill>
            <a:srgbClr val="2A1E12"/>
          </a:solidFill>
          <a:ln w="1905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EAF2F5"/>
                </a:solidFill>
                <a:latin typeface="Arial"/>
                <a:cs typeface="Arial"/>
              </a:rPr>
              <a:t>Set point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07BB268C-AEE6-4CCF-9563-EA9820F689F7}"/>
              </a:ext>
            </a:extLst>
          </p:cNvPr>
          <p:cNvSpPr/>
          <p:nvPr/>
        </p:nvSpPr>
        <p:spPr>
          <a:xfrm>
            <a:off x="1955800" y="2489200"/>
            <a:ext cx="254000" cy="2286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719028FA-C288-40DF-99EB-DBDBA72E5503}"/>
              </a:ext>
            </a:extLst>
          </p:cNvPr>
          <p:cNvSpPr/>
          <p:nvPr/>
        </p:nvSpPr>
        <p:spPr>
          <a:xfrm>
            <a:off x="2692400" y="2489200"/>
            <a:ext cx="254000" cy="2286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D59F6DC-491E-4289-8FFA-1137F7093DFD}"/>
              </a:ext>
            </a:extLst>
          </p:cNvPr>
          <p:cNvSpPr/>
          <p:nvPr/>
        </p:nvSpPr>
        <p:spPr>
          <a:xfrm>
            <a:off x="2997200" y="2260600"/>
            <a:ext cx="1524000" cy="685800"/>
          </a:xfrm>
          <a:prstGeom prst="roundRect">
            <a:avLst/>
          </a:prstGeom>
          <a:solidFill>
            <a:srgbClr val="1A2736"/>
          </a:solidFill>
          <a:ln w="1905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 dirty="0">
                <a:solidFill>
                  <a:srgbClr val="EAF2F5"/>
                </a:solidFill>
                <a:latin typeface="Arial"/>
                <a:cs typeface="Arial"/>
              </a:rPr>
              <a:t>Controlador </a:t>
            </a:r>
            <a:r>
              <a:rPr lang="pt-BR" sz="1300" b="1" dirty="0" err="1">
                <a:solidFill>
                  <a:srgbClr val="EAF2F5"/>
                </a:solidFill>
                <a:latin typeface="Arial"/>
                <a:cs typeface="Arial"/>
              </a:rPr>
              <a:t>Fuzzy</a:t>
            </a:r>
            <a:endParaRPr lang="pt-BR" sz="1300" b="1" dirty="0">
              <a:solidFill>
                <a:srgbClr val="EAF2F5"/>
              </a:solidFill>
              <a:latin typeface="Arial"/>
              <a:cs typeface="Arial"/>
            </a:endParaRP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3A317114-18CB-428A-9CB5-1D0101487603}"/>
              </a:ext>
            </a:extLst>
          </p:cNvPr>
          <p:cNvSpPr/>
          <p:nvPr/>
        </p:nvSpPr>
        <p:spPr>
          <a:xfrm>
            <a:off x="4546600" y="2489200"/>
            <a:ext cx="254000" cy="2286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5924874-1A5B-446A-B90D-4FA559E27592}"/>
              </a:ext>
            </a:extLst>
          </p:cNvPr>
          <p:cNvSpPr/>
          <p:nvPr/>
        </p:nvSpPr>
        <p:spPr>
          <a:xfrm>
            <a:off x="4851400" y="2260600"/>
            <a:ext cx="1168400" cy="685800"/>
          </a:xfrm>
          <a:prstGeom prst="roundRect">
            <a:avLst/>
          </a:prstGeom>
          <a:solidFill>
            <a:srgbClr val="1A2736"/>
          </a:solidFill>
          <a:ln w="1905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EAF2F5"/>
                </a:solidFill>
                <a:latin typeface="Arial"/>
                <a:cs typeface="Arial"/>
              </a:rPr>
              <a:t>PWM</a:t>
            </a: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849C577A-B3F1-42A2-A4C3-E62B4B7C31B3}"/>
              </a:ext>
            </a:extLst>
          </p:cNvPr>
          <p:cNvSpPr/>
          <p:nvPr/>
        </p:nvSpPr>
        <p:spPr>
          <a:xfrm>
            <a:off x="6045200" y="2489200"/>
            <a:ext cx="254000" cy="2286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135188D-8B90-4C02-9C86-A04937DDB113}"/>
              </a:ext>
            </a:extLst>
          </p:cNvPr>
          <p:cNvSpPr/>
          <p:nvPr/>
        </p:nvSpPr>
        <p:spPr>
          <a:xfrm>
            <a:off x="6350000" y="2260600"/>
            <a:ext cx="1371600" cy="685800"/>
          </a:xfrm>
          <a:prstGeom prst="roundRect">
            <a:avLst/>
          </a:prstGeom>
          <a:solidFill>
            <a:srgbClr val="1A2736"/>
          </a:solidFill>
          <a:ln w="19050" cap="flat" cmpd="sng" algn="ctr">
            <a:solidFill>
              <a:srgbClr val="8FA3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EAF2F5"/>
                </a:solidFill>
                <a:latin typeface="Arial"/>
                <a:cs typeface="Arial"/>
              </a:rPr>
              <a:t>L298N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A4EA2D19-30EB-4B72-92DD-16834F99125B}"/>
              </a:ext>
            </a:extLst>
          </p:cNvPr>
          <p:cNvSpPr/>
          <p:nvPr/>
        </p:nvSpPr>
        <p:spPr>
          <a:xfrm>
            <a:off x="7747000" y="2489200"/>
            <a:ext cx="254000" cy="2286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91C3FA3-2385-426E-A9DA-F36FFBBB7D77}"/>
              </a:ext>
            </a:extLst>
          </p:cNvPr>
          <p:cNvSpPr/>
          <p:nvPr/>
        </p:nvSpPr>
        <p:spPr>
          <a:xfrm>
            <a:off x="8051800" y="2260600"/>
            <a:ext cx="1422400" cy="685800"/>
          </a:xfrm>
          <a:prstGeom prst="roundRect">
            <a:avLst/>
          </a:prstGeom>
          <a:solidFill>
            <a:srgbClr val="1A2736"/>
          </a:solidFill>
          <a:ln w="19050" cap="flat" cmpd="sng" algn="ctr">
            <a:solidFill>
              <a:srgbClr val="8FA3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EAF2F5"/>
                </a:solidFill>
                <a:latin typeface="Arial"/>
                <a:cs typeface="Arial"/>
              </a:rPr>
              <a:t>Motor DC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E92D8D6-C2E5-456A-AE1B-CB1E18C52295}"/>
              </a:ext>
            </a:extLst>
          </p:cNvPr>
          <p:cNvSpPr txBox="1"/>
          <p:nvPr/>
        </p:nvSpPr>
        <p:spPr>
          <a:xfrm>
            <a:off x="2590800" y="2032000"/>
            <a:ext cx="5842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 i="1">
                <a:solidFill>
                  <a:srgbClr val="8FA3B5"/>
                </a:solidFill>
              </a:rPr>
              <a:t>erro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12D993C-70A8-4195-85FB-9929223C7894}"/>
              </a:ext>
            </a:extLst>
          </p:cNvPr>
          <p:cNvSpPr txBox="1"/>
          <p:nvPr/>
        </p:nvSpPr>
        <p:spPr>
          <a:xfrm>
            <a:off x="4495800" y="2032000"/>
            <a:ext cx="38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000" i="1">
                <a:solidFill>
                  <a:srgbClr val="8FA3B5"/>
                </a:solidFill>
              </a:rPr>
              <a:t>Δ</a:t>
            </a:r>
            <a:r>
              <a:rPr lang="pt-BR" sz="1000" i="1">
                <a:solidFill>
                  <a:srgbClr val="8FA3B5"/>
                </a:solidFill>
              </a:rPr>
              <a:t>u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755D569-0C98-47BE-8091-B9CFCB03D7DC}"/>
              </a:ext>
            </a:extLst>
          </p:cNvPr>
          <p:cNvSpPr txBox="1"/>
          <p:nvPr/>
        </p:nvSpPr>
        <p:spPr>
          <a:xfrm>
            <a:off x="2057400" y="16764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>
                <a:solidFill>
                  <a:srgbClr val="2EE6D6"/>
                </a:solidFill>
                <a:latin typeface="Montserrat"/>
              </a:rPr>
              <a:t>ESP32 — controle local</a:t>
            </a:r>
          </a:p>
        </p:txBody>
      </p:sp>
      <p:sp>
        <p:nvSpPr>
          <p:cNvPr id="20" name="Seta: para Baixo 19">
            <a:extLst>
              <a:ext uri="{FF2B5EF4-FFF2-40B4-BE49-F238E27FC236}">
                <a16:creationId xmlns:a16="http://schemas.microsoft.com/office/drawing/2014/main" id="{038408C9-EED8-48BC-B587-39011A2130BF}"/>
              </a:ext>
            </a:extLst>
          </p:cNvPr>
          <p:cNvSpPr/>
          <p:nvPr/>
        </p:nvSpPr>
        <p:spPr>
          <a:xfrm>
            <a:off x="8636000" y="1752600"/>
            <a:ext cx="254000" cy="508000"/>
          </a:xfrm>
          <a:prstGeom prst="downArrow">
            <a:avLst/>
          </a:prstGeom>
          <a:solidFill>
            <a:srgbClr val="FF52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23A03EC-63CF-466F-9F07-9C866E3E4EFA}"/>
              </a:ext>
            </a:extLst>
          </p:cNvPr>
          <p:cNvSpPr txBox="1"/>
          <p:nvPr/>
        </p:nvSpPr>
        <p:spPr>
          <a:xfrm>
            <a:off x="8102600" y="1473200"/>
            <a:ext cx="203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100" b="1">
                <a:solidFill>
                  <a:srgbClr val="FF5252"/>
                </a:solidFill>
              </a:rPr>
              <a:t>carga mecânica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906CF34-3A93-4130-BFA6-4A15C9031971}"/>
              </a:ext>
            </a:extLst>
          </p:cNvPr>
          <p:cNvSpPr/>
          <p:nvPr/>
        </p:nvSpPr>
        <p:spPr>
          <a:xfrm>
            <a:off x="8737600" y="2946400"/>
            <a:ext cx="31750" cy="88900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8EC31D0-5BF9-4968-BEB2-10ECD7662DD5}"/>
              </a:ext>
            </a:extLst>
          </p:cNvPr>
          <p:cNvSpPr/>
          <p:nvPr/>
        </p:nvSpPr>
        <p:spPr>
          <a:xfrm>
            <a:off x="2413000" y="3810000"/>
            <a:ext cx="6350000" cy="3175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20265CC-3402-466F-862D-685C32D9E779}"/>
              </a:ext>
            </a:extLst>
          </p:cNvPr>
          <p:cNvSpPr/>
          <p:nvPr/>
        </p:nvSpPr>
        <p:spPr>
          <a:xfrm>
            <a:off x="2387600" y="2946400"/>
            <a:ext cx="31750" cy="88900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Seta: para Cima 24">
            <a:extLst>
              <a:ext uri="{FF2B5EF4-FFF2-40B4-BE49-F238E27FC236}">
                <a16:creationId xmlns:a16="http://schemas.microsoft.com/office/drawing/2014/main" id="{312B832C-E150-4EDC-A758-9EC857921929}"/>
              </a:ext>
            </a:extLst>
          </p:cNvPr>
          <p:cNvSpPr/>
          <p:nvPr/>
        </p:nvSpPr>
        <p:spPr>
          <a:xfrm>
            <a:off x="2311400" y="2844800"/>
            <a:ext cx="177800" cy="177800"/>
          </a:xfrm>
          <a:prstGeom prst="upArrow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6616B8F5-5A9A-442F-97C8-3A03DB75B31A}"/>
              </a:ext>
            </a:extLst>
          </p:cNvPr>
          <p:cNvSpPr/>
          <p:nvPr/>
        </p:nvSpPr>
        <p:spPr>
          <a:xfrm>
            <a:off x="4699000" y="3594100"/>
            <a:ext cx="1778000" cy="457200"/>
          </a:xfrm>
          <a:prstGeom prst="roundRect">
            <a:avLst/>
          </a:prstGeom>
          <a:solidFill>
            <a:srgbClr val="1A2736"/>
          </a:solidFill>
          <a:ln w="1905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2EE6D6"/>
                </a:solidFill>
              </a:rPr>
              <a:t>Encoder Hall · RPM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C64F201-1315-4181-9142-2FE8217D72F9}"/>
              </a:ext>
            </a:extLst>
          </p:cNvPr>
          <p:cNvSpPr/>
          <p:nvPr/>
        </p:nvSpPr>
        <p:spPr>
          <a:xfrm>
            <a:off x="520700" y="4445000"/>
            <a:ext cx="2476500" cy="9144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EE6D6"/>
                </a:solidFill>
                <a:latin typeface="Arial"/>
                <a:cs typeface="Arial"/>
              </a:rPr>
              <a:t>Planta física</a:t>
            </a:r>
          </a:p>
          <a:p>
            <a:pPr algn="l"/>
            <a:r>
              <a:rPr lang="pt-BR" sz="1400" b="0">
                <a:solidFill>
                  <a:srgbClr val="EAF2F5"/>
                </a:solidFill>
                <a:latin typeface="Arial"/>
                <a:cs typeface="Arial"/>
              </a:rPr>
              <a:t>Motor DC + carga + eixo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A17E4483-D87A-4A71-96E4-6F5D5982578E}"/>
              </a:ext>
            </a:extLst>
          </p:cNvPr>
          <p:cNvSpPr/>
          <p:nvPr/>
        </p:nvSpPr>
        <p:spPr>
          <a:xfrm>
            <a:off x="3124200" y="4445000"/>
            <a:ext cx="2476500" cy="9144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 dirty="0">
                <a:solidFill>
                  <a:srgbClr val="2EE6D6"/>
                </a:solidFill>
                <a:latin typeface="Arial"/>
                <a:cs typeface="Arial"/>
              </a:rPr>
              <a:t>RPM máxima medida</a:t>
            </a:r>
          </a:p>
          <a:p>
            <a:pPr algn="l"/>
            <a:r>
              <a:rPr lang="pt-BR" sz="1400" b="0" dirty="0">
                <a:solidFill>
                  <a:srgbClr val="EAF2F5"/>
                </a:solidFill>
                <a:latin typeface="Arial"/>
                <a:cs typeface="Arial"/>
              </a:rPr>
              <a:t>≈ 200 RPM a 100% de PWM, sem carga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EA900EFF-0BD4-4C01-993A-52E433B11D20}"/>
              </a:ext>
            </a:extLst>
          </p:cNvPr>
          <p:cNvSpPr/>
          <p:nvPr/>
        </p:nvSpPr>
        <p:spPr>
          <a:xfrm>
            <a:off x="520700" y="5384800"/>
            <a:ext cx="2476500" cy="9144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EE6D6"/>
                </a:solidFill>
                <a:latin typeface="Arial"/>
                <a:cs typeface="Arial"/>
              </a:rPr>
              <a:t>Encoder</a:t>
            </a:r>
          </a:p>
          <a:p>
            <a:pPr algn="l"/>
            <a:r>
              <a:rPr lang="pt-BR" sz="1400" b="0">
                <a:solidFill>
                  <a:srgbClr val="EAF2F5"/>
                </a:solidFill>
                <a:latin typeface="Arial"/>
                <a:cs typeface="Arial"/>
              </a:rPr>
              <a:t>11 PPR × redução 34:1 = 374 pulsos/volta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BD183CAB-3A96-4BC4-A6B5-95DA1D132482}"/>
              </a:ext>
            </a:extLst>
          </p:cNvPr>
          <p:cNvSpPr/>
          <p:nvPr/>
        </p:nvSpPr>
        <p:spPr>
          <a:xfrm>
            <a:off x="3124200" y="5384800"/>
            <a:ext cx="2476500" cy="9144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EE6D6"/>
                </a:solidFill>
                <a:latin typeface="Arial"/>
                <a:cs typeface="Arial"/>
              </a:rPr>
              <a:t>Controle · PWM</a:t>
            </a:r>
          </a:p>
          <a:p>
            <a:pPr algn="l"/>
            <a:r>
              <a:rPr lang="pt-BR" sz="1400" b="0">
                <a:solidFill>
                  <a:srgbClr val="EAF2F5"/>
                </a:solidFill>
                <a:latin typeface="Arial"/>
                <a:cs typeface="Arial"/>
              </a:rPr>
              <a:t>10 Hz · 20 kHz, 8 bits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86A41CB5-7DC6-D55C-B1FF-455DADB9A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5450" y="3073400"/>
            <a:ext cx="2680674" cy="357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1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7CB50F9-BA19-47E1-B6D0-A965D5F16B8B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>
                <a:solidFill>
                  <a:srgbClr val="2EE6D6"/>
                </a:solidFill>
                <a:latin typeface="Montserrat"/>
              </a:rPr>
              <a:t>FIRMWARE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58AC86-DE50-4365-A39C-BB8996BB8DE5}"/>
              </a:ext>
            </a:extLst>
          </p:cNvPr>
          <p:cNvSpPr txBox="1"/>
          <p:nvPr/>
        </p:nvSpPr>
        <p:spPr>
          <a:xfrm>
            <a:off x="762000" y="762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700" b="1">
                <a:solidFill>
                  <a:srgbClr val="FFFFFF"/>
                </a:solidFill>
                <a:latin typeface="Montserrat"/>
              </a:rPr>
              <a:t>Ciclo de execução embarcado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A4B81F6-EBE6-4328-B017-C6ACFABCA52E}"/>
              </a:ext>
            </a:extLst>
          </p:cNvPr>
          <p:cNvSpPr/>
          <p:nvPr/>
        </p:nvSpPr>
        <p:spPr>
          <a:xfrm>
            <a:off x="787400" y="1397000"/>
            <a:ext cx="609600" cy="3810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Círculo: Vazio 4">
            <a:extLst>
              <a:ext uri="{FF2B5EF4-FFF2-40B4-BE49-F238E27FC236}">
                <a16:creationId xmlns:a16="http://schemas.microsoft.com/office/drawing/2014/main" id="{6F1A440D-C62C-4040-B152-E1DA9285D554}"/>
              </a:ext>
            </a:extLst>
          </p:cNvPr>
          <p:cNvSpPr/>
          <p:nvPr/>
        </p:nvSpPr>
        <p:spPr>
          <a:xfrm>
            <a:off x="889000" y="2095500"/>
            <a:ext cx="1905000" cy="1905000"/>
          </a:xfrm>
          <a:prstGeom prst="donu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D4FB71-72FB-43BA-9259-8F9EEEBDAFBA}"/>
              </a:ext>
            </a:extLst>
          </p:cNvPr>
          <p:cNvSpPr txBox="1"/>
          <p:nvPr/>
        </p:nvSpPr>
        <p:spPr>
          <a:xfrm>
            <a:off x="889000" y="2603500"/>
            <a:ext cx="19050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Montserrat"/>
              </a:rPr>
              <a:t>A cada
100 </a:t>
            </a:r>
            <a:r>
              <a:rPr lang="pt-BR" sz="2000" b="1" dirty="0" err="1">
                <a:solidFill>
                  <a:srgbClr val="FFFFFF"/>
                </a:solidFill>
                <a:latin typeface="Montserrat"/>
              </a:rPr>
              <a:t>ms</a:t>
            </a:r>
            <a:r>
              <a:rPr lang="pt-BR" sz="2000" b="1" dirty="0">
                <a:solidFill>
                  <a:srgbClr val="FFFFFF"/>
                </a:solidFill>
                <a:latin typeface="Montserrat"/>
              </a:rPr>
              <a:t>
10 Hz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0E761AC-86BA-4D24-A133-43AE5A9C11F0}"/>
              </a:ext>
            </a:extLst>
          </p:cNvPr>
          <p:cNvSpPr/>
          <p:nvPr/>
        </p:nvSpPr>
        <p:spPr>
          <a:xfrm>
            <a:off x="698500" y="4318000"/>
            <a:ext cx="2286000" cy="609600"/>
          </a:xfrm>
          <a:prstGeom prst="roundRect">
            <a:avLst/>
          </a:prstGeom>
          <a:solidFill>
            <a:srgbClr val="2A1E12"/>
          </a:solidFill>
          <a:ln w="15875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B020"/>
                </a:solidFill>
              </a:rPr>
              <a:t>Sem delay() no laço principal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A741361-3F37-4C5E-A4B7-501B112D0E31}"/>
              </a:ext>
            </a:extLst>
          </p:cNvPr>
          <p:cNvSpPr/>
          <p:nvPr/>
        </p:nvSpPr>
        <p:spPr>
          <a:xfrm>
            <a:off x="3810000" y="2006600"/>
            <a:ext cx="381000" cy="381000"/>
          </a:xfrm>
          <a:prstGeom prst="ellipse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8222A"/>
                </a:solidFill>
              </a:rPr>
              <a:t>1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022E9EB-6783-48C8-BFF5-0905916C3B40}"/>
              </a:ext>
            </a:extLst>
          </p:cNvPr>
          <p:cNvSpPr/>
          <p:nvPr/>
        </p:nvSpPr>
        <p:spPr>
          <a:xfrm>
            <a:off x="4318000" y="1905000"/>
            <a:ext cx="3810000" cy="558800"/>
          </a:xfrm>
          <a:prstGeom prst="roundRect">
            <a:avLst/>
          </a:prstGeom>
          <a:solidFill>
            <a:srgbClr val="1A2736"/>
          </a:solidFill>
          <a:ln w="12700" cap="flat" cmpd="sng" algn="ctr">
            <a:solidFill>
              <a:srgbClr val="2230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Contar pulsos do encoder por interrupção (ISR)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EBE0804-2B35-4717-B55D-F9FB7153CF0F}"/>
              </a:ext>
            </a:extLst>
          </p:cNvPr>
          <p:cNvSpPr/>
          <p:nvPr/>
        </p:nvSpPr>
        <p:spPr>
          <a:xfrm>
            <a:off x="3810000" y="2628900"/>
            <a:ext cx="381000" cy="381000"/>
          </a:xfrm>
          <a:prstGeom prst="ellipse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8222A"/>
                </a:solidFill>
              </a:rPr>
              <a:t>2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45AB286-E98B-4D5B-BF14-5B1E6BD82CE2}"/>
              </a:ext>
            </a:extLst>
          </p:cNvPr>
          <p:cNvSpPr/>
          <p:nvPr/>
        </p:nvSpPr>
        <p:spPr>
          <a:xfrm>
            <a:off x="4318000" y="2527300"/>
            <a:ext cx="3810000" cy="558800"/>
          </a:xfrm>
          <a:prstGeom prst="roundRect">
            <a:avLst/>
          </a:prstGeom>
          <a:solidFill>
            <a:srgbClr val="1A2736"/>
          </a:solidFill>
          <a:ln w="12700" cap="flat" cmpd="sng" algn="ctr">
            <a:solidFill>
              <a:srgbClr val="2230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Calcular e filtrar a RPM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F282DD7-78ED-43F3-860C-9E00C675FFA3}"/>
              </a:ext>
            </a:extLst>
          </p:cNvPr>
          <p:cNvSpPr/>
          <p:nvPr/>
        </p:nvSpPr>
        <p:spPr>
          <a:xfrm>
            <a:off x="3810000" y="3251200"/>
            <a:ext cx="381000" cy="381000"/>
          </a:xfrm>
          <a:prstGeom prst="ellipse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8222A"/>
                </a:solidFill>
              </a:rPr>
              <a:t>3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2CA2092-07C9-447D-90DA-29AB358F5F8D}"/>
              </a:ext>
            </a:extLst>
          </p:cNvPr>
          <p:cNvSpPr/>
          <p:nvPr/>
        </p:nvSpPr>
        <p:spPr>
          <a:xfrm>
            <a:off x="4318000" y="3149600"/>
            <a:ext cx="3810000" cy="558800"/>
          </a:xfrm>
          <a:prstGeom prst="roundRect">
            <a:avLst/>
          </a:prstGeom>
          <a:solidFill>
            <a:srgbClr val="1A2736"/>
          </a:solidFill>
          <a:ln w="12700" cap="flat" cmpd="sng" algn="ctr">
            <a:solidFill>
              <a:srgbClr val="2230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Erro  e = SP − RPM   e   </a:t>
            </a:r>
            <a:r>
              <a:rPr lang="el-GR" sz="1300">
                <a:solidFill>
                  <a:srgbClr val="EAF2F5"/>
                </a:solidFill>
                <a:latin typeface="Arial"/>
                <a:cs typeface="Arial"/>
              </a:rPr>
              <a:t>Δ</a:t>
            </a:r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e = (e − eₐₙₜ)/</a:t>
            </a:r>
            <a:r>
              <a:rPr lang="el-GR" sz="1300">
                <a:solidFill>
                  <a:srgbClr val="EAF2F5"/>
                </a:solidFill>
                <a:latin typeface="Arial"/>
                <a:cs typeface="Arial"/>
              </a:rPr>
              <a:t>Δ</a:t>
            </a:r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F561BEB-1598-45B7-8987-51B005D315D7}"/>
              </a:ext>
            </a:extLst>
          </p:cNvPr>
          <p:cNvSpPr/>
          <p:nvPr/>
        </p:nvSpPr>
        <p:spPr>
          <a:xfrm>
            <a:off x="3810000" y="3873500"/>
            <a:ext cx="381000" cy="381000"/>
          </a:xfrm>
          <a:prstGeom prst="ellipse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8222A"/>
                </a:solidFill>
              </a:rPr>
              <a:t>4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5DC2DFD-D3B9-45C4-92CB-EB880789F17B}"/>
              </a:ext>
            </a:extLst>
          </p:cNvPr>
          <p:cNvSpPr/>
          <p:nvPr/>
        </p:nvSpPr>
        <p:spPr>
          <a:xfrm>
            <a:off x="4318000" y="3771900"/>
            <a:ext cx="3810000" cy="558800"/>
          </a:xfrm>
          <a:prstGeom prst="roundRect">
            <a:avLst/>
          </a:prstGeom>
          <a:solidFill>
            <a:srgbClr val="1A2736"/>
          </a:solidFill>
          <a:ln w="12700" cap="flat" cmpd="sng" algn="ctr">
            <a:solidFill>
              <a:srgbClr val="2230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Fuzzificação, regras e centroide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7C200B5-A113-4356-A7A0-500EB462E5A1}"/>
              </a:ext>
            </a:extLst>
          </p:cNvPr>
          <p:cNvSpPr/>
          <p:nvPr/>
        </p:nvSpPr>
        <p:spPr>
          <a:xfrm>
            <a:off x="3810000" y="4495800"/>
            <a:ext cx="381000" cy="381000"/>
          </a:xfrm>
          <a:prstGeom prst="ellipse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8222A"/>
                </a:solidFill>
              </a:rPr>
              <a:t>5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84166C1-8599-4C9A-8F51-3722ECF1EC73}"/>
              </a:ext>
            </a:extLst>
          </p:cNvPr>
          <p:cNvSpPr/>
          <p:nvPr/>
        </p:nvSpPr>
        <p:spPr>
          <a:xfrm>
            <a:off x="4318000" y="4394200"/>
            <a:ext cx="3810000" cy="558800"/>
          </a:xfrm>
          <a:prstGeom prst="roundRect">
            <a:avLst/>
          </a:prstGeom>
          <a:solidFill>
            <a:srgbClr val="1A2736"/>
          </a:solidFill>
          <a:ln w="12700" cap="flat" cmpd="sng" algn="ctr">
            <a:solidFill>
              <a:srgbClr val="2230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dirty="0">
                <a:solidFill>
                  <a:srgbClr val="EAF2F5"/>
                </a:solidFill>
                <a:latin typeface="Arial"/>
                <a:cs typeface="Arial"/>
              </a:rPr>
              <a:t>Acumular </a:t>
            </a:r>
            <a:r>
              <a:rPr lang="pt-BR" sz="1300" dirty="0" err="1">
                <a:solidFill>
                  <a:srgbClr val="EAF2F5"/>
                </a:solidFill>
                <a:latin typeface="Arial"/>
                <a:cs typeface="Arial"/>
              </a:rPr>
              <a:t>Δu</a:t>
            </a:r>
            <a:r>
              <a:rPr lang="pt-BR" sz="1300" dirty="0">
                <a:solidFill>
                  <a:srgbClr val="EAF2F5"/>
                </a:solidFill>
                <a:latin typeface="Arial"/>
                <a:cs typeface="Arial"/>
              </a:rPr>
              <a:t> e saturar entre 0 e 100%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57FDC9E-BAC1-467C-9E95-4B729FCFF705}"/>
              </a:ext>
            </a:extLst>
          </p:cNvPr>
          <p:cNvSpPr/>
          <p:nvPr/>
        </p:nvSpPr>
        <p:spPr>
          <a:xfrm>
            <a:off x="3810000" y="5118100"/>
            <a:ext cx="381000" cy="381000"/>
          </a:xfrm>
          <a:prstGeom prst="ellipse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8222A"/>
                </a:solidFill>
              </a:rPr>
              <a:t>6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CAC512E-A054-4D8F-B6B2-655DF292D247}"/>
              </a:ext>
            </a:extLst>
          </p:cNvPr>
          <p:cNvSpPr/>
          <p:nvPr/>
        </p:nvSpPr>
        <p:spPr>
          <a:xfrm>
            <a:off x="4318000" y="5016500"/>
            <a:ext cx="3810000" cy="558800"/>
          </a:xfrm>
          <a:prstGeom prst="roundRect">
            <a:avLst/>
          </a:prstGeom>
          <a:solidFill>
            <a:srgbClr val="1A2736"/>
          </a:solidFill>
          <a:ln w="12700" cap="flat" cmpd="sng" algn="ctr">
            <a:solidFill>
              <a:srgbClr val="2230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Atualizar PWM e métricas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2060322-39CF-468F-96CA-91F8C9275479}"/>
              </a:ext>
            </a:extLst>
          </p:cNvPr>
          <p:cNvSpPr/>
          <p:nvPr/>
        </p:nvSpPr>
        <p:spPr>
          <a:xfrm>
            <a:off x="3810000" y="5740400"/>
            <a:ext cx="381000" cy="381000"/>
          </a:xfrm>
          <a:prstGeom prst="ellipse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8222A"/>
                </a:solidFill>
              </a:rPr>
              <a:t>7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389FD5C-6EEE-4C54-9DBD-4A6F86B4E03B}"/>
              </a:ext>
            </a:extLst>
          </p:cNvPr>
          <p:cNvSpPr/>
          <p:nvPr/>
        </p:nvSpPr>
        <p:spPr>
          <a:xfrm>
            <a:off x="4318000" y="5638800"/>
            <a:ext cx="3810000" cy="558800"/>
          </a:xfrm>
          <a:prstGeom prst="roundRect">
            <a:avLst/>
          </a:prstGeom>
          <a:solidFill>
            <a:srgbClr val="1A2736"/>
          </a:solidFill>
          <a:ln w="12700" cap="flat" cmpd="sng" algn="ctr">
            <a:solidFill>
              <a:srgbClr val="2230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Publicar telemetria (MQTT)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7CEE85B-029C-46B2-A114-1FC210DF1906}"/>
              </a:ext>
            </a:extLst>
          </p:cNvPr>
          <p:cNvSpPr txBox="1"/>
          <p:nvPr/>
        </p:nvSpPr>
        <p:spPr>
          <a:xfrm>
            <a:off x="8509000" y="19050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>
                <a:solidFill>
                  <a:srgbClr val="2EE6D6"/>
                </a:solidFill>
                <a:latin typeface="Montserrat"/>
              </a:rPr>
              <a:t>Cálculo de velocidade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5E29DA65-4D49-4D42-AE31-6E5261C745CD}"/>
              </a:ext>
            </a:extLst>
          </p:cNvPr>
          <p:cNvSpPr/>
          <p:nvPr/>
        </p:nvSpPr>
        <p:spPr>
          <a:xfrm>
            <a:off x="8509000" y="2260600"/>
            <a:ext cx="3048000" cy="812800"/>
          </a:xfrm>
          <a:prstGeom prst="roundRect">
            <a:avLst/>
          </a:prstGeom>
          <a:solidFill>
            <a:srgbClr val="0E1722"/>
          </a:solidFill>
          <a:ln w="1270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EE6D6"/>
                </a:solidFill>
                <a:latin typeface="Consolas"/>
              </a:rPr>
              <a:t>RPM = pulsos / 374 / Δt × 60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8321425-E566-406D-A465-B3FB6963CF61}"/>
              </a:ext>
            </a:extLst>
          </p:cNvPr>
          <p:cNvSpPr/>
          <p:nvPr/>
        </p:nvSpPr>
        <p:spPr>
          <a:xfrm>
            <a:off x="8509000" y="3200400"/>
            <a:ext cx="3048000" cy="812800"/>
          </a:xfrm>
          <a:prstGeom prst="roundRect">
            <a:avLst/>
          </a:prstGeom>
          <a:solidFill>
            <a:srgbClr val="0E1722"/>
          </a:solidFill>
          <a:ln w="1270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 dirty="0" err="1">
                <a:solidFill>
                  <a:srgbClr val="FFB020"/>
                </a:solidFill>
                <a:latin typeface="Consolas"/>
              </a:rPr>
              <a:t>RPMf</a:t>
            </a:r>
            <a:r>
              <a:rPr lang="pt-BR" sz="1400" b="1" dirty="0">
                <a:solidFill>
                  <a:srgbClr val="FFB020"/>
                </a:solidFill>
                <a:latin typeface="Consolas"/>
              </a:rPr>
              <a:t> = 0,30·RPM + 0,70·RPMfₐₙₜ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B38723B-1CC0-40F6-9ACF-496877304691}"/>
              </a:ext>
            </a:extLst>
          </p:cNvPr>
          <p:cNvSpPr txBox="1"/>
          <p:nvPr/>
        </p:nvSpPr>
        <p:spPr>
          <a:xfrm>
            <a:off x="8509000" y="41402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200" i="1">
                <a:solidFill>
                  <a:srgbClr val="8FA3B5"/>
                </a:solidFill>
              </a:rPr>
              <a:t>Contagem atômica do contador da ISR a cada ciclo.</a:t>
            </a:r>
          </a:p>
        </p:txBody>
      </p:sp>
    </p:spTree>
    <p:extLst>
      <p:ext uri="{BB962C8B-B14F-4D97-AF65-F5344CB8AC3E}">
        <p14:creationId xmlns:p14="http://schemas.microsoft.com/office/powerpoint/2010/main" val="3003552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126FE8D-EC65-4536-8FEB-B7A4D9A0B84D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>
                <a:solidFill>
                  <a:srgbClr val="2EE6D6"/>
                </a:solidFill>
                <a:latin typeface="Montserrat"/>
              </a:rPr>
              <a:t>PROJETO FUZZY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D772437-53B2-4020-8EBF-C1BAA53D5205}"/>
              </a:ext>
            </a:extLst>
          </p:cNvPr>
          <p:cNvSpPr txBox="1"/>
          <p:nvPr/>
        </p:nvSpPr>
        <p:spPr>
          <a:xfrm>
            <a:off x="762000" y="762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700" b="1">
                <a:solidFill>
                  <a:srgbClr val="FFFFFF"/>
                </a:solidFill>
                <a:latin typeface="Montserrat"/>
              </a:rPr>
              <a:t>Controlador Mamdani incremental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72A6284-AD98-4CD5-8594-21AAEAB153F4}"/>
              </a:ext>
            </a:extLst>
          </p:cNvPr>
          <p:cNvSpPr/>
          <p:nvPr/>
        </p:nvSpPr>
        <p:spPr>
          <a:xfrm>
            <a:off x="787400" y="1397000"/>
            <a:ext cx="609600" cy="3810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994E96D-CAB2-459B-9F24-5E766A549EC2}"/>
              </a:ext>
            </a:extLst>
          </p:cNvPr>
          <p:cNvSpPr/>
          <p:nvPr/>
        </p:nvSpPr>
        <p:spPr>
          <a:xfrm>
            <a:off x="508000" y="1879600"/>
            <a:ext cx="3556000" cy="2540000"/>
          </a:xfrm>
          <a:prstGeom prst="roundRect">
            <a:avLst/>
          </a:prstGeom>
          <a:solidFill>
            <a:srgbClr val="1A2736"/>
          </a:solidFill>
          <a:ln w="12700" cap="flat" cmpd="sng" algn="ctr">
            <a:solidFill>
              <a:srgbClr val="2230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26F608-CC6C-4291-A36D-75C1D3F0EF65}"/>
              </a:ext>
            </a:extLst>
          </p:cNvPr>
          <p:cNvSpPr txBox="1"/>
          <p:nvPr/>
        </p:nvSpPr>
        <p:spPr>
          <a:xfrm>
            <a:off x="635000" y="1968500"/>
            <a:ext cx="3302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b="1" dirty="0">
                <a:solidFill>
                  <a:srgbClr val="2EE6D6"/>
                </a:solidFill>
                <a:latin typeface="Arial"/>
                <a:cs typeface="Arial"/>
              </a:rPr>
              <a:t>Erro  e   ·   RPM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D10C7F5-3F7D-4176-BEED-C1479B668ABB}"/>
              </a:ext>
            </a:extLst>
          </p:cNvPr>
          <p:cNvSpPr/>
          <p:nvPr/>
        </p:nvSpPr>
        <p:spPr>
          <a:xfrm>
            <a:off x="4318000" y="1879600"/>
            <a:ext cx="3556000" cy="2540000"/>
          </a:xfrm>
          <a:prstGeom prst="roundRect">
            <a:avLst/>
          </a:prstGeom>
          <a:solidFill>
            <a:srgbClr val="1A2736"/>
          </a:solidFill>
          <a:ln w="12700" cap="flat" cmpd="sng" algn="ctr">
            <a:solidFill>
              <a:srgbClr val="2230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9EAF17D-5F92-4301-A8B3-F8B496AFA2E9}"/>
              </a:ext>
            </a:extLst>
          </p:cNvPr>
          <p:cNvSpPr txBox="1"/>
          <p:nvPr/>
        </p:nvSpPr>
        <p:spPr>
          <a:xfrm>
            <a:off x="4445000" y="1968500"/>
            <a:ext cx="3302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b="1">
                <a:solidFill>
                  <a:srgbClr val="2EE6D6"/>
                </a:solidFill>
                <a:latin typeface="Arial"/>
                <a:cs typeface="Arial"/>
              </a:rPr>
              <a:t>Variação do erro  Δe   ·   RPM/s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ECBFF9E3-4042-4D74-A80B-5648026C8AE0}"/>
              </a:ext>
            </a:extLst>
          </p:cNvPr>
          <p:cNvSpPr/>
          <p:nvPr/>
        </p:nvSpPr>
        <p:spPr>
          <a:xfrm>
            <a:off x="8128000" y="1879600"/>
            <a:ext cx="3556000" cy="2540000"/>
          </a:xfrm>
          <a:prstGeom prst="roundRect">
            <a:avLst/>
          </a:prstGeom>
          <a:solidFill>
            <a:srgbClr val="1A2736"/>
          </a:solidFill>
          <a:ln w="12700" cap="flat" cmpd="sng" algn="ctr">
            <a:solidFill>
              <a:srgbClr val="2230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3D3C586-1BB9-452F-B714-37E3406F8204}"/>
              </a:ext>
            </a:extLst>
          </p:cNvPr>
          <p:cNvSpPr txBox="1"/>
          <p:nvPr/>
        </p:nvSpPr>
        <p:spPr>
          <a:xfrm>
            <a:off x="8255000" y="1968500"/>
            <a:ext cx="3302000" cy="431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400" b="1">
                <a:solidFill>
                  <a:srgbClr val="2EE6D6"/>
                </a:solidFill>
                <a:latin typeface="Arial"/>
                <a:cs typeface="Arial"/>
              </a:rPr>
              <a:t>Incremento  </a:t>
            </a:r>
            <a:r>
              <a:rPr lang="el-GR" sz="1400" b="1">
                <a:solidFill>
                  <a:srgbClr val="2EE6D6"/>
                </a:solidFill>
                <a:latin typeface="Arial"/>
                <a:cs typeface="Arial"/>
              </a:rPr>
              <a:t>Δ</a:t>
            </a:r>
            <a:r>
              <a:rPr lang="pt-BR" sz="1400" b="1">
                <a:solidFill>
                  <a:srgbClr val="2EE6D6"/>
                </a:solidFill>
                <a:latin typeface="Arial"/>
                <a:cs typeface="Arial"/>
              </a:rPr>
              <a:t>u  ·  p.p./ciclo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A363C34-B30D-44D1-9003-9E9AA00DA056}"/>
              </a:ext>
            </a:extLst>
          </p:cNvPr>
          <p:cNvSpPr/>
          <p:nvPr/>
        </p:nvSpPr>
        <p:spPr>
          <a:xfrm>
            <a:off x="508000" y="4826000"/>
            <a:ext cx="177800" cy="177800"/>
          </a:xfrm>
          <a:prstGeom prst="rect">
            <a:avLst/>
          </a:prstGeom>
          <a:solidFill>
            <a:srgbClr val="FF52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FE42AEF-A8A1-4A0C-852A-4D0CC2F0B742}"/>
              </a:ext>
            </a:extLst>
          </p:cNvPr>
          <p:cNvSpPr txBox="1"/>
          <p:nvPr/>
        </p:nvSpPr>
        <p:spPr>
          <a:xfrm>
            <a:off x="736600" y="4800600"/>
            <a:ext cx="2032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pt-BR" sz="1100">
                <a:solidFill>
                  <a:srgbClr val="EAF2F5"/>
                </a:solidFill>
              </a:rPr>
              <a:t>NG · Neg. Grande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003DF394-9003-4F4C-B47D-4F2C614154CE}"/>
              </a:ext>
            </a:extLst>
          </p:cNvPr>
          <p:cNvSpPr/>
          <p:nvPr/>
        </p:nvSpPr>
        <p:spPr>
          <a:xfrm>
            <a:off x="2743200" y="4826000"/>
            <a:ext cx="177800" cy="177800"/>
          </a:xfrm>
          <a:prstGeom prst="rect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9DC8BF4-711E-460A-874B-E95C5893FC2D}"/>
              </a:ext>
            </a:extLst>
          </p:cNvPr>
          <p:cNvSpPr txBox="1"/>
          <p:nvPr/>
        </p:nvSpPr>
        <p:spPr>
          <a:xfrm>
            <a:off x="2971800" y="4800600"/>
            <a:ext cx="2032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pt-BR" sz="1100">
                <a:solidFill>
                  <a:srgbClr val="EAF2F5"/>
                </a:solidFill>
              </a:rPr>
              <a:t>NP · Neg. Pequeno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478BB252-9C31-4891-8AF6-F67701520A85}"/>
              </a:ext>
            </a:extLst>
          </p:cNvPr>
          <p:cNvSpPr/>
          <p:nvPr/>
        </p:nvSpPr>
        <p:spPr>
          <a:xfrm>
            <a:off x="4978400" y="4826000"/>
            <a:ext cx="177800" cy="17780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29FCD0F0-9F4D-44D4-AA97-561A2F7F3F08}"/>
              </a:ext>
            </a:extLst>
          </p:cNvPr>
          <p:cNvSpPr txBox="1"/>
          <p:nvPr/>
        </p:nvSpPr>
        <p:spPr>
          <a:xfrm>
            <a:off x="5207000" y="4800600"/>
            <a:ext cx="2032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pt-BR" sz="1100">
                <a:solidFill>
                  <a:srgbClr val="EAF2F5"/>
                </a:solidFill>
              </a:rPr>
              <a:t>ZE · Zero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287E264E-E2B7-4F0D-B568-3A841116BA82}"/>
              </a:ext>
            </a:extLst>
          </p:cNvPr>
          <p:cNvSpPr/>
          <p:nvPr/>
        </p:nvSpPr>
        <p:spPr>
          <a:xfrm>
            <a:off x="7213600" y="4826000"/>
            <a:ext cx="177800" cy="177800"/>
          </a:xfrm>
          <a:prstGeom prst="rect">
            <a:avLst/>
          </a:prstGeom>
          <a:solidFill>
            <a:srgbClr val="4FD1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DFB0BB8D-1A5F-48BA-8192-61108D58AA11}"/>
              </a:ext>
            </a:extLst>
          </p:cNvPr>
          <p:cNvSpPr txBox="1"/>
          <p:nvPr/>
        </p:nvSpPr>
        <p:spPr>
          <a:xfrm>
            <a:off x="7442200" y="4800600"/>
            <a:ext cx="2032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pt-BR" sz="1100">
                <a:solidFill>
                  <a:srgbClr val="EAF2F5"/>
                </a:solidFill>
              </a:rPr>
              <a:t>PP · Pos. Pequeno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88A2E10B-8046-4225-A9E9-E023002EC2D0}"/>
              </a:ext>
            </a:extLst>
          </p:cNvPr>
          <p:cNvSpPr/>
          <p:nvPr/>
        </p:nvSpPr>
        <p:spPr>
          <a:xfrm>
            <a:off x="9448800" y="4826000"/>
            <a:ext cx="177800" cy="177800"/>
          </a:xfrm>
          <a:prstGeom prst="rect">
            <a:avLst/>
          </a:prstGeom>
          <a:solidFill>
            <a:srgbClr val="9AE6B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2447A11-0797-4A73-A171-C3BD396DE448}"/>
              </a:ext>
            </a:extLst>
          </p:cNvPr>
          <p:cNvSpPr txBox="1"/>
          <p:nvPr/>
        </p:nvSpPr>
        <p:spPr>
          <a:xfrm>
            <a:off x="9677400" y="4800600"/>
            <a:ext cx="2032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pt-BR" sz="1100">
                <a:solidFill>
                  <a:srgbClr val="EAF2F5"/>
                </a:solidFill>
              </a:rPr>
              <a:t>PG · Pos. Grande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9B7671D4-1AC1-4441-A433-8411E3DAA569}"/>
              </a:ext>
            </a:extLst>
          </p:cNvPr>
          <p:cNvSpPr/>
          <p:nvPr/>
        </p:nvSpPr>
        <p:spPr>
          <a:xfrm>
            <a:off x="508000" y="5232400"/>
            <a:ext cx="7112000" cy="1066800"/>
          </a:xfrm>
          <a:prstGeom prst="roundRect">
            <a:avLst/>
          </a:prstGeom>
          <a:solidFill>
            <a:srgbClr val="2A1E12"/>
          </a:solidFill>
          <a:ln w="15875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B020"/>
                </a:solidFill>
                <a:latin typeface="Consolas"/>
              </a:rPr>
              <a:t>u[k] = limitar( u[k−1] + </a:t>
            </a:r>
            <a:r>
              <a:rPr lang="el-GR" b="1">
                <a:solidFill>
                  <a:srgbClr val="FFB020"/>
                </a:solidFill>
                <a:latin typeface="Consolas"/>
              </a:rPr>
              <a:t>Δ</a:t>
            </a:r>
            <a:r>
              <a:rPr lang="pt-BR" b="1">
                <a:solidFill>
                  <a:srgbClr val="FFB020"/>
                </a:solidFill>
                <a:latin typeface="Consolas"/>
              </a:rPr>
              <a:t>u , 0% , 100% )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5DA53ACD-0FEC-4DE8-A468-5F7F9014588D}"/>
              </a:ext>
            </a:extLst>
          </p:cNvPr>
          <p:cNvSpPr/>
          <p:nvPr/>
        </p:nvSpPr>
        <p:spPr>
          <a:xfrm>
            <a:off x="7874000" y="5232400"/>
            <a:ext cx="3810000" cy="1066800"/>
          </a:xfrm>
          <a:prstGeom prst="roundRect">
            <a:avLst/>
          </a:prstGeom>
          <a:solidFill>
            <a:srgbClr val="1A2736"/>
          </a:solidFill>
          <a:ln w="1270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200">
                <a:solidFill>
                  <a:srgbClr val="EAF2F5"/>
                </a:solidFill>
                <a:latin typeface="Arial"/>
                <a:cs typeface="Arial"/>
              </a:rPr>
              <a:t>Saída incremental: enquanto houver erro, segue corrigindo (semelhante à ação integral).</a:t>
            </a:r>
          </a:p>
          <a:p>
            <a:pPr algn="l">
              <a:spcBef>
                <a:spcPts val="300"/>
              </a:spcBef>
            </a:pPr>
            <a:r>
              <a:rPr lang="pt-BR" sz="1200" b="1">
                <a:solidFill>
                  <a:srgbClr val="2EE6D6"/>
                </a:solidFill>
                <a:latin typeface="Arial"/>
                <a:cs typeface="Arial"/>
              </a:rPr>
              <a:t>Entradas fora dos universos são saturadas nos termos extremos.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CDEA632A-9FB6-445E-97A9-69339EE22B7F}"/>
              </a:ext>
            </a:extLst>
          </p:cNvPr>
          <p:cNvSpPr txBox="1"/>
          <p:nvPr/>
        </p:nvSpPr>
        <p:spPr>
          <a:xfrm>
            <a:off x="635000" y="4089400"/>
            <a:ext cx="3302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pt-BR" sz="1100" i="1">
                <a:solidFill>
                  <a:srgbClr val="9FB4C4"/>
                </a:solidFill>
                <a:latin typeface="Arial"/>
                <a:cs typeface="Arial"/>
              </a:rPr>
              <a:t>e = ±200 RPM: toda a faixa operacional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DDBF0F02-7F7D-4BAE-AE7C-D58B291FA9B3}"/>
              </a:ext>
            </a:extLst>
          </p:cNvPr>
          <p:cNvSpPr txBox="1"/>
          <p:nvPr/>
        </p:nvSpPr>
        <p:spPr>
          <a:xfrm>
            <a:off x="4445000" y="4089400"/>
            <a:ext cx="3302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pt-BR" sz="1100" i="1">
                <a:solidFill>
                  <a:srgbClr val="9FB4C4"/>
                </a:solidFill>
                <a:latin typeface="Arial"/>
                <a:cs typeface="Arial"/>
              </a:rPr>
              <a:t>Δe = ±500 RPM/s: partidas e mudanças bruscas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B06F170-3687-4832-84E3-7ADA7D187F00}"/>
              </a:ext>
            </a:extLst>
          </p:cNvPr>
          <p:cNvSpPr txBox="1"/>
          <p:nvPr/>
        </p:nvSpPr>
        <p:spPr>
          <a:xfrm>
            <a:off x="8255000" y="4089400"/>
            <a:ext cx="3302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pt-BR" sz="1100" i="1">
                <a:solidFill>
                  <a:srgbClr val="9FB4C4"/>
                </a:solidFill>
                <a:latin typeface="Arial"/>
                <a:cs typeface="Arial"/>
              </a:rPr>
              <a:t>Δu = ±10 p.p./ciclo: rapidez × oscilação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CFE2742A-E8FA-480C-AAB8-94B322B66CD2}"/>
              </a:ext>
            </a:extLst>
          </p:cNvPr>
          <p:cNvSpPr/>
          <p:nvPr/>
        </p:nvSpPr>
        <p:spPr>
          <a:xfrm>
            <a:off x="1028700" y="2413000"/>
            <a:ext cx="19050" cy="1397000"/>
          </a:xfrm>
          <a:prstGeom prst="rect">
            <a:avLst/>
          </a:prstGeom>
          <a:solidFill>
            <a:srgbClr val="5A6E7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0736BC36-F6F2-4FFE-BA0C-35CB7F4DE15E}"/>
              </a:ext>
            </a:extLst>
          </p:cNvPr>
          <p:cNvSpPr/>
          <p:nvPr/>
        </p:nvSpPr>
        <p:spPr>
          <a:xfrm>
            <a:off x="1028700" y="3784600"/>
            <a:ext cx="2971800" cy="19050"/>
          </a:xfrm>
          <a:prstGeom prst="rect">
            <a:avLst/>
          </a:prstGeom>
          <a:solidFill>
            <a:srgbClr val="5A6E7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8FC9E09-4C18-4401-BDBE-41A055CF2D1D}"/>
              </a:ext>
            </a:extLst>
          </p:cNvPr>
          <p:cNvSpPr txBox="1"/>
          <p:nvPr/>
        </p:nvSpPr>
        <p:spPr>
          <a:xfrm>
            <a:off x="660400" y="2159000"/>
            <a:ext cx="304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l-GR" sz="1200" i="1">
                <a:solidFill>
                  <a:srgbClr val="2EE6D6"/>
                </a:solidFill>
                <a:latin typeface="Arial"/>
                <a:cs typeface="Arial"/>
              </a:rPr>
              <a:t>μ</a:t>
            </a:r>
            <a:endParaRPr lang="pt-BR" sz="1200" i="1">
              <a:solidFill>
                <a:srgbClr val="2EE6D6"/>
              </a:solidFill>
              <a:latin typeface="Arial"/>
              <a:cs typeface="Arial"/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D8A6DBA3-D4E9-4175-872D-188E68FD1DE5}"/>
              </a:ext>
            </a:extLst>
          </p:cNvPr>
          <p:cNvSpPr txBox="1"/>
          <p:nvPr/>
        </p:nvSpPr>
        <p:spPr>
          <a:xfrm>
            <a:off x="660400" y="2413000"/>
            <a:ext cx="304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93663301-7482-4232-BCB0-B9EF6C4BBCDA}"/>
              </a:ext>
            </a:extLst>
          </p:cNvPr>
          <p:cNvSpPr txBox="1"/>
          <p:nvPr/>
        </p:nvSpPr>
        <p:spPr>
          <a:xfrm>
            <a:off x="635000" y="3048000"/>
            <a:ext cx="3302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0,5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39FB80A-B576-403E-ADDC-3232108F3CA6}"/>
              </a:ext>
            </a:extLst>
          </p:cNvPr>
          <p:cNvSpPr txBox="1"/>
          <p:nvPr/>
        </p:nvSpPr>
        <p:spPr>
          <a:xfrm>
            <a:off x="660400" y="3683000"/>
            <a:ext cx="304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1093150-595C-43B2-A744-31FD955780A9}"/>
              </a:ext>
            </a:extLst>
          </p:cNvPr>
          <p:cNvSpPr txBox="1"/>
          <p:nvPr/>
        </p:nvSpPr>
        <p:spPr>
          <a:xfrm>
            <a:off x="762000" y="38227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−200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7F9662A0-9F37-478C-80F4-0224B51DB82A}"/>
              </a:ext>
            </a:extLst>
          </p:cNvPr>
          <p:cNvSpPr txBox="1"/>
          <p:nvPr/>
        </p:nvSpPr>
        <p:spPr>
          <a:xfrm>
            <a:off x="1498600" y="38227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−100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2D9DCA7-7326-4A1C-93B5-70303DFB9686}"/>
              </a:ext>
            </a:extLst>
          </p:cNvPr>
          <p:cNvSpPr txBox="1"/>
          <p:nvPr/>
        </p:nvSpPr>
        <p:spPr>
          <a:xfrm>
            <a:off x="2349500" y="38100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30851852-9173-45F7-99F5-D49EC18BA875}"/>
              </a:ext>
            </a:extLst>
          </p:cNvPr>
          <p:cNvSpPr txBox="1"/>
          <p:nvPr/>
        </p:nvSpPr>
        <p:spPr>
          <a:xfrm>
            <a:off x="2971800" y="38227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+100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DBEC2A5A-A247-4A69-AAC9-D5DF26D33FD7}"/>
              </a:ext>
            </a:extLst>
          </p:cNvPr>
          <p:cNvSpPr txBox="1"/>
          <p:nvPr/>
        </p:nvSpPr>
        <p:spPr>
          <a:xfrm>
            <a:off x="3708400" y="38227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+200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17B58E3B-E07A-4B0C-B9DA-8E6868623D7D}"/>
              </a:ext>
            </a:extLst>
          </p:cNvPr>
          <p:cNvSpPr/>
          <p:nvPr/>
        </p:nvSpPr>
        <p:spPr>
          <a:xfrm>
            <a:off x="4838700" y="2413000"/>
            <a:ext cx="19050" cy="1397000"/>
          </a:xfrm>
          <a:prstGeom prst="rect">
            <a:avLst/>
          </a:prstGeom>
          <a:solidFill>
            <a:srgbClr val="5A6E7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311EF2C7-CF67-4DBB-9A46-30B986B97E35}"/>
              </a:ext>
            </a:extLst>
          </p:cNvPr>
          <p:cNvSpPr/>
          <p:nvPr/>
        </p:nvSpPr>
        <p:spPr>
          <a:xfrm>
            <a:off x="4838700" y="3784600"/>
            <a:ext cx="2971800" cy="19050"/>
          </a:xfrm>
          <a:prstGeom prst="rect">
            <a:avLst/>
          </a:prstGeom>
          <a:solidFill>
            <a:srgbClr val="5A6E7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A171F23C-7D07-4AA5-A978-1175A67F2062}"/>
              </a:ext>
            </a:extLst>
          </p:cNvPr>
          <p:cNvSpPr txBox="1"/>
          <p:nvPr/>
        </p:nvSpPr>
        <p:spPr>
          <a:xfrm>
            <a:off x="4470400" y="2159000"/>
            <a:ext cx="304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l-GR" sz="1200" i="1">
                <a:solidFill>
                  <a:srgbClr val="2EE6D6"/>
                </a:solidFill>
                <a:latin typeface="Arial"/>
                <a:cs typeface="Arial"/>
              </a:rPr>
              <a:t>μ</a:t>
            </a:r>
            <a:endParaRPr lang="pt-BR" sz="1200" i="1">
              <a:solidFill>
                <a:srgbClr val="2EE6D6"/>
              </a:solidFill>
              <a:latin typeface="Arial"/>
              <a:cs typeface="Arial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59986472-47E4-4E58-81C3-6E6D5EB8E86F}"/>
              </a:ext>
            </a:extLst>
          </p:cNvPr>
          <p:cNvSpPr txBox="1"/>
          <p:nvPr/>
        </p:nvSpPr>
        <p:spPr>
          <a:xfrm>
            <a:off x="4470400" y="2413000"/>
            <a:ext cx="304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3FAF5D0-246E-4BE1-B362-99A5105DF3BA}"/>
              </a:ext>
            </a:extLst>
          </p:cNvPr>
          <p:cNvSpPr txBox="1"/>
          <p:nvPr/>
        </p:nvSpPr>
        <p:spPr>
          <a:xfrm>
            <a:off x="4445000" y="3048000"/>
            <a:ext cx="3302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0,5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4F4C8FEE-3B2F-4D14-AE8C-4CEFA3397BE3}"/>
              </a:ext>
            </a:extLst>
          </p:cNvPr>
          <p:cNvSpPr txBox="1"/>
          <p:nvPr/>
        </p:nvSpPr>
        <p:spPr>
          <a:xfrm>
            <a:off x="4470400" y="3683000"/>
            <a:ext cx="304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63B8D2F6-04ED-4712-B21C-86ED6DFF0EDD}"/>
              </a:ext>
            </a:extLst>
          </p:cNvPr>
          <p:cNvSpPr txBox="1"/>
          <p:nvPr/>
        </p:nvSpPr>
        <p:spPr>
          <a:xfrm>
            <a:off x="4572000" y="38227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−500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8DC5EA8E-A43D-4FDE-83A5-193E59A0A14D}"/>
              </a:ext>
            </a:extLst>
          </p:cNvPr>
          <p:cNvSpPr txBox="1"/>
          <p:nvPr/>
        </p:nvSpPr>
        <p:spPr>
          <a:xfrm>
            <a:off x="5308600" y="38227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−250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EF27B67B-9433-4FE5-BD8E-A2D4BA8DA2EF}"/>
              </a:ext>
            </a:extLst>
          </p:cNvPr>
          <p:cNvSpPr txBox="1"/>
          <p:nvPr/>
        </p:nvSpPr>
        <p:spPr>
          <a:xfrm>
            <a:off x="6172200" y="3844925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38777369-AEBA-41BB-8727-AB72909DA9BE}"/>
              </a:ext>
            </a:extLst>
          </p:cNvPr>
          <p:cNvSpPr txBox="1"/>
          <p:nvPr/>
        </p:nvSpPr>
        <p:spPr>
          <a:xfrm>
            <a:off x="6781800" y="38227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+250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1DF443C3-C77E-4C92-ABB1-8C0A648143BD}"/>
              </a:ext>
            </a:extLst>
          </p:cNvPr>
          <p:cNvSpPr txBox="1"/>
          <p:nvPr/>
        </p:nvSpPr>
        <p:spPr>
          <a:xfrm>
            <a:off x="7518400" y="38227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+500</a:t>
            </a:r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DB9DC809-CFD3-4062-9223-FFF173CA02E0}"/>
              </a:ext>
            </a:extLst>
          </p:cNvPr>
          <p:cNvSpPr/>
          <p:nvPr/>
        </p:nvSpPr>
        <p:spPr>
          <a:xfrm>
            <a:off x="8648700" y="2413000"/>
            <a:ext cx="19050" cy="1397000"/>
          </a:xfrm>
          <a:prstGeom prst="rect">
            <a:avLst/>
          </a:prstGeom>
          <a:solidFill>
            <a:srgbClr val="5A6E7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80C289C8-CB04-4CAD-B4CF-D93A032D162D}"/>
              </a:ext>
            </a:extLst>
          </p:cNvPr>
          <p:cNvSpPr/>
          <p:nvPr/>
        </p:nvSpPr>
        <p:spPr>
          <a:xfrm>
            <a:off x="8648700" y="3784600"/>
            <a:ext cx="2971800" cy="19050"/>
          </a:xfrm>
          <a:prstGeom prst="rect">
            <a:avLst/>
          </a:prstGeom>
          <a:solidFill>
            <a:srgbClr val="5A6E7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AB32E2D1-2EC3-435A-A09E-C4204CCA872D}"/>
              </a:ext>
            </a:extLst>
          </p:cNvPr>
          <p:cNvSpPr txBox="1"/>
          <p:nvPr/>
        </p:nvSpPr>
        <p:spPr>
          <a:xfrm>
            <a:off x="8280400" y="2159000"/>
            <a:ext cx="304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l-GR" sz="1200" i="1">
                <a:solidFill>
                  <a:srgbClr val="2EE6D6"/>
                </a:solidFill>
                <a:latin typeface="Arial"/>
                <a:cs typeface="Arial"/>
              </a:rPr>
              <a:t>μ</a:t>
            </a:r>
            <a:endParaRPr lang="pt-BR" sz="1200" i="1">
              <a:solidFill>
                <a:srgbClr val="2EE6D6"/>
              </a:solidFill>
              <a:latin typeface="Arial"/>
              <a:cs typeface="Arial"/>
            </a:endParaRP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F5BD7B5F-B8C8-4FFA-8495-05DC93F16B73}"/>
              </a:ext>
            </a:extLst>
          </p:cNvPr>
          <p:cNvSpPr txBox="1"/>
          <p:nvPr/>
        </p:nvSpPr>
        <p:spPr>
          <a:xfrm>
            <a:off x="8280400" y="2413000"/>
            <a:ext cx="304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26AF9C8C-4AD5-4581-BB72-712E13AC9D48}"/>
              </a:ext>
            </a:extLst>
          </p:cNvPr>
          <p:cNvSpPr txBox="1"/>
          <p:nvPr/>
        </p:nvSpPr>
        <p:spPr>
          <a:xfrm>
            <a:off x="8255000" y="3048000"/>
            <a:ext cx="3302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0,5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B5CCF9D3-8D1B-42DE-912D-A7BA52BA9047}"/>
              </a:ext>
            </a:extLst>
          </p:cNvPr>
          <p:cNvSpPr txBox="1"/>
          <p:nvPr/>
        </p:nvSpPr>
        <p:spPr>
          <a:xfrm>
            <a:off x="8280400" y="3683000"/>
            <a:ext cx="304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C1164BFD-16C2-4B21-AF4A-B90AF77D3261}"/>
              </a:ext>
            </a:extLst>
          </p:cNvPr>
          <p:cNvSpPr txBox="1"/>
          <p:nvPr/>
        </p:nvSpPr>
        <p:spPr>
          <a:xfrm>
            <a:off x="8382000" y="38227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−10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0798BEC1-75FF-4002-9271-097F6BE99B57}"/>
              </a:ext>
            </a:extLst>
          </p:cNvPr>
          <p:cNvSpPr txBox="1"/>
          <p:nvPr/>
        </p:nvSpPr>
        <p:spPr>
          <a:xfrm>
            <a:off x="9118600" y="38227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−5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83C3A5FB-7BA3-4AA5-99AC-2F195213E3AF}"/>
              </a:ext>
            </a:extLst>
          </p:cNvPr>
          <p:cNvSpPr txBox="1"/>
          <p:nvPr/>
        </p:nvSpPr>
        <p:spPr>
          <a:xfrm>
            <a:off x="10007600" y="3832225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 dirty="0">
                <a:solidFill>
                  <a:srgbClr val="8FA3B5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A055F4E-5554-435A-8D7C-35CDAC1AD731}"/>
              </a:ext>
            </a:extLst>
          </p:cNvPr>
          <p:cNvSpPr txBox="1"/>
          <p:nvPr/>
        </p:nvSpPr>
        <p:spPr>
          <a:xfrm>
            <a:off x="10591800" y="38227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+5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D67C6BB1-4B02-4555-8485-A0FD240D05E2}"/>
              </a:ext>
            </a:extLst>
          </p:cNvPr>
          <p:cNvSpPr txBox="1"/>
          <p:nvPr/>
        </p:nvSpPr>
        <p:spPr>
          <a:xfrm>
            <a:off x="11328400" y="3822700"/>
            <a:ext cx="55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>
                <a:solidFill>
                  <a:srgbClr val="8FA3B5"/>
                </a:solidFill>
                <a:latin typeface="Arial"/>
                <a:cs typeface="Arial"/>
              </a:rPr>
              <a:t>+10</a:t>
            </a:r>
          </a:p>
        </p:txBody>
      </p:sp>
      <p:sp>
        <p:nvSpPr>
          <p:cNvPr id="600" name="MF_NG_0"/>
          <p:cNvSpPr/>
          <p:nvPr/>
        </p:nvSpPr>
        <p:spPr>
          <a:xfrm>
            <a:off x="104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0" y="0"/>
                </a:moveTo>
                <a:lnTo>
                  <a:pt x="250" y="1000"/>
                </a:lnTo>
              </a:path>
            </a:pathLst>
          </a:custGeom>
          <a:noFill/>
          <a:ln w="25400" cap="rnd">
            <a:solidFill>
              <a:srgbClr val="FF5252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01" name="MF_NP_0"/>
          <p:cNvSpPr/>
          <p:nvPr/>
        </p:nvSpPr>
        <p:spPr>
          <a:xfrm>
            <a:off x="104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0" y="1000"/>
                </a:moveTo>
                <a:lnTo>
                  <a:pt x="250" y="0"/>
                </a:lnTo>
                <a:lnTo>
                  <a:pt x="500" y="1000"/>
                </a:lnTo>
              </a:path>
            </a:pathLst>
          </a:custGeom>
          <a:noFill/>
          <a:ln w="25400" cap="rnd">
            <a:solidFill>
              <a:srgbClr val="FFB020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02" name="MF_ZE_0"/>
          <p:cNvSpPr/>
          <p:nvPr/>
        </p:nvSpPr>
        <p:spPr>
          <a:xfrm>
            <a:off x="104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250" y="1000"/>
                </a:moveTo>
                <a:lnTo>
                  <a:pt x="500" y="0"/>
                </a:lnTo>
                <a:lnTo>
                  <a:pt x="750" y="1000"/>
                </a:lnTo>
              </a:path>
            </a:pathLst>
          </a:custGeom>
          <a:noFill/>
          <a:ln w="25400" cap="rnd">
            <a:solidFill>
              <a:srgbClr val="2EE6D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03" name="MF_PP_0"/>
          <p:cNvSpPr/>
          <p:nvPr/>
        </p:nvSpPr>
        <p:spPr>
          <a:xfrm>
            <a:off x="104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500" y="1000"/>
                </a:moveTo>
                <a:lnTo>
                  <a:pt x="750" y="0"/>
                </a:lnTo>
                <a:lnTo>
                  <a:pt x="1000" y="1000"/>
                </a:lnTo>
              </a:path>
            </a:pathLst>
          </a:custGeom>
          <a:noFill/>
          <a:ln w="25400" cap="rnd">
            <a:solidFill>
              <a:srgbClr val="4FD1C5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04" name="MF_PG_0"/>
          <p:cNvSpPr/>
          <p:nvPr/>
        </p:nvSpPr>
        <p:spPr>
          <a:xfrm>
            <a:off x="104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750" y="1000"/>
                </a:moveTo>
                <a:lnTo>
                  <a:pt x="1000" y="0"/>
                </a:lnTo>
              </a:path>
            </a:pathLst>
          </a:custGeom>
          <a:noFill/>
          <a:ln w="25400" cap="rnd">
            <a:solidFill>
              <a:srgbClr val="9AE6B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05" name="MF_NG_1"/>
          <p:cNvSpPr/>
          <p:nvPr/>
        </p:nvSpPr>
        <p:spPr>
          <a:xfrm>
            <a:off x="485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0" y="0"/>
                </a:moveTo>
                <a:lnTo>
                  <a:pt x="250" y="1000"/>
                </a:lnTo>
              </a:path>
            </a:pathLst>
          </a:custGeom>
          <a:noFill/>
          <a:ln w="25400" cap="rnd">
            <a:solidFill>
              <a:srgbClr val="FF5252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06" name="MF_NP_1"/>
          <p:cNvSpPr/>
          <p:nvPr/>
        </p:nvSpPr>
        <p:spPr>
          <a:xfrm>
            <a:off x="485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0" y="1000"/>
                </a:moveTo>
                <a:lnTo>
                  <a:pt x="250" y="0"/>
                </a:lnTo>
                <a:lnTo>
                  <a:pt x="500" y="1000"/>
                </a:lnTo>
              </a:path>
            </a:pathLst>
          </a:custGeom>
          <a:noFill/>
          <a:ln w="25400" cap="rnd">
            <a:solidFill>
              <a:srgbClr val="FFB020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07" name="MF_ZE_1"/>
          <p:cNvSpPr/>
          <p:nvPr/>
        </p:nvSpPr>
        <p:spPr>
          <a:xfrm>
            <a:off x="485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250" y="1000"/>
                </a:moveTo>
                <a:lnTo>
                  <a:pt x="500" y="0"/>
                </a:lnTo>
                <a:lnTo>
                  <a:pt x="750" y="1000"/>
                </a:lnTo>
              </a:path>
            </a:pathLst>
          </a:custGeom>
          <a:noFill/>
          <a:ln w="25400" cap="rnd">
            <a:solidFill>
              <a:srgbClr val="2EE6D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08" name="MF_PP_1"/>
          <p:cNvSpPr/>
          <p:nvPr/>
        </p:nvSpPr>
        <p:spPr>
          <a:xfrm>
            <a:off x="485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500" y="1000"/>
                </a:moveTo>
                <a:lnTo>
                  <a:pt x="750" y="0"/>
                </a:lnTo>
                <a:lnTo>
                  <a:pt x="1000" y="1000"/>
                </a:lnTo>
              </a:path>
            </a:pathLst>
          </a:custGeom>
          <a:noFill/>
          <a:ln w="25400" cap="rnd">
            <a:solidFill>
              <a:srgbClr val="4FD1C5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09" name="MF_PG_1"/>
          <p:cNvSpPr/>
          <p:nvPr/>
        </p:nvSpPr>
        <p:spPr>
          <a:xfrm>
            <a:off x="485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750" y="1000"/>
                </a:moveTo>
                <a:lnTo>
                  <a:pt x="1000" y="0"/>
                </a:lnTo>
              </a:path>
            </a:pathLst>
          </a:custGeom>
          <a:noFill/>
          <a:ln w="25400" cap="rnd">
            <a:solidFill>
              <a:srgbClr val="9AE6B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10" name="MF_NG_2"/>
          <p:cNvSpPr/>
          <p:nvPr/>
        </p:nvSpPr>
        <p:spPr>
          <a:xfrm>
            <a:off x="866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0" y="0"/>
                </a:moveTo>
                <a:lnTo>
                  <a:pt x="250" y="1000"/>
                </a:lnTo>
              </a:path>
            </a:pathLst>
          </a:custGeom>
          <a:noFill/>
          <a:ln w="25400" cap="rnd">
            <a:solidFill>
              <a:srgbClr val="FF5252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11" name="MF_NP_2"/>
          <p:cNvSpPr/>
          <p:nvPr/>
        </p:nvSpPr>
        <p:spPr>
          <a:xfrm>
            <a:off x="866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0" y="1000"/>
                </a:moveTo>
                <a:lnTo>
                  <a:pt x="250" y="0"/>
                </a:lnTo>
                <a:lnTo>
                  <a:pt x="500" y="1000"/>
                </a:lnTo>
              </a:path>
            </a:pathLst>
          </a:custGeom>
          <a:noFill/>
          <a:ln w="25400" cap="rnd">
            <a:solidFill>
              <a:srgbClr val="FFB020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12" name="MF_ZE_2"/>
          <p:cNvSpPr/>
          <p:nvPr/>
        </p:nvSpPr>
        <p:spPr>
          <a:xfrm>
            <a:off x="866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250" y="1000"/>
                </a:moveTo>
                <a:lnTo>
                  <a:pt x="500" y="0"/>
                </a:lnTo>
                <a:lnTo>
                  <a:pt x="750" y="1000"/>
                </a:lnTo>
              </a:path>
            </a:pathLst>
          </a:custGeom>
          <a:noFill/>
          <a:ln w="25400" cap="rnd">
            <a:solidFill>
              <a:srgbClr val="2EE6D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13" name="MF_PP_2"/>
          <p:cNvSpPr/>
          <p:nvPr/>
        </p:nvSpPr>
        <p:spPr>
          <a:xfrm>
            <a:off x="866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500" y="1000"/>
                </a:moveTo>
                <a:lnTo>
                  <a:pt x="750" y="0"/>
                </a:lnTo>
                <a:lnTo>
                  <a:pt x="1000" y="1000"/>
                </a:lnTo>
              </a:path>
            </a:pathLst>
          </a:custGeom>
          <a:noFill/>
          <a:ln w="25400" cap="rnd">
            <a:solidFill>
              <a:srgbClr val="4FD1C5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614" name="MF_PG_2"/>
          <p:cNvSpPr/>
          <p:nvPr/>
        </p:nvSpPr>
        <p:spPr>
          <a:xfrm>
            <a:off x="8661400" y="2514600"/>
            <a:ext cx="2946400" cy="1270000"/>
          </a:xfrm>
          <a:custGeom>
            <a:avLst/>
            <a:gdLst/>
            <a:ahLst/>
            <a:cxnLst/>
            <a:rect l="0" t="0" r="0" b="0"/>
            <a:pathLst>
              <a:path w="1000" h="1000" fill="none">
                <a:moveTo>
                  <a:pt x="750" y="1000"/>
                </a:moveTo>
                <a:lnTo>
                  <a:pt x="1000" y="0"/>
                </a:lnTo>
              </a:path>
            </a:pathLst>
          </a:custGeom>
          <a:noFill/>
          <a:ln w="25400" cap="rnd">
            <a:solidFill>
              <a:srgbClr val="9AE6B4"/>
            </a:solidFill>
            <a:round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6827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8AA3D28-DE55-4DC9-B061-1CDDBA8F62C9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>
                <a:solidFill>
                  <a:srgbClr val="2EE6D6"/>
                </a:solidFill>
                <a:latin typeface="Montserrat"/>
              </a:rPr>
              <a:t>INFERÊNCIA · 25 REGRAS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DA9E4F-5F98-4879-BDAE-49CBF6F5C55B}"/>
              </a:ext>
            </a:extLst>
          </p:cNvPr>
          <p:cNvSpPr txBox="1"/>
          <p:nvPr/>
        </p:nvSpPr>
        <p:spPr>
          <a:xfrm>
            <a:off x="762000" y="762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700" b="1">
                <a:solidFill>
                  <a:srgbClr val="FFFFFF"/>
                </a:solidFill>
                <a:latin typeface="Montserrat"/>
              </a:rPr>
              <a:t>Regras, inferência e defuzzificação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8CD79B-73C3-4F48-9E10-A95181178014}"/>
              </a:ext>
            </a:extLst>
          </p:cNvPr>
          <p:cNvSpPr/>
          <p:nvPr/>
        </p:nvSpPr>
        <p:spPr>
          <a:xfrm>
            <a:off x="787400" y="1397000"/>
            <a:ext cx="609600" cy="3810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C10A89A-9B2F-4086-B2E3-C4878EEEA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085744"/>
              </p:ext>
            </p:extLst>
          </p:nvPr>
        </p:nvGraphicFramePr>
        <p:xfrm>
          <a:off x="508000" y="1905000"/>
          <a:ext cx="66040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45386827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160442536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816567669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05410557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513092967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87380831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rgbClr val="8FA3B5"/>
                          </a:solidFill>
                          <a:latin typeface="Arial"/>
                          <a:cs typeface="Arial"/>
                        </a:rPr>
                        <a:t>e \ Δe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NG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NP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ZE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PP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PG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7859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NG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NG</a:t>
                      </a:r>
                    </a:p>
                  </a:txBody>
                  <a:tcPr anchor="ctr">
                    <a:solidFill>
                      <a:srgbClr val="FF52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NG</a:t>
                      </a:r>
                    </a:p>
                  </a:txBody>
                  <a:tcPr anchor="ctr">
                    <a:solidFill>
                      <a:srgbClr val="FF52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NG</a:t>
                      </a:r>
                    </a:p>
                  </a:txBody>
                  <a:tcPr anchor="ctr">
                    <a:solidFill>
                      <a:srgbClr val="FF52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NP</a:t>
                      </a:r>
                    </a:p>
                  </a:txBody>
                  <a:tcPr anchor="ctr">
                    <a:solidFill>
                      <a:srgbClr val="FFB0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ZE</a:t>
                      </a:r>
                    </a:p>
                  </a:txBody>
                  <a:tcPr anchor="ctr">
                    <a:solidFill>
                      <a:srgbClr val="2E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89608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NP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NG</a:t>
                      </a:r>
                    </a:p>
                  </a:txBody>
                  <a:tcPr anchor="ctr">
                    <a:solidFill>
                      <a:srgbClr val="FF52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NG</a:t>
                      </a:r>
                    </a:p>
                  </a:txBody>
                  <a:tcPr anchor="ctr">
                    <a:solidFill>
                      <a:srgbClr val="FF52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NP</a:t>
                      </a:r>
                    </a:p>
                  </a:txBody>
                  <a:tcPr anchor="ctr">
                    <a:solidFill>
                      <a:srgbClr val="FFB0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ZE</a:t>
                      </a:r>
                    </a:p>
                  </a:txBody>
                  <a:tcPr anchor="ctr">
                    <a:solidFill>
                      <a:srgbClr val="2EE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PP</a:t>
                      </a:r>
                    </a:p>
                  </a:txBody>
                  <a:tcPr anchor="ctr">
                    <a:solidFill>
                      <a:srgbClr val="4FD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177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ZE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NG</a:t>
                      </a:r>
                    </a:p>
                  </a:txBody>
                  <a:tcPr anchor="ctr">
                    <a:solidFill>
                      <a:srgbClr val="FF52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NP</a:t>
                      </a:r>
                    </a:p>
                  </a:txBody>
                  <a:tcPr anchor="ctr">
                    <a:solidFill>
                      <a:srgbClr val="FFB0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ZE</a:t>
                      </a:r>
                    </a:p>
                  </a:txBody>
                  <a:tcPr anchor="ctr">
                    <a:solidFill>
                      <a:srgbClr val="2EE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PP</a:t>
                      </a:r>
                    </a:p>
                  </a:txBody>
                  <a:tcPr anchor="ctr">
                    <a:solidFill>
                      <a:srgbClr val="4FD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PG</a:t>
                      </a:r>
                    </a:p>
                  </a:txBody>
                  <a:tcPr anchor="ctr">
                    <a:solidFill>
                      <a:srgbClr val="9AE6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35556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PP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NP</a:t>
                      </a:r>
                    </a:p>
                  </a:txBody>
                  <a:tcPr anchor="ctr">
                    <a:solidFill>
                      <a:srgbClr val="FFB0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ZE</a:t>
                      </a:r>
                    </a:p>
                  </a:txBody>
                  <a:tcPr anchor="ctr">
                    <a:solidFill>
                      <a:srgbClr val="2EE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PP</a:t>
                      </a:r>
                    </a:p>
                  </a:txBody>
                  <a:tcPr anchor="ctr">
                    <a:solidFill>
                      <a:srgbClr val="4FD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PG</a:t>
                      </a:r>
                    </a:p>
                  </a:txBody>
                  <a:tcPr anchor="ctr">
                    <a:solidFill>
                      <a:srgbClr val="9AE6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PG</a:t>
                      </a:r>
                    </a:p>
                  </a:txBody>
                  <a:tcPr anchor="ctr">
                    <a:solidFill>
                      <a:srgbClr val="9AE6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42325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PG</a:t>
                      </a:r>
                    </a:p>
                  </a:txBody>
                  <a:tcPr anchor="ctr">
                    <a:solidFill>
                      <a:srgbClr val="223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ZE</a:t>
                      </a:r>
                    </a:p>
                  </a:txBody>
                  <a:tcPr anchor="ctr">
                    <a:solidFill>
                      <a:srgbClr val="2EE6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PP</a:t>
                      </a:r>
                    </a:p>
                  </a:txBody>
                  <a:tcPr anchor="ctr">
                    <a:solidFill>
                      <a:srgbClr val="4FD1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PG</a:t>
                      </a:r>
                    </a:p>
                  </a:txBody>
                  <a:tcPr anchor="ctr">
                    <a:solidFill>
                      <a:srgbClr val="9AE6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PG</a:t>
                      </a:r>
                    </a:p>
                  </a:txBody>
                  <a:tcPr anchor="ctr">
                    <a:solidFill>
                      <a:srgbClr val="9AE6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08222A"/>
                          </a:solidFill>
                          <a:latin typeface="Arial"/>
                          <a:cs typeface="Arial"/>
                        </a:rPr>
                        <a:t>PG</a:t>
                      </a:r>
                    </a:p>
                  </a:txBody>
                  <a:tcPr anchor="ctr">
                    <a:solidFill>
                      <a:srgbClr val="9AE6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338804"/>
                  </a:ext>
                </a:extLst>
              </a:tr>
            </a:tbl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27B544E-A3C2-4A5E-B42E-3C35980FD0FD}"/>
              </a:ext>
            </a:extLst>
          </p:cNvPr>
          <p:cNvSpPr/>
          <p:nvPr/>
        </p:nvSpPr>
        <p:spPr>
          <a:xfrm>
            <a:off x="7493000" y="1905000"/>
            <a:ext cx="4191000" cy="889000"/>
          </a:xfrm>
          <a:prstGeom prst="roundRect">
            <a:avLst/>
          </a:prstGeom>
          <a:solidFill>
            <a:srgbClr val="1A2736"/>
          </a:solidFill>
          <a:ln w="15875" cap="flat" cmpd="sng" algn="ctr">
            <a:solidFill>
              <a:srgbClr val="9AE6B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0BA164F-8E4F-4D66-B1D4-CEE14B26C0EA}"/>
              </a:ext>
            </a:extLst>
          </p:cNvPr>
          <p:cNvSpPr txBox="1"/>
          <p:nvPr/>
        </p:nvSpPr>
        <p:spPr>
          <a:xfrm>
            <a:off x="7670800" y="20066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b="1">
                <a:solidFill>
                  <a:srgbClr val="9AE6B4"/>
                </a:solidFill>
                <a:latin typeface="Consolas"/>
              </a:rPr>
              <a:t>e = PG  e  </a:t>
            </a:r>
            <a:r>
              <a:rPr lang="el-GR" sz="1400" b="1">
                <a:solidFill>
                  <a:srgbClr val="9AE6B4"/>
                </a:solidFill>
                <a:latin typeface="Consolas"/>
              </a:rPr>
              <a:t>Δ</a:t>
            </a:r>
            <a:r>
              <a:rPr lang="pt-BR" sz="1400" b="1">
                <a:solidFill>
                  <a:srgbClr val="9AE6B4"/>
                </a:solidFill>
                <a:latin typeface="Consolas"/>
              </a:rPr>
              <a:t>e = PG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700FC1F-D9E2-41E6-A239-8ECC3F27A421}"/>
              </a:ext>
            </a:extLst>
          </p:cNvPr>
          <p:cNvSpPr txBox="1"/>
          <p:nvPr/>
        </p:nvSpPr>
        <p:spPr>
          <a:xfrm>
            <a:off x="7670800" y="23368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aumentar PWM fortemente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C640D27-7911-4621-AD98-DE8455A8DCA8}"/>
              </a:ext>
            </a:extLst>
          </p:cNvPr>
          <p:cNvSpPr/>
          <p:nvPr/>
        </p:nvSpPr>
        <p:spPr>
          <a:xfrm>
            <a:off x="7493000" y="2946400"/>
            <a:ext cx="4191000" cy="889000"/>
          </a:xfrm>
          <a:prstGeom prst="roundRect">
            <a:avLst/>
          </a:prstGeom>
          <a:solidFill>
            <a:srgbClr val="1A2736"/>
          </a:solidFill>
          <a:ln w="15875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C5C739-E10B-46C5-8CCF-6103138A5CFD}"/>
              </a:ext>
            </a:extLst>
          </p:cNvPr>
          <p:cNvSpPr txBox="1"/>
          <p:nvPr/>
        </p:nvSpPr>
        <p:spPr>
          <a:xfrm>
            <a:off x="7670800" y="3048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b="1">
                <a:solidFill>
                  <a:srgbClr val="2EE6D6"/>
                </a:solidFill>
                <a:latin typeface="Consolas"/>
              </a:rPr>
              <a:t>e = PG  e  </a:t>
            </a:r>
            <a:r>
              <a:rPr lang="el-GR" sz="1400" b="1">
                <a:solidFill>
                  <a:srgbClr val="2EE6D6"/>
                </a:solidFill>
                <a:latin typeface="Consolas"/>
              </a:rPr>
              <a:t>Δ</a:t>
            </a:r>
            <a:r>
              <a:rPr lang="pt-BR" sz="1400" b="1">
                <a:solidFill>
                  <a:srgbClr val="2EE6D6"/>
                </a:solidFill>
                <a:latin typeface="Consolas"/>
              </a:rPr>
              <a:t>e = NG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2CFAAE2-2A83-4866-84E7-BE9DCFB9FE49}"/>
              </a:ext>
            </a:extLst>
          </p:cNvPr>
          <p:cNvSpPr txBox="1"/>
          <p:nvPr/>
        </p:nvSpPr>
        <p:spPr>
          <a:xfrm>
            <a:off x="7670800" y="3378200"/>
            <a:ext cx="3810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dirty="0">
                <a:solidFill>
                  <a:srgbClr val="EAF2F5"/>
                </a:solidFill>
                <a:latin typeface="Arial"/>
                <a:cs typeface="Arial"/>
              </a:rPr>
              <a:t>Manter, evita sobressinal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414B251-C400-4EB6-BF93-EDCAE843C3BB}"/>
              </a:ext>
            </a:extLst>
          </p:cNvPr>
          <p:cNvSpPr/>
          <p:nvPr/>
        </p:nvSpPr>
        <p:spPr>
          <a:xfrm>
            <a:off x="7493000" y="3987800"/>
            <a:ext cx="4191000" cy="889000"/>
          </a:xfrm>
          <a:prstGeom prst="roundRect">
            <a:avLst/>
          </a:prstGeom>
          <a:solidFill>
            <a:srgbClr val="1A2736"/>
          </a:solidFill>
          <a:ln w="15875" cap="flat" cmpd="sng" algn="ctr">
            <a:solidFill>
              <a:srgbClr val="FF52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535A060-0101-40A9-8338-2DECD35C1D4C}"/>
              </a:ext>
            </a:extLst>
          </p:cNvPr>
          <p:cNvSpPr txBox="1"/>
          <p:nvPr/>
        </p:nvSpPr>
        <p:spPr>
          <a:xfrm>
            <a:off x="7670800" y="40894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b="1">
                <a:solidFill>
                  <a:srgbClr val="FF5252"/>
                </a:solidFill>
                <a:latin typeface="Consolas"/>
              </a:rPr>
              <a:t>e = NG  e  </a:t>
            </a:r>
            <a:r>
              <a:rPr lang="el-GR" sz="1400" b="1">
                <a:solidFill>
                  <a:srgbClr val="FF5252"/>
                </a:solidFill>
                <a:latin typeface="Consolas"/>
              </a:rPr>
              <a:t>Δ</a:t>
            </a:r>
            <a:r>
              <a:rPr lang="pt-BR" sz="1400" b="1">
                <a:solidFill>
                  <a:srgbClr val="FF5252"/>
                </a:solidFill>
                <a:latin typeface="Consolas"/>
              </a:rPr>
              <a:t>e = NG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D8E4491-BB77-440F-AC58-9917BAE44B1C}"/>
              </a:ext>
            </a:extLst>
          </p:cNvPr>
          <p:cNvSpPr txBox="1"/>
          <p:nvPr/>
        </p:nvSpPr>
        <p:spPr>
          <a:xfrm>
            <a:off x="7670800" y="44196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reduzir PWM fortemente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5B1161C-18D2-4540-BBC0-5C6BE5075922}"/>
              </a:ext>
            </a:extLst>
          </p:cNvPr>
          <p:cNvSpPr/>
          <p:nvPr/>
        </p:nvSpPr>
        <p:spPr>
          <a:xfrm>
            <a:off x="508000" y="5308600"/>
            <a:ext cx="1905000" cy="6858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8FA3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EAF2F5"/>
                </a:solidFill>
                <a:latin typeface="Arial"/>
                <a:cs typeface="Arial"/>
              </a:rPr>
              <a:t>fuzzificação</a:t>
            </a: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F8D93B8A-E5B8-4AC9-997D-E07DBFA09E07}"/>
              </a:ext>
            </a:extLst>
          </p:cNvPr>
          <p:cNvSpPr/>
          <p:nvPr/>
        </p:nvSpPr>
        <p:spPr>
          <a:xfrm>
            <a:off x="2463800" y="5524500"/>
            <a:ext cx="228600" cy="2286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EFB684E-EAE6-45BE-8842-F1BF52E6E896}"/>
              </a:ext>
            </a:extLst>
          </p:cNvPr>
          <p:cNvSpPr/>
          <p:nvPr/>
        </p:nvSpPr>
        <p:spPr>
          <a:xfrm>
            <a:off x="2692400" y="5308600"/>
            <a:ext cx="1905000" cy="6858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8FA3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EAF2F5"/>
                </a:solidFill>
                <a:latin typeface="Arial"/>
                <a:cs typeface="Arial"/>
              </a:rPr>
              <a:t>mínimo</a:t>
            </a: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EB57AD35-2A98-408A-878C-6D7FF660F220}"/>
              </a:ext>
            </a:extLst>
          </p:cNvPr>
          <p:cNvSpPr/>
          <p:nvPr/>
        </p:nvSpPr>
        <p:spPr>
          <a:xfrm>
            <a:off x="4648200" y="5524500"/>
            <a:ext cx="228600" cy="2286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D0F1557-B963-4063-9AF8-E4BC1A914111}"/>
              </a:ext>
            </a:extLst>
          </p:cNvPr>
          <p:cNvSpPr/>
          <p:nvPr/>
        </p:nvSpPr>
        <p:spPr>
          <a:xfrm>
            <a:off x="4876800" y="5308600"/>
            <a:ext cx="1905000" cy="6858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8FA3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EAF2F5"/>
                </a:solidFill>
                <a:latin typeface="Arial"/>
                <a:cs typeface="Arial"/>
              </a:rPr>
              <a:t>máximo</a:t>
            </a:r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A384143E-4221-46DA-949F-E276C29143C6}"/>
              </a:ext>
            </a:extLst>
          </p:cNvPr>
          <p:cNvSpPr/>
          <p:nvPr/>
        </p:nvSpPr>
        <p:spPr>
          <a:xfrm>
            <a:off x="6832600" y="5524500"/>
            <a:ext cx="228600" cy="2286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E62F9FF-1E5A-4DE9-899D-CD3E7B3F87AD}"/>
              </a:ext>
            </a:extLst>
          </p:cNvPr>
          <p:cNvSpPr/>
          <p:nvPr/>
        </p:nvSpPr>
        <p:spPr>
          <a:xfrm>
            <a:off x="7061200" y="5308600"/>
            <a:ext cx="1905000" cy="685800"/>
          </a:xfrm>
          <a:prstGeom prst="roundRect">
            <a:avLst/>
          </a:prstGeom>
          <a:solidFill>
            <a:srgbClr val="173A44"/>
          </a:solidFill>
          <a:ln w="1905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EE6D6"/>
                </a:solidFill>
                <a:latin typeface="Arial"/>
                <a:cs typeface="Arial"/>
              </a:rPr>
              <a:t>centroide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522E01D-0FEB-448A-9127-03FFB9F80E5F}"/>
              </a:ext>
            </a:extLst>
          </p:cNvPr>
          <p:cNvSpPr txBox="1"/>
          <p:nvPr/>
        </p:nvSpPr>
        <p:spPr>
          <a:xfrm>
            <a:off x="508000" y="6070600"/>
            <a:ext cx="1117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200" i="1" dirty="0">
                <a:solidFill>
                  <a:srgbClr val="8FA3B5"/>
                </a:solidFill>
              </a:rPr>
              <a:t>Saída </a:t>
            </a:r>
            <a:r>
              <a:rPr lang="pt-BR" sz="1200" i="1" dirty="0" err="1">
                <a:solidFill>
                  <a:srgbClr val="8FA3B5"/>
                </a:solidFill>
              </a:rPr>
              <a:t>Δu</a:t>
            </a:r>
            <a:r>
              <a:rPr lang="pt-BR" sz="1200" i="1" dirty="0">
                <a:solidFill>
                  <a:srgbClr val="8FA3B5"/>
                </a:solidFill>
              </a:rPr>
              <a:t> de −10 a +10 </a:t>
            </a:r>
            <a:r>
              <a:rPr lang="pt-BR" sz="1200" i="1" dirty="0" err="1">
                <a:solidFill>
                  <a:srgbClr val="8FA3B5"/>
                </a:solidFill>
              </a:rPr>
              <a:t>p.p</a:t>
            </a:r>
            <a:r>
              <a:rPr lang="pt-BR" sz="1200" i="1" dirty="0">
                <a:solidFill>
                  <a:srgbClr val="8FA3B5"/>
                </a:solidFill>
              </a:rPr>
              <a:t>./ciclo · </a:t>
            </a:r>
            <a:r>
              <a:rPr lang="pt-BR" sz="1200" i="1" dirty="0" err="1">
                <a:solidFill>
                  <a:srgbClr val="8FA3B5"/>
                </a:solidFill>
              </a:rPr>
              <a:t>Δu</a:t>
            </a:r>
            <a:r>
              <a:rPr lang="pt-BR" sz="1200" i="1" dirty="0">
                <a:solidFill>
                  <a:srgbClr val="8FA3B5"/>
                </a:solidFill>
              </a:rPr>
              <a:t> = centro de gravidade</a:t>
            </a:r>
          </a:p>
        </p:txBody>
      </p:sp>
    </p:spTree>
    <p:extLst>
      <p:ext uri="{BB962C8B-B14F-4D97-AF65-F5344CB8AC3E}">
        <p14:creationId xmlns:p14="http://schemas.microsoft.com/office/powerpoint/2010/main" val="544442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A809599-6A5A-4A37-AFCC-211B7B4AF24A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>
                <a:solidFill>
                  <a:srgbClr val="2EE6D6"/>
                </a:solidFill>
                <a:latin typeface="Montserrat"/>
              </a:rPr>
              <a:t>IMPLEMENTAÇÃO NO ESP32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30DC13B-1B05-40D6-8B4F-DF69374F1A8E}"/>
              </a:ext>
            </a:extLst>
          </p:cNvPr>
          <p:cNvSpPr txBox="1"/>
          <p:nvPr/>
        </p:nvSpPr>
        <p:spPr>
          <a:xfrm>
            <a:off x="762000" y="762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700" b="1">
                <a:solidFill>
                  <a:srgbClr val="FFFFFF"/>
                </a:solidFill>
                <a:latin typeface="Montserrat"/>
              </a:rPr>
              <a:t>Do algoritmo ao hardware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6C0EEAA-25AD-4878-A076-B4776722E3CB}"/>
              </a:ext>
            </a:extLst>
          </p:cNvPr>
          <p:cNvSpPr/>
          <p:nvPr/>
        </p:nvSpPr>
        <p:spPr>
          <a:xfrm>
            <a:off x="787400" y="1397000"/>
            <a:ext cx="609600" cy="3810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Losango 4">
            <a:extLst>
              <a:ext uri="{FF2B5EF4-FFF2-40B4-BE49-F238E27FC236}">
                <a16:creationId xmlns:a16="http://schemas.microsoft.com/office/drawing/2014/main" id="{12EFC5DE-C498-4461-9A54-BC111F9F7B62}"/>
              </a:ext>
            </a:extLst>
          </p:cNvPr>
          <p:cNvSpPr/>
          <p:nvPr/>
        </p:nvSpPr>
        <p:spPr>
          <a:xfrm>
            <a:off x="533400" y="1727200"/>
            <a:ext cx="152400" cy="1524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4D6D339-3265-4624-9C3A-923091564B57}"/>
              </a:ext>
            </a:extLst>
          </p:cNvPr>
          <p:cNvSpPr txBox="1"/>
          <p:nvPr/>
        </p:nvSpPr>
        <p:spPr>
          <a:xfrm>
            <a:off x="812800" y="16510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 err="1">
                <a:solidFill>
                  <a:srgbClr val="EAF2F5"/>
                </a:solidFill>
                <a:latin typeface="Arial"/>
                <a:cs typeface="Arial"/>
              </a:rPr>
              <a:t>Encoder</a:t>
            </a:r>
            <a:r>
              <a:rPr lang="pt-BR" sz="1400" dirty="0">
                <a:solidFill>
                  <a:srgbClr val="EAF2F5"/>
                </a:solidFill>
                <a:latin typeface="Arial"/>
                <a:cs typeface="Arial"/>
              </a:rPr>
              <a:t> lido por ISR no canal A</a:t>
            </a:r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45E02AD3-FA8B-4637-AAFD-1EF45FD2280B}"/>
              </a:ext>
            </a:extLst>
          </p:cNvPr>
          <p:cNvSpPr/>
          <p:nvPr/>
        </p:nvSpPr>
        <p:spPr>
          <a:xfrm>
            <a:off x="533400" y="2235200"/>
            <a:ext cx="152400" cy="1524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DEF5DF3-58C6-453A-B7CF-88FE0153EDC8}"/>
              </a:ext>
            </a:extLst>
          </p:cNvPr>
          <p:cNvSpPr txBox="1"/>
          <p:nvPr/>
        </p:nvSpPr>
        <p:spPr>
          <a:xfrm>
            <a:off x="812800" y="21590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EAF2F5"/>
                </a:solidFill>
                <a:latin typeface="Arial"/>
                <a:cs typeface="Arial"/>
              </a:rPr>
              <a:t>Contador acessado em região atômica</a:t>
            </a:r>
          </a:p>
        </p:txBody>
      </p:sp>
      <p:sp>
        <p:nvSpPr>
          <p:cNvPr id="9" name="Losango 8">
            <a:extLst>
              <a:ext uri="{FF2B5EF4-FFF2-40B4-BE49-F238E27FC236}">
                <a16:creationId xmlns:a16="http://schemas.microsoft.com/office/drawing/2014/main" id="{7818A39F-7A98-4D4D-90F3-623E76845622}"/>
              </a:ext>
            </a:extLst>
          </p:cNvPr>
          <p:cNvSpPr/>
          <p:nvPr/>
        </p:nvSpPr>
        <p:spPr>
          <a:xfrm>
            <a:off x="533400" y="2743200"/>
            <a:ext cx="152400" cy="1524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A79BA09-F56E-41BF-9FFF-DFD9F33BAD59}"/>
              </a:ext>
            </a:extLst>
          </p:cNvPr>
          <p:cNvSpPr txBox="1"/>
          <p:nvPr/>
        </p:nvSpPr>
        <p:spPr>
          <a:xfrm>
            <a:off x="812800" y="26670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EAF2F5"/>
                </a:solidFill>
                <a:latin typeface="Arial"/>
                <a:cs typeface="Arial"/>
              </a:rPr>
              <a:t>Filtro de 1ª ordem reduz o ruído</a:t>
            </a:r>
          </a:p>
        </p:txBody>
      </p:sp>
      <p:sp>
        <p:nvSpPr>
          <p:cNvPr id="11" name="Losango 10">
            <a:extLst>
              <a:ext uri="{FF2B5EF4-FFF2-40B4-BE49-F238E27FC236}">
                <a16:creationId xmlns:a16="http://schemas.microsoft.com/office/drawing/2014/main" id="{EC182018-EAEB-4C16-9627-7145463435BF}"/>
              </a:ext>
            </a:extLst>
          </p:cNvPr>
          <p:cNvSpPr/>
          <p:nvPr/>
        </p:nvSpPr>
        <p:spPr>
          <a:xfrm>
            <a:off x="533400" y="3251200"/>
            <a:ext cx="152400" cy="1524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CD591F-7C26-45CE-B65E-9F777296F0A1}"/>
              </a:ext>
            </a:extLst>
          </p:cNvPr>
          <p:cNvSpPr txBox="1"/>
          <p:nvPr/>
        </p:nvSpPr>
        <p:spPr>
          <a:xfrm>
            <a:off x="812800" y="31750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>
                <a:solidFill>
                  <a:srgbClr val="EAF2F5"/>
                </a:solidFill>
                <a:latin typeface="Arial"/>
                <a:cs typeface="Arial"/>
              </a:rPr>
              <a:t>Saída </a:t>
            </a:r>
            <a:r>
              <a:rPr lang="pt-BR" sz="1400" dirty="0" err="1">
                <a:solidFill>
                  <a:srgbClr val="EAF2F5"/>
                </a:solidFill>
                <a:latin typeface="Arial"/>
                <a:cs typeface="Arial"/>
              </a:rPr>
              <a:t>fuzzy</a:t>
            </a:r>
            <a:r>
              <a:rPr lang="pt-BR" sz="1400" dirty="0">
                <a:solidFill>
                  <a:srgbClr val="EAF2F5"/>
                </a:solidFill>
                <a:latin typeface="Arial"/>
                <a:cs typeface="Arial"/>
              </a:rPr>
              <a:t> discretizada em 101 pontos</a:t>
            </a:r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9EA21DD3-368D-418E-A743-761CC8B63EC1}"/>
              </a:ext>
            </a:extLst>
          </p:cNvPr>
          <p:cNvSpPr/>
          <p:nvPr/>
        </p:nvSpPr>
        <p:spPr>
          <a:xfrm>
            <a:off x="533400" y="3759200"/>
            <a:ext cx="152400" cy="1524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31AEA42-85EB-4CBC-BEF3-B38695157292}"/>
              </a:ext>
            </a:extLst>
          </p:cNvPr>
          <p:cNvSpPr txBox="1"/>
          <p:nvPr/>
        </p:nvSpPr>
        <p:spPr>
          <a:xfrm>
            <a:off x="812800" y="36830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EAF2F5"/>
                </a:solidFill>
                <a:latin typeface="Arial"/>
                <a:cs typeface="Arial"/>
              </a:rPr>
              <a:t>PWM limitado fisicamente: 0 a 100%</a:t>
            </a:r>
          </a:p>
        </p:txBody>
      </p:sp>
      <p:sp>
        <p:nvSpPr>
          <p:cNvPr id="15" name="Losango 14">
            <a:extLst>
              <a:ext uri="{FF2B5EF4-FFF2-40B4-BE49-F238E27FC236}">
                <a16:creationId xmlns:a16="http://schemas.microsoft.com/office/drawing/2014/main" id="{DD7E5A18-C498-404F-8A2A-4EF8DA9C4D6F}"/>
              </a:ext>
            </a:extLst>
          </p:cNvPr>
          <p:cNvSpPr/>
          <p:nvPr/>
        </p:nvSpPr>
        <p:spPr>
          <a:xfrm>
            <a:off x="533400" y="4267200"/>
            <a:ext cx="152400" cy="1524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6AB1F06-C18A-4764-8685-B9D3C5C22E8C}"/>
              </a:ext>
            </a:extLst>
          </p:cNvPr>
          <p:cNvSpPr txBox="1"/>
          <p:nvPr/>
        </p:nvSpPr>
        <p:spPr>
          <a:xfrm>
            <a:off x="812800" y="41910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EAF2F5"/>
                </a:solidFill>
                <a:latin typeface="Arial"/>
                <a:cs typeface="Arial"/>
              </a:rPr>
              <a:t>Controle segue local mesmo sem dashboard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BD6E8F7-0BE8-42BB-9357-A2F077A85CB9}"/>
              </a:ext>
            </a:extLst>
          </p:cNvPr>
          <p:cNvSpPr/>
          <p:nvPr/>
        </p:nvSpPr>
        <p:spPr>
          <a:xfrm>
            <a:off x="5842000" y="1676400"/>
            <a:ext cx="2857500" cy="863600"/>
          </a:xfrm>
          <a:prstGeom prst="roundRect">
            <a:avLst/>
          </a:prstGeom>
          <a:solidFill>
            <a:srgbClr val="1A2736"/>
          </a:solidFill>
          <a:ln w="15875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1DAC229-A690-45A3-AE3B-9D0BC9CB5BB5}"/>
              </a:ext>
            </a:extLst>
          </p:cNvPr>
          <p:cNvSpPr txBox="1"/>
          <p:nvPr/>
        </p:nvSpPr>
        <p:spPr>
          <a:xfrm>
            <a:off x="5994400" y="1778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500" b="1">
                <a:solidFill>
                  <a:srgbClr val="2EE6D6"/>
                </a:solidFill>
                <a:latin typeface="Consolas"/>
              </a:rPr>
              <a:t>main.cpp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7BAD6EB-F237-4247-B4A5-C69A88B736F9}"/>
              </a:ext>
            </a:extLst>
          </p:cNvPr>
          <p:cNvSpPr txBox="1"/>
          <p:nvPr/>
        </p:nvSpPr>
        <p:spPr>
          <a:xfrm>
            <a:off x="5994400" y="2082800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200">
                <a:solidFill>
                  <a:srgbClr val="EAF2F5"/>
                </a:solidFill>
                <a:latin typeface="Arial"/>
                <a:cs typeface="Arial"/>
              </a:rPr>
              <a:t>aquisição, controle e atuação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00652FE6-30A7-4D5F-A702-3D1469A52606}"/>
              </a:ext>
            </a:extLst>
          </p:cNvPr>
          <p:cNvSpPr/>
          <p:nvPr/>
        </p:nvSpPr>
        <p:spPr>
          <a:xfrm>
            <a:off x="8826500" y="1676400"/>
            <a:ext cx="2857500" cy="863600"/>
          </a:xfrm>
          <a:prstGeom prst="roundRect">
            <a:avLst/>
          </a:prstGeom>
          <a:solidFill>
            <a:srgbClr val="1A2736"/>
          </a:solidFill>
          <a:ln w="15875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1A19EB5-292B-4764-B7B5-6D4DDEB0600F}"/>
              </a:ext>
            </a:extLst>
          </p:cNvPr>
          <p:cNvSpPr txBox="1"/>
          <p:nvPr/>
        </p:nvSpPr>
        <p:spPr>
          <a:xfrm>
            <a:off x="8978900" y="1778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500" b="1">
                <a:solidFill>
                  <a:srgbClr val="2EE6D6"/>
                </a:solidFill>
                <a:latin typeface="Consolas"/>
              </a:rPr>
              <a:t>fuzzy.cpp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C8EB9A2-F5DA-40CC-B365-8706E60EF502}"/>
              </a:ext>
            </a:extLst>
          </p:cNvPr>
          <p:cNvSpPr txBox="1"/>
          <p:nvPr/>
        </p:nvSpPr>
        <p:spPr>
          <a:xfrm>
            <a:off x="8978900" y="2082800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200">
                <a:solidFill>
                  <a:srgbClr val="EAF2F5"/>
                </a:solidFill>
                <a:latin typeface="Arial"/>
                <a:cs typeface="Arial"/>
              </a:rPr>
              <a:t>pertinências, regras e centroide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2074728-4D07-4406-8A62-305C8526EAAA}"/>
              </a:ext>
            </a:extLst>
          </p:cNvPr>
          <p:cNvSpPr/>
          <p:nvPr/>
        </p:nvSpPr>
        <p:spPr>
          <a:xfrm>
            <a:off x="5842000" y="2667000"/>
            <a:ext cx="2857500" cy="863600"/>
          </a:xfrm>
          <a:prstGeom prst="roundRect">
            <a:avLst/>
          </a:prstGeom>
          <a:solidFill>
            <a:srgbClr val="1A2736"/>
          </a:solidFill>
          <a:ln w="15875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D69B368-74E6-4B81-81AC-C094D4DB0A13}"/>
              </a:ext>
            </a:extLst>
          </p:cNvPr>
          <p:cNvSpPr txBox="1"/>
          <p:nvPr/>
        </p:nvSpPr>
        <p:spPr>
          <a:xfrm>
            <a:off x="5994400" y="2768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500" b="1">
                <a:solidFill>
                  <a:srgbClr val="FFB020"/>
                </a:solidFill>
                <a:latin typeface="Consolas"/>
              </a:rPr>
              <a:t>metrics.cpp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307DCE9-F9C8-4E69-8F75-A9DD799F4ED0}"/>
              </a:ext>
            </a:extLst>
          </p:cNvPr>
          <p:cNvSpPr txBox="1"/>
          <p:nvPr/>
        </p:nvSpPr>
        <p:spPr>
          <a:xfrm>
            <a:off x="5994400" y="3073400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200">
                <a:solidFill>
                  <a:srgbClr val="EAF2F5"/>
                </a:solidFill>
                <a:latin typeface="Arial"/>
                <a:cs typeface="Arial"/>
              </a:rPr>
              <a:t>Mp, ts e ess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A50BD961-84E3-4C2B-85D7-6D4D9B3B5D86}"/>
              </a:ext>
            </a:extLst>
          </p:cNvPr>
          <p:cNvSpPr/>
          <p:nvPr/>
        </p:nvSpPr>
        <p:spPr>
          <a:xfrm>
            <a:off x="8826500" y="2667000"/>
            <a:ext cx="2857500" cy="863600"/>
          </a:xfrm>
          <a:prstGeom prst="roundRect">
            <a:avLst/>
          </a:prstGeom>
          <a:solidFill>
            <a:srgbClr val="1A2736"/>
          </a:solidFill>
          <a:ln w="15875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2DB052D-1C42-4C1D-B1E3-66A803F8BF9F}"/>
              </a:ext>
            </a:extLst>
          </p:cNvPr>
          <p:cNvSpPr txBox="1"/>
          <p:nvPr/>
        </p:nvSpPr>
        <p:spPr>
          <a:xfrm>
            <a:off x="8978900" y="2768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500" b="1">
                <a:solidFill>
                  <a:srgbClr val="FFB020"/>
                </a:solidFill>
                <a:latin typeface="Consolas"/>
              </a:rPr>
              <a:t>comms.cpp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3A87CBD-982F-4CE2-A68B-3641A5AFED26}"/>
              </a:ext>
            </a:extLst>
          </p:cNvPr>
          <p:cNvSpPr txBox="1"/>
          <p:nvPr/>
        </p:nvSpPr>
        <p:spPr>
          <a:xfrm>
            <a:off x="8978900" y="3073400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200">
                <a:solidFill>
                  <a:srgbClr val="EAF2F5"/>
                </a:solidFill>
                <a:latin typeface="Arial"/>
                <a:cs typeface="Arial"/>
              </a:rPr>
              <a:t>supervisão MQTT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BFF35D98-3058-481F-91BA-1DED8DF7FCC7}"/>
              </a:ext>
            </a:extLst>
          </p:cNvPr>
          <p:cNvSpPr/>
          <p:nvPr/>
        </p:nvSpPr>
        <p:spPr>
          <a:xfrm>
            <a:off x="5842000" y="3759200"/>
            <a:ext cx="5842000" cy="1219200"/>
          </a:xfrm>
          <a:prstGeom prst="roundRect">
            <a:avLst/>
          </a:prstGeom>
          <a:solidFill>
            <a:srgbClr val="0E1722"/>
          </a:solidFill>
          <a:ln w="12700" cap="flat" cmpd="sng" algn="ctr">
            <a:solidFill>
              <a:srgbClr val="2230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fr-FR" sz="1400" dirty="0">
                <a:solidFill>
                  <a:srgbClr val="2EE6D6"/>
                </a:solidFill>
                <a:latin typeface="Consolas"/>
              </a:rPr>
              <a:t>du = fuzzyController(e, de);
u  = constrain(u + du, 0, 100);
ledcWrite(PWM_CHANNEL, duty);</a:t>
            </a:r>
            <a:endParaRPr lang="pt-BR" sz="1400" dirty="0">
              <a:solidFill>
                <a:srgbClr val="2EE6D6"/>
              </a:solidFill>
              <a:latin typeface="Consolas"/>
            </a:endParaRP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41C0F405-04A6-472C-A2AB-D5AC6FFD4562}"/>
              </a:ext>
            </a:extLst>
          </p:cNvPr>
          <p:cNvSpPr/>
          <p:nvPr/>
        </p:nvSpPr>
        <p:spPr>
          <a:xfrm>
            <a:off x="508000" y="5689600"/>
            <a:ext cx="1905000" cy="6096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8FA3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EAF2F5"/>
                </a:solidFill>
                <a:latin typeface="Arial"/>
                <a:cs typeface="Arial"/>
              </a:rPr>
              <a:t>Encoder</a:t>
            </a:r>
          </a:p>
        </p:txBody>
      </p:sp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7378624E-3F57-4EBA-A87F-AA7EA8DD7F42}"/>
              </a:ext>
            </a:extLst>
          </p:cNvPr>
          <p:cNvSpPr/>
          <p:nvPr/>
        </p:nvSpPr>
        <p:spPr>
          <a:xfrm>
            <a:off x="2438400" y="5892800"/>
            <a:ext cx="228600" cy="2032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3E158E30-45B9-456C-B919-1CEA2314BAD1}"/>
              </a:ext>
            </a:extLst>
          </p:cNvPr>
          <p:cNvSpPr/>
          <p:nvPr/>
        </p:nvSpPr>
        <p:spPr>
          <a:xfrm>
            <a:off x="2692400" y="5689600"/>
            <a:ext cx="1905000" cy="609600"/>
          </a:xfrm>
          <a:prstGeom prst="roundRect">
            <a:avLst/>
          </a:prstGeom>
          <a:solidFill>
            <a:srgbClr val="22303F"/>
          </a:solidFill>
          <a:ln w="1905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2EE6D6"/>
                </a:solidFill>
                <a:latin typeface="Arial"/>
                <a:cs typeface="Arial"/>
              </a:rPr>
              <a:t>ESP32</a:t>
            </a:r>
          </a:p>
        </p:txBody>
      </p:sp>
      <p:sp>
        <p:nvSpPr>
          <p:cNvPr id="35" name="Seta: para a Direita 34">
            <a:extLst>
              <a:ext uri="{FF2B5EF4-FFF2-40B4-BE49-F238E27FC236}">
                <a16:creationId xmlns:a16="http://schemas.microsoft.com/office/drawing/2014/main" id="{5B7657C2-0EE7-4A67-A8AA-4B5801BB86DF}"/>
              </a:ext>
            </a:extLst>
          </p:cNvPr>
          <p:cNvSpPr/>
          <p:nvPr/>
        </p:nvSpPr>
        <p:spPr>
          <a:xfrm>
            <a:off x="4622800" y="5892800"/>
            <a:ext cx="228600" cy="2032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D9232C86-6CB2-45D3-85E6-3E44720D693B}"/>
              </a:ext>
            </a:extLst>
          </p:cNvPr>
          <p:cNvSpPr/>
          <p:nvPr/>
        </p:nvSpPr>
        <p:spPr>
          <a:xfrm>
            <a:off x="4876800" y="5689600"/>
            <a:ext cx="1905000" cy="6096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8FA3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EAF2F5"/>
                </a:solidFill>
                <a:latin typeface="Arial"/>
                <a:cs typeface="Arial"/>
              </a:rPr>
              <a:t>PWM</a:t>
            </a:r>
          </a:p>
        </p:txBody>
      </p:sp>
      <p:sp>
        <p:nvSpPr>
          <p:cNvPr id="37" name="Seta: para a Direita 36">
            <a:extLst>
              <a:ext uri="{FF2B5EF4-FFF2-40B4-BE49-F238E27FC236}">
                <a16:creationId xmlns:a16="http://schemas.microsoft.com/office/drawing/2014/main" id="{7E2E2EF4-5AD7-40D4-9149-25F1A45D7C21}"/>
              </a:ext>
            </a:extLst>
          </p:cNvPr>
          <p:cNvSpPr/>
          <p:nvPr/>
        </p:nvSpPr>
        <p:spPr>
          <a:xfrm>
            <a:off x="6807200" y="5892800"/>
            <a:ext cx="228600" cy="2032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6372A848-F4F0-465E-B109-FBF91E15264C}"/>
              </a:ext>
            </a:extLst>
          </p:cNvPr>
          <p:cNvSpPr/>
          <p:nvPr/>
        </p:nvSpPr>
        <p:spPr>
          <a:xfrm>
            <a:off x="7061200" y="5689600"/>
            <a:ext cx="1905000" cy="6096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8FA3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EAF2F5"/>
                </a:solidFill>
                <a:latin typeface="Arial"/>
                <a:cs typeface="Arial"/>
              </a:rPr>
              <a:t>L298N</a:t>
            </a:r>
          </a:p>
        </p:txBody>
      </p:sp>
      <p:sp>
        <p:nvSpPr>
          <p:cNvPr id="39" name="Seta: para a Direita 38">
            <a:extLst>
              <a:ext uri="{FF2B5EF4-FFF2-40B4-BE49-F238E27FC236}">
                <a16:creationId xmlns:a16="http://schemas.microsoft.com/office/drawing/2014/main" id="{2CDEBBE0-9839-49D3-BE28-65E14B8197B2}"/>
              </a:ext>
            </a:extLst>
          </p:cNvPr>
          <p:cNvSpPr/>
          <p:nvPr/>
        </p:nvSpPr>
        <p:spPr>
          <a:xfrm>
            <a:off x="8991600" y="5892800"/>
            <a:ext cx="228600" cy="2032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7CC31CE9-5248-488D-B322-43A878446220}"/>
              </a:ext>
            </a:extLst>
          </p:cNvPr>
          <p:cNvSpPr/>
          <p:nvPr/>
        </p:nvSpPr>
        <p:spPr>
          <a:xfrm>
            <a:off x="9245600" y="5689600"/>
            <a:ext cx="1905000" cy="609600"/>
          </a:xfrm>
          <a:prstGeom prst="roundRect">
            <a:avLst/>
          </a:prstGeom>
          <a:solidFill>
            <a:srgbClr val="22303F"/>
          </a:solidFill>
          <a:ln w="12700" cap="flat" cmpd="sng" algn="ctr">
            <a:solidFill>
              <a:srgbClr val="8FA3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EAF2F5"/>
                </a:solidFill>
                <a:latin typeface="Arial"/>
                <a:cs typeface="Arial"/>
              </a:rPr>
              <a:t>Motor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9E588FB-B651-43F4-B392-AB7BA48004D7}"/>
              </a:ext>
            </a:extLst>
          </p:cNvPr>
          <p:cNvSpPr/>
          <p:nvPr/>
        </p:nvSpPr>
        <p:spPr>
          <a:xfrm>
            <a:off x="508000" y="4648200"/>
            <a:ext cx="5181600" cy="838200"/>
          </a:xfrm>
          <a:prstGeom prst="roundRect">
            <a:avLst/>
          </a:prstGeom>
          <a:solidFill>
            <a:srgbClr val="13313A"/>
          </a:solidFill>
          <a:ln w="15875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pt-BR" sz="1400" b="1">
                <a:solidFill>
                  <a:srgbClr val="2EE6D6"/>
                </a:solidFill>
                <a:latin typeface="Arial"/>
                <a:cs typeface="Arial"/>
              </a:rPr>
              <a:t>Ensaios e resultados obtidos no motor e encoder reais </a:t>
            </a:r>
            <a:r>
              <a:rPr lang="pt-BR" sz="1300" b="1">
                <a:solidFill>
                  <a:srgbClr val="FFB020"/>
                </a:solidFill>
                <a:latin typeface="Consolas"/>
                <a:cs typeface="Consolas"/>
              </a:rPr>
              <a:t>(USE_SIMULATED_PLANT = 0)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AFC45D2-40BA-4639-ACE0-A837DF65CEFD}"/>
              </a:ext>
            </a:extLst>
          </p:cNvPr>
          <p:cNvSpPr txBox="1"/>
          <p:nvPr/>
        </p:nvSpPr>
        <p:spPr>
          <a:xfrm>
            <a:off x="10554286" y="4940943"/>
            <a:ext cx="1117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200" i="1" dirty="0">
                <a:solidFill>
                  <a:srgbClr val="8FA3B5"/>
                </a:solidFill>
              </a:rPr>
              <a:t>Pseudocódigo</a:t>
            </a:r>
          </a:p>
        </p:txBody>
      </p:sp>
    </p:spTree>
    <p:extLst>
      <p:ext uri="{BB962C8B-B14F-4D97-AF65-F5344CB8AC3E}">
        <p14:creationId xmlns:p14="http://schemas.microsoft.com/office/powerpoint/2010/main" val="84101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C4A8BF9-F7A9-428F-BC93-9ACEB039E70B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>
                <a:solidFill>
                  <a:srgbClr val="2EE6D6"/>
                </a:solidFill>
                <a:latin typeface="Montserrat"/>
              </a:rPr>
              <a:t>RESULTADOS · SP1 · SP2 · SP3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09B087-94C7-45EB-886D-830B06F5CC0F}"/>
              </a:ext>
            </a:extLst>
          </p:cNvPr>
          <p:cNvSpPr txBox="1"/>
          <p:nvPr/>
        </p:nvSpPr>
        <p:spPr>
          <a:xfrm>
            <a:off x="762000" y="762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700" b="1">
                <a:solidFill>
                  <a:srgbClr val="FFFFFF"/>
                </a:solidFill>
                <a:latin typeface="Montserrat"/>
              </a:rPr>
              <a:t>Avaliação nos três pontos de operação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11034F1-5152-4F09-A179-586714473770}"/>
              </a:ext>
            </a:extLst>
          </p:cNvPr>
          <p:cNvSpPr/>
          <p:nvPr/>
        </p:nvSpPr>
        <p:spPr>
          <a:xfrm>
            <a:off x="787400" y="1397000"/>
            <a:ext cx="609600" cy="3810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54723C4-CB40-4A5F-A27D-2539F4455779}"/>
              </a:ext>
            </a:extLst>
          </p:cNvPr>
          <p:cNvSpPr/>
          <p:nvPr/>
        </p:nvSpPr>
        <p:spPr>
          <a:xfrm>
            <a:off x="508000" y="1625600"/>
            <a:ext cx="6858000" cy="2946400"/>
          </a:xfrm>
          <a:prstGeom prst="roundRect">
            <a:avLst/>
          </a:prstGeom>
          <a:solidFill>
            <a:srgbClr val="1A2736"/>
          </a:solidFill>
          <a:ln w="15875" cap="flat" cmpd="sng" algn="ctr">
            <a:solidFill>
              <a:srgbClr val="2EE6D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endParaRPr lang="pt-BR" sz="1400" dirty="0">
              <a:solidFill>
                <a:srgbClr val="8FA3B5"/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238B66B-9051-4808-9494-9D7E46136FD5}"/>
              </a:ext>
            </a:extLst>
          </p:cNvPr>
          <p:cNvSpPr/>
          <p:nvPr/>
        </p:nvSpPr>
        <p:spPr>
          <a:xfrm>
            <a:off x="685800" y="1803400"/>
            <a:ext cx="1524000" cy="330200"/>
          </a:xfrm>
          <a:prstGeom prst="roundRect">
            <a:avLst/>
          </a:prstGeom>
          <a:solidFill>
            <a:srgbClr val="0E1722"/>
          </a:solidFill>
          <a:ln w="1270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2EE6D6"/>
                </a:solidFill>
              </a:rPr>
              <a:t>banda ±2%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DFB9F03-692C-4C97-8A48-FC31631C7ADF}"/>
              </a:ext>
            </a:extLst>
          </p:cNvPr>
          <p:cNvSpPr/>
          <p:nvPr/>
        </p:nvSpPr>
        <p:spPr>
          <a:xfrm>
            <a:off x="2311400" y="1803400"/>
            <a:ext cx="2159000" cy="330200"/>
          </a:xfrm>
          <a:prstGeom prst="roundRect">
            <a:avLst/>
          </a:prstGeom>
          <a:solidFill>
            <a:srgbClr val="2A1212"/>
          </a:solidFill>
          <a:ln w="12700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B020"/>
                </a:solidFill>
              </a:rPr>
              <a:t>mudança de referência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F4CF046-B9FA-4D6E-993A-43FB7F29CA41}"/>
              </a:ext>
            </a:extLst>
          </p:cNvPr>
          <p:cNvSpPr/>
          <p:nvPr/>
        </p:nvSpPr>
        <p:spPr>
          <a:xfrm>
            <a:off x="7620000" y="1625600"/>
            <a:ext cx="4064000" cy="2946400"/>
          </a:xfrm>
          <a:prstGeom prst="roundRect">
            <a:avLst/>
          </a:prstGeom>
          <a:solidFill>
            <a:srgbClr val="1A2736"/>
          </a:solidFill>
          <a:ln w="12700" cap="flat" cmpd="sng" algn="ctr">
            <a:solidFill>
              <a:srgbClr val="2230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5B4377F-C80A-4261-BBA7-16CB17FDCBD4}"/>
              </a:ext>
            </a:extLst>
          </p:cNvPr>
          <p:cNvSpPr txBox="1"/>
          <p:nvPr/>
        </p:nvSpPr>
        <p:spPr>
          <a:xfrm>
            <a:off x="7823200" y="1778000"/>
            <a:ext cx="368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500" b="1">
                <a:solidFill>
                  <a:srgbClr val="2EE6D6"/>
                </a:solidFill>
                <a:latin typeface="Montserrat"/>
              </a:rPr>
              <a:t>Métricas calculadas no ESP32</a:t>
            </a:r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E04CE978-9328-4EC7-9D11-B14894E28A7E}"/>
              </a:ext>
            </a:extLst>
          </p:cNvPr>
          <p:cNvSpPr/>
          <p:nvPr/>
        </p:nvSpPr>
        <p:spPr>
          <a:xfrm>
            <a:off x="7848600" y="2286000"/>
            <a:ext cx="127000" cy="1270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19CE92-820B-4414-94CF-13EF5D886719}"/>
              </a:ext>
            </a:extLst>
          </p:cNvPr>
          <p:cNvSpPr txBox="1"/>
          <p:nvPr/>
        </p:nvSpPr>
        <p:spPr>
          <a:xfrm>
            <a:off x="8077200" y="2209800"/>
            <a:ext cx="3454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Tempo de acomodação na banda de ±2%</a:t>
            </a:r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D01D2CA1-B453-426F-924D-26B8B4C20C9D}"/>
              </a:ext>
            </a:extLst>
          </p:cNvPr>
          <p:cNvSpPr/>
          <p:nvPr/>
        </p:nvSpPr>
        <p:spPr>
          <a:xfrm>
            <a:off x="7848600" y="2743200"/>
            <a:ext cx="127000" cy="1270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FC23D9A-70BB-4526-BEB7-7BEE7AF4D94F}"/>
              </a:ext>
            </a:extLst>
          </p:cNvPr>
          <p:cNvSpPr txBox="1"/>
          <p:nvPr/>
        </p:nvSpPr>
        <p:spPr>
          <a:xfrm>
            <a:off x="8077200" y="2667000"/>
            <a:ext cx="3454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Sobressinal percentual (Mp)</a:t>
            </a:r>
          </a:p>
        </p:txBody>
      </p:sp>
      <p:sp>
        <p:nvSpPr>
          <p:cNvPr id="14" name="Losango 13">
            <a:extLst>
              <a:ext uri="{FF2B5EF4-FFF2-40B4-BE49-F238E27FC236}">
                <a16:creationId xmlns:a16="http://schemas.microsoft.com/office/drawing/2014/main" id="{95507FDD-2114-4350-9510-97A25EE81C28}"/>
              </a:ext>
            </a:extLst>
          </p:cNvPr>
          <p:cNvSpPr/>
          <p:nvPr/>
        </p:nvSpPr>
        <p:spPr>
          <a:xfrm>
            <a:off x="7848600" y="3200400"/>
            <a:ext cx="127000" cy="1270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C0535BF-B015-4E76-8DC1-9806229A1E61}"/>
              </a:ext>
            </a:extLst>
          </p:cNvPr>
          <p:cNvSpPr txBox="1"/>
          <p:nvPr/>
        </p:nvSpPr>
        <p:spPr>
          <a:xfrm>
            <a:off x="8077200" y="3124200"/>
            <a:ext cx="3454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Erro em regime por média móvel de 20 amostras</a:t>
            </a:r>
          </a:p>
        </p:txBody>
      </p:sp>
      <p:sp>
        <p:nvSpPr>
          <p:cNvPr id="16" name="Losango 15">
            <a:extLst>
              <a:ext uri="{FF2B5EF4-FFF2-40B4-BE49-F238E27FC236}">
                <a16:creationId xmlns:a16="http://schemas.microsoft.com/office/drawing/2014/main" id="{0A46BAA6-7C91-4C64-AAA3-7C6963C5970D}"/>
              </a:ext>
            </a:extLst>
          </p:cNvPr>
          <p:cNvSpPr/>
          <p:nvPr/>
        </p:nvSpPr>
        <p:spPr>
          <a:xfrm>
            <a:off x="7848600" y="3657600"/>
            <a:ext cx="127000" cy="127000"/>
          </a:xfrm>
          <a:prstGeom prst="diamond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BEF0505-3A4A-43F6-AB7C-FD4723BB52CB}"/>
              </a:ext>
            </a:extLst>
          </p:cNvPr>
          <p:cNvSpPr txBox="1"/>
          <p:nvPr/>
        </p:nvSpPr>
        <p:spPr>
          <a:xfrm>
            <a:off x="8077200" y="3581400"/>
            <a:ext cx="3454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Degrau de referência: 60 → 120 → 180 RPM</a:t>
            </a:r>
          </a:p>
        </p:txBody>
      </p:sp>
      <p:sp>
        <p:nvSpPr>
          <p:cNvPr id="18" name="Losango 17">
            <a:extLst>
              <a:ext uri="{FF2B5EF4-FFF2-40B4-BE49-F238E27FC236}">
                <a16:creationId xmlns:a16="http://schemas.microsoft.com/office/drawing/2014/main" id="{088A9472-886E-45CC-954F-7AFD724FC897}"/>
              </a:ext>
            </a:extLst>
          </p:cNvPr>
          <p:cNvSpPr/>
          <p:nvPr/>
        </p:nvSpPr>
        <p:spPr>
          <a:xfrm>
            <a:off x="7848600" y="4114800"/>
            <a:ext cx="127000" cy="127000"/>
          </a:xfrm>
          <a:prstGeom prst="diamond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F8C6DEA-1D91-4F76-9F55-925E7F14A91F}"/>
              </a:ext>
            </a:extLst>
          </p:cNvPr>
          <p:cNvSpPr txBox="1"/>
          <p:nvPr/>
        </p:nvSpPr>
        <p:spPr>
          <a:xfrm>
            <a:off x="8077200" y="4038600"/>
            <a:ext cx="3454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>
                <a:solidFill>
                  <a:srgbClr val="EAF2F5"/>
                </a:solidFill>
                <a:latin typeface="Arial"/>
                <a:cs typeface="Arial"/>
              </a:rPr>
              <a:t>Perturbação aplicada fisicamente no eixo</a:t>
            </a:r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A76B77CE-19B7-41E0-8135-4A8E795A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213502"/>
              </p:ext>
            </p:extLst>
          </p:nvPr>
        </p:nvGraphicFramePr>
        <p:xfrm>
          <a:off x="508000" y="4724400"/>
          <a:ext cx="10414000" cy="13716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629333626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434958072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66832715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3118437066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323010957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SP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3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Tempo de acomodação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3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Sobressinal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3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Erro em regime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3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PWM estabilizado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3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2783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60 RPM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FFB020"/>
                          </a:solidFill>
                          <a:latin typeface="Consolas"/>
                          <a:cs typeface="Arial"/>
                        </a:rPr>
                        <a:t>3.2s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FFB020"/>
                          </a:solidFill>
                          <a:latin typeface="Consolas"/>
                          <a:cs typeface="Arial"/>
                        </a:rPr>
                        <a:t>1%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FFB020"/>
                          </a:solidFill>
                          <a:latin typeface="Consolas"/>
                          <a:cs typeface="Arial"/>
                        </a:rPr>
                        <a:t>0RPM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FFB020"/>
                          </a:solidFill>
                          <a:latin typeface="Consolas"/>
                          <a:cs typeface="Arial"/>
                        </a:rPr>
                        <a:t>66%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5862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pt-BR" sz="1300" b="1" dirty="0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120 RPM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FFB020"/>
                          </a:solidFill>
                          <a:latin typeface="Consolas"/>
                          <a:cs typeface="Arial"/>
                        </a:rPr>
                        <a:t>3.2s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FFB020"/>
                          </a:solidFill>
                          <a:latin typeface="Consolas"/>
                          <a:cs typeface="Arial"/>
                        </a:rPr>
                        <a:t>1%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FFB020"/>
                          </a:solidFill>
                          <a:latin typeface="Consolas"/>
                          <a:cs typeface="Arial"/>
                        </a:rPr>
                        <a:t>0RPM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FFB020"/>
                          </a:solidFill>
                          <a:latin typeface="Consolas"/>
                          <a:cs typeface="Arial"/>
                        </a:rPr>
                        <a:t>80%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98183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pt-BR" sz="1300" b="1">
                          <a:solidFill>
                            <a:srgbClr val="2EE6D6"/>
                          </a:solidFill>
                          <a:latin typeface="Arial"/>
                          <a:cs typeface="Arial"/>
                        </a:rPr>
                        <a:t>180 RPM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FFB020"/>
                          </a:solidFill>
                          <a:latin typeface="Consolas"/>
                          <a:cs typeface="Arial"/>
                        </a:rPr>
                        <a:t>3.2s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FFB020"/>
                          </a:solidFill>
                          <a:latin typeface="Consolas"/>
                          <a:cs typeface="Arial"/>
                        </a:rPr>
                        <a:t>1%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FFB020"/>
                          </a:solidFill>
                          <a:latin typeface="Consolas"/>
                          <a:cs typeface="Arial"/>
                        </a:rPr>
                        <a:t>0RPM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FFB020"/>
                          </a:solidFill>
                          <a:latin typeface="Consolas"/>
                          <a:cs typeface="Arial"/>
                        </a:rPr>
                        <a:t>94%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624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733200"/>
                  </a:ext>
                </a:extLst>
              </a:tr>
            </a:tbl>
          </a:graphicData>
        </a:graphic>
      </p:graphicFrame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A3F6379-A19B-4B05-9074-67C8E49678CE}"/>
              </a:ext>
            </a:extLst>
          </p:cNvPr>
          <p:cNvSpPr/>
          <p:nvPr/>
        </p:nvSpPr>
        <p:spPr>
          <a:xfrm>
            <a:off x="508000" y="6197600"/>
            <a:ext cx="10414000" cy="482600"/>
          </a:xfrm>
          <a:prstGeom prst="roundRect">
            <a:avLst/>
          </a:prstGeom>
          <a:solidFill>
            <a:srgbClr val="13313A"/>
          </a:solidFill>
          <a:ln w="1270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/>
            <a:r>
              <a:rPr lang="pt-BR" sz="1300" dirty="0">
                <a:solidFill>
                  <a:srgbClr val="EAF2F5"/>
                </a:solidFill>
                <a:latin typeface="Arial"/>
                <a:cs typeface="Arial"/>
              </a:rPr>
              <a:t>Menor acomodação: </a:t>
            </a:r>
            <a:r>
              <a:rPr lang="pt-BR" sz="1300" b="1" dirty="0">
                <a:solidFill>
                  <a:srgbClr val="FFB020"/>
                </a:solidFill>
                <a:latin typeface="Arial"/>
                <a:cs typeface="Arial"/>
              </a:rPr>
              <a:t>3.2</a:t>
            </a:r>
            <a:r>
              <a:rPr lang="pt-BR" sz="1300" dirty="0">
                <a:solidFill>
                  <a:srgbClr val="5C7184"/>
                </a:solidFill>
                <a:latin typeface="Arial"/>
              </a:rPr>
              <a:t>·     </a:t>
            </a:r>
            <a:r>
              <a:rPr lang="pt-BR" sz="1300" dirty="0">
                <a:solidFill>
                  <a:srgbClr val="EAF2F5"/>
                </a:solidFill>
                <a:latin typeface="Arial"/>
                <a:cs typeface="Arial"/>
              </a:rPr>
              <a:t>Maior sobressinal: </a:t>
            </a:r>
            <a:r>
              <a:rPr lang="pt-BR" sz="1300" b="1" dirty="0">
                <a:solidFill>
                  <a:srgbClr val="FFB020"/>
                </a:solidFill>
                <a:latin typeface="Arial"/>
                <a:cs typeface="Arial"/>
              </a:rPr>
              <a:t>1%</a:t>
            </a:r>
            <a:r>
              <a:rPr lang="pt-BR" sz="1300" dirty="0">
                <a:solidFill>
                  <a:srgbClr val="5C7184"/>
                </a:solidFill>
                <a:latin typeface="Arial"/>
              </a:rPr>
              <a:t>·     </a:t>
            </a:r>
            <a:r>
              <a:rPr lang="pt-BR" sz="1300" dirty="0">
                <a:solidFill>
                  <a:srgbClr val="EAF2F5"/>
                </a:solidFill>
                <a:latin typeface="Arial"/>
                <a:cs typeface="Arial"/>
              </a:rPr>
              <a:t>Maior erro: </a:t>
            </a:r>
            <a:r>
              <a:rPr lang="pt-BR" sz="1300" b="1" dirty="0">
                <a:solidFill>
                  <a:srgbClr val="FFB020"/>
                </a:solidFill>
                <a:latin typeface="Arial"/>
                <a:cs typeface="Arial"/>
              </a:rPr>
              <a:t>0%</a:t>
            </a:r>
            <a:r>
              <a:rPr lang="pt-BR" sz="1300" dirty="0">
                <a:solidFill>
                  <a:srgbClr val="5C7184"/>
                </a:solidFill>
                <a:latin typeface="Arial"/>
              </a:rPr>
              <a:t>·     </a:t>
            </a:r>
            <a:r>
              <a:rPr lang="pt-BR" sz="1300" dirty="0">
                <a:solidFill>
                  <a:srgbClr val="EAF2F5"/>
                </a:solidFill>
                <a:latin typeface="Arial"/>
                <a:cs typeface="Arial"/>
              </a:rPr>
              <a:t>Menor margem de atuação: </a:t>
            </a:r>
            <a:r>
              <a:rPr lang="pt-BR" sz="1300" b="1" dirty="0">
                <a:solidFill>
                  <a:srgbClr val="FFB020"/>
                </a:solidFill>
                <a:latin typeface="Arial"/>
                <a:cs typeface="Arial"/>
              </a:rPr>
              <a:t>60RPM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1413E6B5-5494-A323-9880-85D68F5DE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191" y="2183581"/>
            <a:ext cx="4859617" cy="227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32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200120C-812C-4925-B8DB-15704EC50157}"/>
              </a:ext>
            </a:extLst>
          </p:cNvPr>
          <p:cNvSpPr txBox="1"/>
          <p:nvPr/>
        </p:nvSpPr>
        <p:spPr>
          <a:xfrm>
            <a:off x="762000" y="5080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>
                <a:solidFill>
                  <a:srgbClr val="2EE6D6"/>
                </a:solidFill>
                <a:latin typeface="Montserrat"/>
              </a:rPr>
              <a:t>CONCLUSÃO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2C8677-D044-44A1-A189-8784C448688E}"/>
              </a:ext>
            </a:extLst>
          </p:cNvPr>
          <p:cNvSpPr txBox="1"/>
          <p:nvPr/>
        </p:nvSpPr>
        <p:spPr>
          <a:xfrm>
            <a:off x="762000" y="7620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700" b="1">
                <a:solidFill>
                  <a:srgbClr val="FFFFFF"/>
                </a:solidFill>
                <a:latin typeface="Montserrat"/>
              </a:rPr>
              <a:t>Sistema embarcado completo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128DD18-5E4E-49BD-8989-B4ED229DCED3}"/>
              </a:ext>
            </a:extLst>
          </p:cNvPr>
          <p:cNvSpPr/>
          <p:nvPr/>
        </p:nvSpPr>
        <p:spPr>
          <a:xfrm>
            <a:off x="787400" y="1397000"/>
            <a:ext cx="609600" cy="38100"/>
          </a:xfrm>
          <a:prstGeom prst="rect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1A47CB9-5666-4A29-90CA-D13AE4C02B50}"/>
              </a:ext>
            </a:extLst>
          </p:cNvPr>
          <p:cNvSpPr/>
          <p:nvPr/>
        </p:nvSpPr>
        <p:spPr>
          <a:xfrm>
            <a:off x="508000" y="1651000"/>
            <a:ext cx="1549400" cy="609600"/>
          </a:xfrm>
          <a:prstGeom prst="roundRect">
            <a:avLst/>
          </a:prstGeom>
          <a:solidFill>
            <a:srgbClr val="22303F"/>
          </a:solidFill>
          <a:ln w="15875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2EE6D6"/>
                </a:solidFill>
                <a:latin typeface="Arial"/>
                <a:cs typeface="Arial"/>
              </a:rPr>
              <a:t>Sensor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BF788661-8A92-46B4-905D-D4A3C65FE717}"/>
              </a:ext>
            </a:extLst>
          </p:cNvPr>
          <p:cNvSpPr/>
          <p:nvPr/>
        </p:nvSpPr>
        <p:spPr>
          <a:xfrm>
            <a:off x="2082800" y="1854200"/>
            <a:ext cx="177800" cy="2032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0D99E14-BD74-4801-98A0-10EC04AED818}"/>
              </a:ext>
            </a:extLst>
          </p:cNvPr>
          <p:cNvSpPr/>
          <p:nvPr/>
        </p:nvSpPr>
        <p:spPr>
          <a:xfrm>
            <a:off x="2286000" y="1651000"/>
            <a:ext cx="1549400" cy="609600"/>
          </a:xfrm>
          <a:prstGeom prst="roundRect">
            <a:avLst/>
          </a:prstGeom>
          <a:solidFill>
            <a:srgbClr val="22303F"/>
          </a:solidFill>
          <a:ln w="15875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2EE6D6"/>
                </a:solidFill>
                <a:latin typeface="Arial"/>
                <a:cs typeface="Arial"/>
              </a:rPr>
              <a:t>Processamento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A38B1738-41AD-44C6-A675-13212739598D}"/>
              </a:ext>
            </a:extLst>
          </p:cNvPr>
          <p:cNvSpPr/>
          <p:nvPr/>
        </p:nvSpPr>
        <p:spPr>
          <a:xfrm>
            <a:off x="3860800" y="1854200"/>
            <a:ext cx="177800" cy="2032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1D9A3BB-53CA-4A5E-B0F4-764E39666DD6}"/>
              </a:ext>
            </a:extLst>
          </p:cNvPr>
          <p:cNvSpPr/>
          <p:nvPr/>
        </p:nvSpPr>
        <p:spPr>
          <a:xfrm>
            <a:off x="4064000" y="1651000"/>
            <a:ext cx="1549400" cy="609600"/>
          </a:xfrm>
          <a:prstGeom prst="roundRect">
            <a:avLst/>
          </a:prstGeom>
          <a:solidFill>
            <a:srgbClr val="22303F"/>
          </a:solidFill>
          <a:ln w="15875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2EE6D6"/>
                </a:solidFill>
                <a:latin typeface="Arial"/>
                <a:cs typeface="Arial"/>
              </a:rPr>
              <a:t>Controle Fuzzy</a:t>
            </a: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B15115B5-0A75-467F-BC54-513EFB83CE7B}"/>
              </a:ext>
            </a:extLst>
          </p:cNvPr>
          <p:cNvSpPr/>
          <p:nvPr/>
        </p:nvSpPr>
        <p:spPr>
          <a:xfrm>
            <a:off x="5638800" y="1854200"/>
            <a:ext cx="177800" cy="2032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0C6F7A3-7DEB-4CAE-BDDA-4BAAD062CEAC}"/>
              </a:ext>
            </a:extLst>
          </p:cNvPr>
          <p:cNvSpPr/>
          <p:nvPr/>
        </p:nvSpPr>
        <p:spPr>
          <a:xfrm>
            <a:off x="5842000" y="1651000"/>
            <a:ext cx="1549400" cy="609600"/>
          </a:xfrm>
          <a:prstGeom prst="roundRect">
            <a:avLst/>
          </a:prstGeom>
          <a:solidFill>
            <a:srgbClr val="22303F"/>
          </a:solidFill>
          <a:ln w="15875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B020"/>
                </a:solidFill>
                <a:latin typeface="Arial"/>
                <a:cs typeface="Arial"/>
              </a:rPr>
              <a:t>PWM</a:t>
            </a: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20A8EA29-933E-4FCA-A2CD-BD09D90AEAB8}"/>
              </a:ext>
            </a:extLst>
          </p:cNvPr>
          <p:cNvSpPr/>
          <p:nvPr/>
        </p:nvSpPr>
        <p:spPr>
          <a:xfrm>
            <a:off x="7416800" y="1854200"/>
            <a:ext cx="177800" cy="2032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000BEB8-8DFE-4AA2-959C-4D31265A3BCC}"/>
              </a:ext>
            </a:extLst>
          </p:cNvPr>
          <p:cNvSpPr/>
          <p:nvPr/>
        </p:nvSpPr>
        <p:spPr>
          <a:xfrm>
            <a:off x="7620000" y="1651000"/>
            <a:ext cx="1549400" cy="609600"/>
          </a:xfrm>
          <a:prstGeom prst="roundRect">
            <a:avLst/>
          </a:prstGeom>
          <a:solidFill>
            <a:srgbClr val="22303F"/>
          </a:solidFill>
          <a:ln w="15875" cap="flat" cmpd="sng" algn="ctr">
            <a:solidFill>
              <a:srgbClr val="8FA3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8FA3B5"/>
                </a:solidFill>
                <a:latin typeface="Arial"/>
                <a:cs typeface="Arial"/>
              </a:rPr>
              <a:t>Motor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E4299B4C-BBAA-49EC-B1D0-1D80E29C3E62}"/>
              </a:ext>
            </a:extLst>
          </p:cNvPr>
          <p:cNvSpPr/>
          <p:nvPr/>
        </p:nvSpPr>
        <p:spPr>
          <a:xfrm>
            <a:off x="9194800" y="1854200"/>
            <a:ext cx="177800" cy="203200"/>
          </a:xfrm>
          <a:prstGeom prst="rightArrow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7EFA554-578C-410B-A0D1-1A4203BD4CEB}"/>
              </a:ext>
            </a:extLst>
          </p:cNvPr>
          <p:cNvSpPr/>
          <p:nvPr/>
        </p:nvSpPr>
        <p:spPr>
          <a:xfrm>
            <a:off x="9398000" y="1651000"/>
            <a:ext cx="1549400" cy="609600"/>
          </a:xfrm>
          <a:prstGeom prst="roundRect">
            <a:avLst/>
          </a:prstGeom>
          <a:solidFill>
            <a:srgbClr val="22303F"/>
          </a:solidFill>
          <a:ln w="15875" cap="flat" cmpd="sng" algn="ctr">
            <a:solidFill>
              <a:srgbClr val="FFB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B020"/>
                </a:solidFill>
                <a:latin typeface="Arial"/>
                <a:cs typeface="Arial"/>
              </a:rPr>
              <a:t>Resposta</a:t>
            </a:r>
          </a:p>
        </p:txBody>
      </p:sp>
      <p:sp>
        <p:nvSpPr>
          <p:cNvPr id="16" name="Losango 15">
            <a:extLst>
              <a:ext uri="{FF2B5EF4-FFF2-40B4-BE49-F238E27FC236}">
                <a16:creationId xmlns:a16="http://schemas.microsoft.com/office/drawing/2014/main" id="{AA5EF155-8EFC-4A62-B473-DAEEEEFC79B1}"/>
              </a:ext>
            </a:extLst>
          </p:cNvPr>
          <p:cNvSpPr/>
          <p:nvPr/>
        </p:nvSpPr>
        <p:spPr>
          <a:xfrm>
            <a:off x="533400" y="2755900"/>
            <a:ext cx="152400" cy="1524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3F651B6-4793-4813-970E-4B552CF723C4}"/>
              </a:ext>
            </a:extLst>
          </p:cNvPr>
          <p:cNvSpPr txBox="1"/>
          <p:nvPr/>
        </p:nvSpPr>
        <p:spPr>
          <a:xfrm>
            <a:off x="812800" y="26924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500">
                <a:solidFill>
                  <a:srgbClr val="EAF2F5"/>
                </a:solidFill>
                <a:latin typeface="Arial"/>
                <a:cs typeface="Arial"/>
              </a:rPr>
              <a:t>Aquisição por encoder</a:t>
            </a:r>
          </a:p>
        </p:txBody>
      </p:sp>
      <p:sp>
        <p:nvSpPr>
          <p:cNvPr id="18" name="Losango 17">
            <a:extLst>
              <a:ext uri="{FF2B5EF4-FFF2-40B4-BE49-F238E27FC236}">
                <a16:creationId xmlns:a16="http://schemas.microsoft.com/office/drawing/2014/main" id="{EA67B60B-AEF2-4539-B7E7-2F7022C35B59}"/>
              </a:ext>
            </a:extLst>
          </p:cNvPr>
          <p:cNvSpPr/>
          <p:nvPr/>
        </p:nvSpPr>
        <p:spPr>
          <a:xfrm>
            <a:off x="533400" y="3225800"/>
            <a:ext cx="152400" cy="1524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B06F400-0C09-4D6C-8253-0A2E0C72EADA}"/>
              </a:ext>
            </a:extLst>
          </p:cNvPr>
          <p:cNvSpPr txBox="1"/>
          <p:nvPr/>
        </p:nvSpPr>
        <p:spPr>
          <a:xfrm>
            <a:off x="812800" y="31623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500">
                <a:solidFill>
                  <a:srgbClr val="EAF2F5"/>
                </a:solidFill>
                <a:latin typeface="Arial"/>
                <a:cs typeface="Arial"/>
              </a:rPr>
              <a:t>Processamento e filtragem</a:t>
            </a:r>
          </a:p>
        </p:txBody>
      </p:sp>
      <p:sp>
        <p:nvSpPr>
          <p:cNvPr id="20" name="Losango 19">
            <a:extLst>
              <a:ext uri="{FF2B5EF4-FFF2-40B4-BE49-F238E27FC236}">
                <a16:creationId xmlns:a16="http://schemas.microsoft.com/office/drawing/2014/main" id="{8582FE43-2472-4953-B702-CB7EE2063DEF}"/>
              </a:ext>
            </a:extLst>
          </p:cNvPr>
          <p:cNvSpPr/>
          <p:nvPr/>
        </p:nvSpPr>
        <p:spPr>
          <a:xfrm>
            <a:off x="533400" y="3695700"/>
            <a:ext cx="152400" cy="1524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69C969F-39D9-4FE0-85FA-A07F8ACCF26F}"/>
              </a:ext>
            </a:extLst>
          </p:cNvPr>
          <p:cNvSpPr txBox="1"/>
          <p:nvPr/>
        </p:nvSpPr>
        <p:spPr>
          <a:xfrm>
            <a:off x="812800" y="36322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500">
                <a:solidFill>
                  <a:srgbClr val="EAF2F5"/>
                </a:solidFill>
                <a:latin typeface="Arial"/>
                <a:cs typeface="Arial"/>
              </a:rPr>
              <a:t>Controle fuzzy em tempo real</a:t>
            </a:r>
          </a:p>
        </p:txBody>
      </p:sp>
      <p:sp>
        <p:nvSpPr>
          <p:cNvPr id="22" name="Losango 21">
            <a:extLst>
              <a:ext uri="{FF2B5EF4-FFF2-40B4-BE49-F238E27FC236}">
                <a16:creationId xmlns:a16="http://schemas.microsoft.com/office/drawing/2014/main" id="{39446349-153E-495D-BB48-82E91AE41092}"/>
              </a:ext>
            </a:extLst>
          </p:cNvPr>
          <p:cNvSpPr/>
          <p:nvPr/>
        </p:nvSpPr>
        <p:spPr>
          <a:xfrm>
            <a:off x="533400" y="4165600"/>
            <a:ext cx="152400" cy="1524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6FB3ED0-6AEC-4ADF-B34C-75A5D847C07A}"/>
              </a:ext>
            </a:extLst>
          </p:cNvPr>
          <p:cNvSpPr txBox="1"/>
          <p:nvPr/>
        </p:nvSpPr>
        <p:spPr>
          <a:xfrm>
            <a:off x="812800" y="41021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500">
                <a:solidFill>
                  <a:srgbClr val="EAF2F5"/>
                </a:solidFill>
                <a:latin typeface="Arial"/>
                <a:cs typeface="Arial"/>
              </a:rPr>
              <a:t>Atuação PWM com saturação</a:t>
            </a:r>
          </a:p>
        </p:txBody>
      </p:sp>
      <p:sp>
        <p:nvSpPr>
          <p:cNvPr id="24" name="Losango 23">
            <a:extLst>
              <a:ext uri="{FF2B5EF4-FFF2-40B4-BE49-F238E27FC236}">
                <a16:creationId xmlns:a16="http://schemas.microsoft.com/office/drawing/2014/main" id="{310118A3-20B0-42F5-B247-033326FFAD26}"/>
              </a:ext>
            </a:extLst>
          </p:cNvPr>
          <p:cNvSpPr/>
          <p:nvPr/>
        </p:nvSpPr>
        <p:spPr>
          <a:xfrm>
            <a:off x="533400" y="4635500"/>
            <a:ext cx="152400" cy="1524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BA8BA1F-FAA1-4157-99C0-1685E9AB17CF}"/>
              </a:ext>
            </a:extLst>
          </p:cNvPr>
          <p:cNvSpPr txBox="1"/>
          <p:nvPr/>
        </p:nvSpPr>
        <p:spPr>
          <a:xfrm>
            <a:off x="812800" y="4572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500">
                <a:solidFill>
                  <a:srgbClr val="EAF2F5"/>
                </a:solidFill>
                <a:latin typeface="Arial"/>
                <a:cs typeface="Arial"/>
              </a:rPr>
              <a:t>Métricas calculadas no ESP32</a:t>
            </a:r>
          </a:p>
        </p:txBody>
      </p:sp>
      <p:sp>
        <p:nvSpPr>
          <p:cNvPr id="26" name="Losango 25">
            <a:extLst>
              <a:ext uri="{FF2B5EF4-FFF2-40B4-BE49-F238E27FC236}">
                <a16:creationId xmlns:a16="http://schemas.microsoft.com/office/drawing/2014/main" id="{104FD791-E44A-4A6E-BDB2-C22051068AF8}"/>
              </a:ext>
            </a:extLst>
          </p:cNvPr>
          <p:cNvSpPr/>
          <p:nvPr/>
        </p:nvSpPr>
        <p:spPr>
          <a:xfrm>
            <a:off x="533400" y="5105400"/>
            <a:ext cx="152400" cy="152400"/>
          </a:xfrm>
          <a:prstGeom prst="diamond">
            <a:avLst/>
          </a:prstGeom>
          <a:solidFill>
            <a:srgbClr val="2EE6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1542C11-B75B-4C82-9319-6DCE94993822}"/>
              </a:ext>
            </a:extLst>
          </p:cNvPr>
          <p:cNvSpPr txBox="1"/>
          <p:nvPr/>
        </p:nvSpPr>
        <p:spPr>
          <a:xfrm>
            <a:off x="812800" y="50419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500">
                <a:solidFill>
                  <a:srgbClr val="EAF2F5"/>
                </a:solidFill>
                <a:latin typeface="Arial"/>
                <a:cs typeface="Arial"/>
              </a:rPr>
              <a:t>Supervisão e alteração de set point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DE50BC90-5BD3-45E3-85B5-83200B096D23}"/>
              </a:ext>
            </a:extLst>
          </p:cNvPr>
          <p:cNvSpPr/>
          <p:nvPr/>
        </p:nvSpPr>
        <p:spPr>
          <a:xfrm>
            <a:off x="5632245" y="2731730"/>
            <a:ext cx="3175000" cy="1981200"/>
          </a:xfrm>
          <a:prstGeom prst="roundRect">
            <a:avLst/>
          </a:prstGeom>
          <a:solidFill>
            <a:srgbClr val="1A2736"/>
          </a:solidFill>
          <a:ln w="15875" cap="flat" cmpd="sng" algn="ctr">
            <a:solidFill>
              <a:srgbClr val="2EE6D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endParaRPr lang="pt-BR" sz="1300" dirty="0">
              <a:solidFill>
                <a:srgbClr val="8FA3B5"/>
              </a:solidFill>
            </a:endParaRP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6D35E974-F909-41E1-A03E-785FBAB67FD5}"/>
              </a:ext>
            </a:extLst>
          </p:cNvPr>
          <p:cNvSpPr/>
          <p:nvPr/>
        </p:nvSpPr>
        <p:spPr>
          <a:xfrm>
            <a:off x="9069792" y="2692400"/>
            <a:ext cx="2614208" cy="1981200"/>
          </a:xfrm>
          <a:prstGeom prst="roundRect">
            <a:avLst/>
          </a:prstGeom>
          <a:solidFill>
            <a:srgbClr val="1A2736"/>
          </a:solidFill>
          <a:ln w="15875" cap="flat" cmpd="sng" algn="ctr">
            <a:solidFill>
              <a:srgbClr val="FFB020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endParaRPr lang="pt-BR" sz="1200" dirty="0">
              <a:solidFill>
                <a:srgbClr val="8FA3B5"/>
              </a:solidFill>
            </a:endParaRP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33A457E5-E08A-49F3-B0D2-352DF1A7F3BB}"/>
              </a:ext>
            </a:extLst>
          </p:cNvPr>
          <p:cNvSpPr/>
          <p:nvPr/>
        </p:nvSpPr>
        <p:spPr>
          <a:xfrm>
            <a:off x="508000" y="5537200"/>
            <a:ext cx="11176000" cy="762000"/>
          </a:xfrm>
          <a:prstGeom prst="roundRect">
            <a:avLst/>
          </a:prstGeom>
          <a:solidFill>
            <a:srgbClr val="173A44"/>
          </a:solidFill>
          <a:ln w="19050" cap="flat" cmpd="sng" algn="ctr">
            <a:solidFill>
              <a:srgbClr val="2EE6D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700" b="1">
                <a:solidFill>
                  <a:srgbClr val="2EE6D6"/>
                </a:solidFill>
                <a:latin typeface="Montserrat"/>
              </a:rPr>
              <a:t>Agora vamos demonstrar: mudança de referência e perturbação aplicada fisicamente no eixo.</a:t>
            </a: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7AE70CD0-A3FB-A94C-7A49-A53C21D4C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70432" y="2180691"/>
            <a:ext cx="1698625" cy="3019778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5CFCB6B8-1FF9-2435-59FF-037AB2BB6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7403" y="3104346"/>
            <a:ext cx="2511197" cy="117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645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81922620148]">
  <a:themeElements>
    <a:clrScheme name="Office">
      <a:dk1>
        <a:srgbClr val="EAF2F5"/>
      </a:dk1>
      <a:lt1>
        <a:srgbClr val="161E2A"/>
      </a:lt1>
      <a:dk2>
        <a:srgbClr val="0E1722"/>
      </a:dk2>
      <a:lt2>
        <a:srgbClr val="22303F"/>
      </a:lt2>
      <a:accent1>
        <a:srgbClr val="2EE6D6"/>
      </a:accent1>
      <a:accent2>
        <a:srgbClr val="FFB020"/>
      </a:accent2>
      <a:accent3>
        <a:srgbClr val="FF5252"/>
      </a:accent3>
      <a:accent4>
        <a:srgbClr val="0F9ED5"/>
      </a:accent4>
      <a:accent5>
        <a:srgbClr val="4FD1C5"/>
      </a:accent5>
      <a:accent6>
        <a:srgbClr val="9AE6B4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5F26A53-8211-4503-B5FE-3D6FD8869F1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dc68b54-4c91-4350-bcf0-4281f929eb0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894</Words>
  <Application>Microsoft Office PowerPoint</Application>
  <PresentationFormat>Widescreen</PresentationFormat>
  <Paragraphs>232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Consolas</vt:lpstr>
      <vt:lpstr>Montserrat</vt:lpstr>
      <vt:lpstr>Tema do Office [1781922620148]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Castilho</dc:creator>
  <cp:lastModifiedBy>Christian Castilho</cp:lastModifiedBy>
  <cp:revision>7</cp:revision>
  <dcterms:created xsi:type="dcterms:W3CDTF">2026-06-20T02:30:20Z</dcterms:created>
  <dcterms:modified xsi:type="dcterms:W3CDTF">2026-06-23T00:28:03Z</dcterms:modified>
</cp:coreProperties>
</file>